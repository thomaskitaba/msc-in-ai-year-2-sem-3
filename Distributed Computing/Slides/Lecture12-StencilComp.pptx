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866"/>
  </p:normalViewPr>
  <p:slideViewPr>
    <p:cSldViewPr>
      <p:cViewPr varScale="1">
        <p:scale>
          <a:sx n="94" d="100"/>
          <a:sy n="94" d="100"/>
        </p:scale>
        <p:origin x="40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159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4613" y="2099511"/>
            <a:ext cx="6224172" cy="1356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2431" y="1481658"/>
            <a:ext cx="7808536" cy="338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159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80938" y="6791199"/>
            <a:ext cx="23114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21" Type="http://schemas.openxmlformats.org/officeDocument/2006/relationships/image" Target="../media/image49.png"/><Relationship Id="rId34" Type="http://schemas.openxmlformats.org/officeDocument/2006/relationships/image" Target="../media/image6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Relationship Id="rId8" Type="http://schemas.openxmlformats.org/officeDocument/2006/relationships/image" Target="../media/image36.png"/><Relationship Id="rId3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9" Type="http://schemas.openxmlformats.org/officeDocument/2006/relationships/image" Target="../media/image109.png"/><Relationship Id="rId21" Type="http://schemas.openxmlformats.org/officeDocument/2006/relationships/image" Target="../media/image91.png"/><Relationship Id="rId34" Type="http://schemas.openxmlformats.org/officeDocument/2006/relationships/image" Target="../media/image104.png"/><Relationship Id="rId42" Type="http://schemas.openxmlformats.org/officeDocument/2006/relationships/image" Target="../media/image112.png"/><Relationship Id="rId47" Type="http://schemas.openxmlformats.org/officeDocument/2006/relationships/image" Target="../media/image117.png"/><Relationship Id="rId50" Type="http://schemas.openxmlformats.org/officeDocument/2006/relationships/image" Target="../media/image120.png"/><Relationship Id="rId55" Type="http://schemas.openxmlformats.org/officeDocument/2006/relationships/image" Target="../media/image125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9" Type="http://schemas.openxmlformats.org/officeDocument/2006/relationships/image" Target="../media/image99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32" Type="http://schemas.openxmlformats.org/officeDocument/2006/relationships/image" Target="../media/image102.png"/><Relationship Id="rId37" Type="http://schemas.openxmlformats.org/officeDocument/2006/relationships/image" Target="../media/image107.png"/><Relationship Id="rId40" Type="http://schemas.openxmlformats.org/officeDocument/2006/relationships/image" Target="../media/image110.png"/><Relationship Id="rId45" Type="http://schemas.openxmlformats.org/officeDocument/2006/relationships/image" Target="../media/image115.png"/><Relationship Id="rId53" Type="http://schemas.openxmlformats.org/officeDocument/2006/relationships/image" Target="../media/image123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4" Type="http://schemas.openxmlformats.org/officeDocument/2006/relationships/image" Target="../media/image114.png"/><Relationship Id="rId52" Type="http://schemas.openxmlformats.org/officeDocument/2006/relationships/image" Target="../media/image122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35" Type="http://schemas.openxmlformats.org/officeDocument/2006/relationships/image" Target="../media/image105.png"/><Relationship Id="rId43" Type="http://schemas.openxmlformats.org/officeDocument/2006/relationships/image" Target="../media/image113.png"/><Relationship Id="rId48" Type="http://schemas.openxmlformats.org/officeDocument/2006/relationships/image" Target="../media/image118.png"/><Relationship Id="rId56" Type="http://schemas.openxmlformats.org/officeDocument/2006/relationships/image" Target="../media/image126.png"/><Relationship Id="rId8" Type="http://schemas.openxmlformats.org/officeDocument/2006/relationships/image" Target="../media/image78.png"/><Relationship Id="rId51" Type="http://schemas.openxmlformats.org/officeDocument/2006/relationships/image" Target="../media/image121.png"/><Relationship Id="rId3" Type="http://schemas.openxmlformats.org/officeDocument/2006/relationships/image" Target="../media/image73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image" Target="../media/image108.png"/><Relationship Id="rId46" Type="http://schemas.openxmlformats.org/officeDocument/2006/relationships/image" Target="../media/image116.png"/><Relationship Id="rId20" Type="http://schemas.openxmlformats.org/officeDocument/2006/relationships/image" Target="../media/image90.png"/><Relationship Id="rId41" Type="http://schemas.openxmlformats.org/officeDocument/2006/relationships/image" Target="../media/image111.png"/><Relationship Id="rId54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36" Type="http://schemas.openxmlformats.org/officeDocument/2006/relationships/image" Target="../media/image106.png"/><Relationship Id="rId49" Type="http://schemas.openxmlformats.org/officeDocument/2006/relationships/image" Target="../media/image1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9.png"/><Relationship Id="rId26" Type="http://schemas.openxmlformats.org/officeDocument/2006/relationships/image" Target="../media/image164.png"/><Relationship Id="rId3" Type="http://schemas.openxmlformats.org/officeDocument/2006/relationships/image" Target="../media/image148.png"/><Relationship Id="rId21" Type="http://schemas.openxmlformats.org/officeDocument/2006/relationships/image" Target="../media/image172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5" Type="http://schemas.openxmlformats.org/officeDocument/2006/relationships/image" Target="../media/image163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71.png"/><Relationship Id="rId29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24" Type="http://schemas.openxmlformats.org/officeDocument/2006/relationships/image" Target="../media/image175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74.png"/><Relationship Id="rId28" Type="http://schemas.openxmlformats.org/officeDocument/2006/relationships/image" Target="../media/image177.png"/><Relationship Id="rId10" Type="http://schemas.openxmlformats.org/officeDocument/2006/relationships/image" Target="../media/image155.png"/><Relationship Id="rId19" Type="http://schemas.openxmlformats.org/officeDocument/2006/relationships/image" Target="../media/image170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73.png"/><Relationship Id="rId27" Type="http://schemas.openxmlformats.org/officeDocument/2006/relationships/image" Target="../media/image176.png"/><Relationship Id="rId30" Type="http://schemas.openxmlformats.org/officeDocument/2006/relationships/image" Target="../media/image1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5.png"/><Relationship Id="rId3" Type="http://schemas.openxmlformats.org/officeDocument/2006/relationships/image" Target="../media/image164.png"/><Relationship Id="rId7" Type="http://schemas.openxmlformats.org/officeDocument/2006/relationships/image" Target="../media/image171.png"/><Relationship Id="rId12" Type="http://schemas.openxmlformats.org/officeDocument/2006/relationships/image" Target="../media/image174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84.png"/><Relationship Id="rId5" Type="http://schemas.openxmlformats.org/officeDocument/2006/relationships/image" Target="../media/image173.png"/><Relationship Id="rId10" Type="http://schemas.openxmlformats.org/officeDocument/2006/relationships/image" Target="../media/image183.png"/><Relationship Id="rId4" Type="http://schemas.openxmlformats.org/officeDocument/2006/relationships/image" Target="../media/image170.png"/><Relationship Id="rId9" Type="http://schemas.openxmlformats.org/officeDocument/2006/relationships/image" Target="../media/image1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2.png"/><Relationship Id="rId3" Type="http://schemas.openxmlformats.org/officeDocument/2006/relationships/image" Target="../media/image164.png"/><Relationship Id="rId7" Type="http://schemas.openxmlformats.org/officeDocument/2006/relationships/image" Target="../media/image171.png"/><Relationship Id="rId12" Type="http://schemas.openxmlformats.org/officeDocument/2006/relationships/image" Target="../media/image191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82.png"/><Relationship Id="rId5" Type="http://schemas.openxmlformats.org/officeDocument/2006/relationships/image" Target="../media/image169.png"/><Relationship Id="rId10" Type="http://schemas.openxmlformats.org/officeDocument/2006/relationships/image" Target="../media/image190.png"/><Relationship Id="rId4" Type="http://schemas.openxmlformats.org/officeDocument/2006/relationships/image" Target="../media/image187.png"/><Relationship Id="rId9" Type="http://schemas.openxmlformats.org/officeDocument/2006/relationships/image" Target="../media/image18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9.png"/><Relationship Id="rId3" Type="http://schemas.openxmlformats.org/officeDocument/2006/relationships/image" Target="../media/image164.png"/><Relationship Id="rId7" Type="http://schemas.openxmlformats.org/officeDocument/2006/relationships/image" Target="../media/image181.png"/><Relationship Id="rId12" Type="http://schemas.openxmlformats.org/officeDocument/2006/relationships/image" Target="../media/image198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69.png"/><Relationship Id="rId5" Type="http://schemas.openxmlformats.org/officeDocument/2006/relationships/image" Target="../media/image170.png"/><Relationship Id="rId10" Type="http://schemas.openxmlformats.org/officeDocument/2006/relationships/image" Target="../media/image197.png"/><Relationship Id="rId4" Type="http://schemas.openxmlformats.org/officeDocument/2006/relationships/image" Target="../media/image194.png"/><Relationship Id="rId9" Type="http://schemas.openxmlformats.org/officeDocument/2006/relationships/image" Target="../media/image1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7.png"/><Relationship Id="rId18" Type="http://schemas.openxmlformats.org/officeDocument/2006/relationships/image" Target="../media/image173.png"/><Relationship Id="rId3" Type="http://schemas.openxmlformats.org/officeDocument/2006/relationships/image" Target="../media/image164.png"/><Relationship Id="rId21" Type="http://schemas.openxmlformats.org/officeDocument/2006/relationships/image" Target="../media/image213.png"/><Relationship Id="rId7" Type="http://schemas.openxmlformats.org/officeDocument/2006/relationships/image" Target="../media/image170.png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" Type="http://schemas.openxmlformats.org/officeDocument/2006/relationships/image" Target="../media/image200.png"/><Relationship Id="rId16" Type="http://schemas.openxmlformats.org/officeDocument/2006/relationships/image" Target="../media/image210.png"/><Relationship Id="rId20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205.png"/><Relationship Id="rId5" Type="http://schemas.openxmlformats.org/officeDocument/2006/relationships/image" Target="../media/image169.png"/><Relationship Id="rId15" Type="http://schemas.openxmlformats.org/officeDocument/2006/relationships/image" Target="../media/image209.png"/><Relationship Id="rId10" Type="http://schemas.openxmlformats.org/officeDocument/2006/relationships/image" Target="../media/image204.png"/><Relationship Id="rId19" Type="http://schemas.openxmlformats.org/officeDocument/2006/relationships/image" Target="../media/image172.png"/><Relationship Id="rId4" Type="http://schemas.openxmlformats.org/officeDocument/2006/relationships/image" Target="../media/image201.png"/><Relationship Id="rId9" Type="http://schemas.openxmlformats.org/officeDocument/2006/relationships/image" Target="../media/image203.png"/><Relationship Id="rId14" Type="http://schemas.openxmlformats.org/officeDocument/2006/relationships/image" Target="../media/image2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18" Type="http://schemas.openxmlformats.org/officeDocument/2006/relationships/image" Target="../media/image230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17" Type="http://schemas.openxmlformats.org/officeDocument/2006/relationships/image" Target="../media/image229.png"/><Relationship Id="rId2" Type="http://schemas.openxmlformats.org/officeDocument/2006/relationships/image" Target="../media/image214.png"/><Relationship Id="rId16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png"/><Relationship Id="rId15" Type="http://schemas.openxmlformats.org/officeDocument/2006/relationships/image" Target="../media/image22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18" Type="http://schemas.openxmlformats.org/officeDocument/2006/relationships/image" Target="../media/image24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17" Type="http://schemas.openxmlformats.org/officeDocument/2006/relationships/image" Target="../media/image247.png"/><Relationship Id="rId2" Type="http://schemas.openxmlformats.org/officeDocument/2006/relationships/image" Target="../media/image232.png"/><Relationship Id="rId16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58.png"/><Relationship Id="rId7" Type="http://schemas.openxmlformats.org/officeDocument/2006/relationships/image" Target="../media/image262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10" Type="http://schemas.openxmlformats.org/officeDocument/2006/relationships/image" Target="../media/image265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jpg"/><Relationship Id="rId2" Type="http://schemas.openxmlformats.org/officeDocument/2006/relationships/image" Target="../media/image26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276.png"/><Relationship Id="rId3" Type="http://schemas.openxmlformats.org/officeDocument/2006/relationships/image" Target="../media/image164.png"/><Relationship Id="rId7" Type="http://schemas.openxmlformats.org/officeDocument/2006/relationships/image" Target="../media/image169.png"/><Relationship Id="rId12" Type="http://schemas.openxmlformats.org/officeDocument/2006/relationships/image" Target="../media/image275.png"/><Relationship Id="rId2" Type="http://schemas.openxmlformats.org/officeDocument/2006/relationships/image" Target="../media/image270.png"/><Relationship Id="rId16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74.png"/><Relationship Id="rId5" Type="http://schemas.openxmlformats.org/officeDocument/2006/relationships/image" Target="../media/image171.png"/><Relationship Id="rId15" Type="http://schemas.openxmlformats.org/officeDocument/2006/relationships/image" Target="../media/image278.png"/><Relationship Id="rId10" Type="http://schemas.openxmlformats.org/officeDocument/2006/relationships/image" Target="../media/image273.png"/><Relationship Id="rId4" Type="http://schemas.openxmlformats.org/officeDocument/2006/relationships/image" Target="../media/image271.png"/><Relationship Id="rId9" Type="http://schemas.openxmlformats.org/officeDocument/2006/relationships/image" Target="../media/image272.png"/><Relationship Id="rId14" Type="http://schemas.openxmlformats.org/officeDocument/2006/relationships/image" Target="../media/image27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854141"/>
            <a:ext cx="109093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4800" b="1" spc="-5" dirty="0">
                <a:solidFill>
                  <a:srgbClr val="1F497D"/>
                </a:solidFill>
              </a:rPr>
              <a:t>High Performance Computing </a:t>
            </a:r>
            <a:endParaRPr sz="4800" b="1" spc="-5" dirty="0">
              <a:solidFill>
                <a:srgbClr val="1F497D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8180" y="6791199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cs typeface="Calibri"/>
              </a:rPr>
              <a:pPr marL="38100">
                <a:spcBef>
                  <a:spcPts val="40"/>
                </a:spcBef>
              </a:pPr>
              <a:t>1</a:t>
            </a:fld>
            <a:endParaRPr sz="1200">
              <a:solidFill>
                <a:prstClr val="black"/>
              </a:solidFill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39700" y="4235450"/>
            <a:ext cx="1069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>
              <a:lnSpc>
                <a:spcPct val="100499"/>
              </a:lnSpc>
              <a:spcBef>
                <a:spcPts val="75"/>
              </a:spcBef>
            </a:pPr>
            <a:r>
              <a:rPr lang="en-US" sz="3600" b="1" spc="-5" dirty="0">
                <a:solidFill>
                  <a:srgbClr val="9A403E"/>
                </a:solidFill>
                <a:cs typeface="Arial"/>
              </a:rPr>
              <a:t>Lecture 12: Case Study: Stencil Computation in MPI</a:t>
            </a:r>
            <a:endParaRPr lang="en-US" sz="360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70300" y="5911850"/>
            <a:ext cx="3693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15" dirty="0" err="1">
                <a:solidFill>
                  <a:srgbClr val="404040"/>
                </a:solidFill>
                <a:cs typeface="Calibri"/>
              </a:rPr>
              <a:t>Beakal</a:t>
            </a:r>
            <a:r>
              <a:rPr lang="en-US" sz="2800" b="1" spc="-15" dirty="0">
                <a:solidFill>
                  <a:srgbClr val="404040"/>
                </a:solidFill>
                <a:cs typeface="Calibri"/>
              </a:rPr>
              <a:t> </a:t>
            </a:r>
            <a:r>
              <a:rPr lang="en-US" sz="2800" b="1" spc="-15" dirty="0" err="1">
                <a:solidFill>
                  <a:srgbClr val="404040"/>
                </a:solidFill>
                <a:cs typeface="Calibri"/>
              </a:rPr>
              <a:t>Gizachew</a:t>
            </a:r>
            <a:r>
              <a:rPr lang="en-US" sz="2800" b="1" spc="-15" dirty="0">
                <a:solidFill>
                  <a:srgbClr val="404040"/>
                </a:solidFill>
                <a:cs typeface="Calibri"/>
              </a:rPr>
              <a:t> </a:t>
            </a:r>
            <a:r>
              <a:rPr lang="en-US" sz="2800" b="1" spc="-15" dirty="0" err="1">
                <a:solidFill>
                  <a:srgbClr val="404040"/>
                </a:solidFill>
                <a:cs typeface="Calibri"/>
              </a:rPr>
              <a:t>Assefa</a:t>
            </a:r>
            <a:endParaRPr 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21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258180" y="6791199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Hiding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Communication Overhead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89688"/>
            <a:ext cx="8025992" cy="3972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28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10" dirty="0">
                <a:solidFill>
                  <a:srgbClr val="215968"/>
                </a:solidFill>
                <a:latin typeface="Calibri"/>
                <a:cs typeface="Calibri"/>
              </a:rPr>
              <a:t>Non-­‐blocking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communication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calls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can be used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to hide </a:t>
            </a:r>
            <a:r>
              <a:rPr sz="2400" spc="-52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communication overhead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2000" spc="-17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Also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called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hiding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communication latency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 dirty="0">
              <a:latin typeface="Calibri"/>
              <a:cs typeface="Calibri"/>
            </a:endParaRPr>
          </a:p>
          <a:p>
            <a:pPr marL="355600" marR="218440" indent="-342900">
              <a:lnSpc>
                <a:spcPct val="101099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When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used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correctly,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these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primitives are </a:t>
            </a:r>
            <a:r>
              <a:rPr sz="2400" i="1" dirty="0">
                <a:solidFill>
                  <a:srgbClr val="215968"/>
                </a:solidFill>
                <a:latin typeface="Calibri"/>
                <a:cs typeface="Calibri"/>
              </a:rPr>
              <a:t>capable of </a:t>
            </a:r>
            <a:r>
              <a:rPr sz="2400" i="1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215968"/>
                </a:solidFill>
                <a:latin typeface="Calibri"/>
                <a:cs typeface="Calibri"/>
              </a:rPr>
              <a:t>overlapping communication</a:t>
            </a:r>
            <a:r>
              <a:rPr sz="2400" b="1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215968"/>
                </a:solidFill>
                <a:latin typeface="Calibri"/>
                <a:cs typeface="Calibri"/>
              </a:rPr>
              <a:t>overheads</a:t>
            </a:r>
            <a:r>
              <a:rPr sz="2400" b="1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215968"/>
                </a:solidFill>
                <a:latin typeface="Calibri"/>
                <a:cs typeface="Calibri"/>
              </a:rPr>
              <a:t>useful </a:t>
            </a:r>
            <a:r>
              <a:rPr sz="2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215968"/>
                </a:solidFill>
                <a:latin typeface="Calibri"/>
                <a:cs typeface="Calibri"/>
              </a:rPr>
              <a:t>computations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15968"/>
              </a:buClr>
              <a:buFont typeface="Arial MT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5600" marR="181610" indent="-342900">
              <a:lnSpc>
                <a:spcPct val="101499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What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maximum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speedup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you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can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get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by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hiding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communication overhead?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175" dirty="0">
                <a:solidFill>
                  <a:srgbClr val="FFFFFF"/>
                </a:solidFill>
              </a:rPr>
              <a:t>Split-­‐Phased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Execution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417574" y="6484585"/>
            <a:ext cx="2388235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Calibri"/>
              <a:cs typeface="Calibri"/>
            </a:endParaRPr>
          </a:p>
          <a:p>
            <a:pPr marR="424180" algn="r">
              <a:lnSpc>
                <a:spcPct val="100000"/>
              </a:lnSpc>
              <a:spcBef>
                <a:spcPts val="915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80606" y="2996738"/>
            <a:ext cx="4086225" cy="2626995"/>
            <a:chOff x="2780606" y="2996738"/>
            <a:chExt cx="4086225" cy="2626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0606" y="3162992"/>
              <a:ext cx="4056611" cy="1205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25793" y="3203063"/>
              <a:ext cx="3967479" cy="0"/>
            </a:xfrm>
            <a:custGeom>
              <a:avLst/>
              <a:gdLst/>
              <a:ahLst/>
              <a:cxnLst/>
              <a:rect l="l" t="t" r="r" b="b"/>
              <a:pathLst>
                <a:path w="3967479">
                  <a:moveTo>
                    <a:pt x="0" y="0"/>
                  </a:moveTo>
                  <a:lnTo>
                    <a:pt x="3967089" y="1"/>
                  </a:lnTo>
                </a:path>
              </a:pathLst>
            </a:custGeom>
            <a:ln w="25399">
              <a:solidFill>
                <a:srgbClr val="1332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9701" y="3532908"/>
              <a:ext cx="4056611" cy="1163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55101" y="3572394"/>
              <a:ext cx="3967479" cy="0"/>
            </a:xfrm>
            <a:custGeom>
              <a:avLst/>
              <a:gdLst/>
              <a:ahLst/>
              <a:cxnLst/>
              <a:rect l="l" t="t" r="r" b="b"/>
              <a:pathLst>
                <a:path w="3967479">
                  <a:moveTo>
                    <a:pt x="0" y="0"/>
                  </a:moveTo>
                  <a:lnTo>
                    <a:pt x="3967088" y="1"/>
                  </a:lnTo>
                </a:path>
              </a:pathLst>
            </a:custGeom>
            <a:ln w="25399">
              <a:solidFill>
                <a:srgbClr val="1332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5126" y="2996738"/>
              <a:ext cx="116378" cy="26268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2037" y="3023754"/>
              <a:ext cx="0" cy="2532380"/>
            </a:xfrm>
            <a:custGeom>
              <a:avLst/>
              <a:gdLst/>
              <a:ahLst/>
              <a:cxnLst/>
              <a:rect l="l" t="t" r="r" b="b"/>
              <a:pathLst>
                <a:path h="2532379">
                  <a:moveTo>
                    <a:pt x="0" y="0"/>
                  </a:moveTo>
                  <a:lnTo>
                    <a:pt x="1" y="2532184"/>
                  </a:lnTo>
                </a:path>
              </a:pathLst>
            </a:custGeom>
            <a:ln w="25399">
              <a:solidFill>
                <a:srgbClr val="3052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09023" y="1164984"/>
            <a:ext cx="7715884" cy="237109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Phase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1: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initiate communication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Irecv(),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Isend()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Phase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2: synchronize</a:t>
            </a:r>
            <a:r>
              <a:rPr sz="24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Wait()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Perform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unrelated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computations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between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two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phases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Each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pending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Irecv()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and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Isend()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must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have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a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distinct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buﬀer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Calibri"/>
              <a:cs typeface="Calibri"/>
            </a:endParaRPr>
          </a:p>
          <a:p>
            <a:pPr marL="1833880">
              <a:lnSpc>
                <a:spcPct val="100000"/>
              </a:lnSpc>
              <a:tabLst>
                <a:tab pos="3874135" algn="l"/>
              </a:tabLst>
            </a:pPr>
            <a:r>
              <a:rPr sz="1800" dirty="0">
                <a:solidFill>
                  <a:srgbClr val="632523"/>
                </a:solidFill>
                <a:latin typeface="Calibri"/>
                <a:cs typeface="Calibri"/>
              </a:rPr>
              <a:t>OVERLAP	NO</a:t>
            </a:r>
            <a:r>
              <a:rPr sz="1800" spc="-45" dirty="0">
                <a:solidFill>
                  <a:srgbClr val="6325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2523"/>
                </a:solidFill>
                <a:latin typeface="Calibri"/>
                <a:cs typeface="Calibri"/>
              </a:rPr>
              <a:t>OVERLAP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3840" y="3783214"/>
            <a:ext cx="1123315" cy="139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Irecv(x,req) </a:t>
            </a:r>
            <a:r>
              <a:rPr sz="1800" spc="-39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B0F0"/>
                </a:solidFill>
                <a:latin typeface="Calibri"/>
                <a:cs typeface="Calibri"/>
              </a:rPr>
              <a:t>Send(..) 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C</a:t>
            </a: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om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pute(</a:t>
            </a: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)  </a:t>
            </a:r>
            <a:r>
              <a:rPr sz="1800" spc="-5" dirty="0">
                <a:solidFill>
                  <a:srgbClr val="00B0F0"/>
                </a:solidFill>
                <a:latin typeface="Calibri"/>
                <a:cs typeface="Calibri"/>
              </a:rPr>
              <a:t>Wait(req) 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 C</a:t>
            </a:r>
            <a:r>
              <a:rPr sz="1800" spc="-5" dirty="0">
                <a:solidFill>
                  <a:srgbClr val="00B0F0"/>
                </a:solidFill>
                <a:latin typeface="Calibri"/>
                <a:cs typeface="Calibri"/>
              </a:rPr>
              <a:t>om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pute</a:t>
            </a:r>
            <a:r>
              <a:rPr sz="1800" spc="-5" dirty="0">
                <a:solidFill>
                  <a:srgbClr val="00B0F0"/>
                </a:solidFill>
                <a:latin typeface="Calibri"/>
                <a:cs typeface="Calibri"/>
              </a:rPr>
              <a:t>(x)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51512" y="5187142"/>
            <a:ext cx="4086225" cy="120650"/>
            <a:chOff x="2751512" y="5187142"/>
            <a:chExt cx="4086225" cy="1206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1512" y="5187142"/>
              <a:ext cx="4085705" cy="12053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97658" y="5227522"/>
              <a:ext cx="3995420" cy="0"/>
            </a:xfrm>
            <a:custGeom>
              <a:avLst/>
              <a:gdLst/>
              <a:ahLst/>
              <a:cxnLst/>
              <a:rect l="l" t="t" r="r" b="b"/>
              <a:pathLst>
                <a:path w="3995420">
                  <a:moveTo>
                    <a:pt x="0" y="1"/>
                  </a:moveTo>
                  <a:lnTo>
                    <a:pt x="3995222" y="0"/>
                  </a:lnTo>
                </a:path>
              </a:pathLst>
            </a:custGeom>
            <a:ln w="25399">
              <a:solidFill>
                <a:srgbClr val="1332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87725" y="3783214"/>
            <a:ext cx="1138555" cy="139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Irecv(x) 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B0F0"/>
                </a:solidFill>
                <a:latin typeface="Calibri"/>
                <a:cs typeface="Calibri"/>
              </a:rPr>
              <a:t>Send(…) 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Wait(x) 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 C</a:t>
            </a: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om</a:t>
            </a:r>
            <a:r>
              <a:rPr sz="1800" dirty="0">
                <a:solidFill>
                  <a:srgbClr val="17375E"/>
                </a:solidFill>
                <a:latin typeface="Calibri"/>
                <a:cs typeface="Calibri"/>
              </a:rPr>
              <a:t>pute(</a:t>
            </a:r>
            <a:r>
              <a:rPr sz="1800" spc="-5" dirty="0">
                <a:solidFill>
                  <a:srgbClr val="17375E"/>
                </a:solidFill>
                <a:latin typeface="Calibri"/>
                <a:cs typeface="Calibri"/>
              </a:rPr>
              <a:t>X)  Compute(y)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55421" y="5440679"/>
            <a:ext cx="3799204" cy="1450975"/>
            <a:chOff x="2855421" y="5440679"/>
            <a:chExt cx="3799204" cy="145097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47803" y="5440679"/>
              <a:ext cx="369916" cy="13300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98605" y="5466509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0" y="0"/>
                  </a:lnTo>
                  <a:lnTo>
                    <a:pt x="0" y="1230921"/>
                  </a:lnTo>
                  <a:lnTo>
                    <a:pt x="267282" y="1230921"/>
                  </a:lnTo>
                  <a:lnTo>
                    <a:pt x="267282" y="0"/>
                  </a:lnTo>
                  <a:close/>
                </a:path>
              </a:pathLst>
            </a:custGeom>
            <a:solidFill>
              <a:srgbClr val="89A2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8605" y="5466509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267282" y="1230920"/>
                  </a:lnTo>
                  <a:lnTo>
                    <a:pt x="0" y="1230920"/>
                  </a:lnTo>
                  <a:lnTo>
                    <a:pt x="0" y="0"/>
                  </a:lnTo>
                  <a:lnTo>
                    <a:pt x="267282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7803" y="5440679"/>
              <a:ext cx="369916" cy="1454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98599" y="546650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67286" y="45720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8600" y="546650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267285" y="45718"/>
                  </a:lnTo>
                  <a:lnTo>
                    <a:pt x="0" y="45718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7803" y="5922817"/>
              <a:ext cx="369916" cy="1662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98605" y="5948328"/>
              <a:ext cx="267335" cy="67310"/>
            </a:xfrm>
            <a:custGeom>
              <a:avLst/>
              <a:gdLst/>
              <a:ahLst/>
              <a:cxnLst/>
              <a:rect l="l" t="t" r="r" b="b"/>
              <a:pathLst>
                <a:path w="267335" h="67310">
                  <a:moveTo>
                    <a:pt x="267285" y="0"/>
                  </a:moveTo>
                  <a:lnTo>
                    <a:pt x="0" y="0"/>
                  </a:lnTo>
                  <a:lnTo>
                    <a:pt x="0" y="66819"/>
                  </a:lnTo>
                  <a:lnTo>
                    <a:pt x="267285" y="66819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8605" y="5948328"/>
              <a:ext cx="267335" cy="67310"/>
            </a:xfrm>
            <a:custGeom>
              <a:avLst/>
              <a:gdLst/>
              <a:ahLst/>
              <a:cxnLst/>
              <a:rect l="l" t="t" r="r" b="b"/>
              <a:pathLst>
                <a:path w="267335" h="67310">
                  <a:moveTo>
                    <a:pt x="267285" y="0"/>
                  </a:moveTo>
                  <a:lnTo>
                    <a:pt x="267285" y="66819"/>
                  </a:lnTo>
                  <a:lnTo>
                    <a:pt x="0" y="66819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7803" y="5989319"/>
              <a:ext cx="369916" cy="14547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298600" y="601514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5" y="45718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98600" y="601514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267285" y="45719"/>
                  </a:lnTo>
                  <a:lnTo>
                    <a:pt x="0" y="45719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47803" y="6500552"/>
              <a:ext cx="369916" cy="2701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98602" y="6528617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5" y="0"/>
                  </a:moveTo>
                  <a:lnTo>
                    <a:pt x="0" y="0"/>
                  </a:lnTo>
                  <a:lnTo>
                    <a:pt x="0" y="168812"/>
                  </a:lnTo>
                  <a:lnTo>
                    <a:pt x="267285" y="168812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98601" y="6528617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6" y="0"/>
                  </a:moveTo>
                  <a:lnTo>
                    <a:pt x="267286" y="168812"/>
                  </a:lnTo>
                  <a:lnTo>
                    <a:pt x="0" y="168812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55421" y="5486399"/>
              <a:ext cx="369916" cy="133003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05906" y="5512231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0" y="0"/>
                  </a:lnTo>
                  <a:lnTo>
                    <a:pt x="0" y="1230920"/>
                  </a:lnTo>
                  <a:lnTo>
                    <a:pt x="267282" y="1230920"/>
                  </a:lnTo>
                  <a:lnTo>
                    <a:pt x="267282" y="0"/>
                  </a:lnTo>
                  <a:close/>
                </a:path>
              </a:pathLst>
            </a:custGeom>
            <a:solidFill>
              <a:srgbClr val="89A2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05906" y="5512231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267282" y="1230920"/>
                  </a:lnTo>
                  <a:lnTo>
                    <a:pt x="0" y="1230920"/>
                  </a:lnTo>
                  <a:lnTo>
                    <a:pt x="0" y="0"/>
                  </a:lnTo>
                  <a:lnTo>
                    <a:pt x="267282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5422" y="5440679"/>
              <a:ext cx="369916" cy="14547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905902" y="5466510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6" y="45718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05902" y="5466510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267285" y="45718"/>
                  </a:lnTo>
                  <a:lnTo>
                    <a:pt x="0" y="45718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5422" y="5922817"/>
              <a:ext cx="369916" cy="2119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905906" y="5948328"/>
              <a:ext cx="267335" cy="113030"/>
            </a:xfrm>
            <a:custGeom>
              <a:avLst/>
              <a:gdLst/>
              <a:ahLst/>
              <a:cxnLst/>
              <a:rect l="l" t="t" r="r" b="b"/>
              <a:pathLst>
                <a:path w="267335" h="113029">
                  <a:moveTo>
                    <a:pt x="267286" y="0"/>
                  </a:moveTo>
                  <a:lnTo>
                    <a:pt x="0" y="0"/>
                  </a:lnTo>
                  <a:lnTo>
                    <a:pt x="0" y="112541"/>
                  </a:lnTo>
                  <a:lnTo>
                    <a:pt x="267286" y="112541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05906" y="5948328"/>
              <a:ext cx="267335" cy="113030"/>
            </a:xfrm>
            <a:custGeom>
              <a:avLst/>
              <a:gdLst/>
              <a:ahLst/>
              <a:cxnLst/>
              <a:rect l="l" t="t" r="r" b="b"/>
              <a:pathLst>
                <a:path w="267335" h="113029">
                  <a:moveTo>
                    <a:pt x="267285" y="0"/>
                  </a:moveTo>
                  <a:lnTo>
                    <a:pt x="267285" y="112541"/>
                  </a:lnTo>
                  <a:lnTo>
                    <a:pt x="0" y="112541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5421" y="6035039"/>
              <a:ext cx="369916" cy="14547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05901" y="6060870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5" y="45718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05900" y="6060870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267286" y="45719"/>
                  </a:lnTo>
                  <a:lnTo>
                    <a:pt x="0" y="45719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55421" y="6546272"/>
              <a:ext cx="369916" cy="27016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905902" y="6574339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5" y="0"/>
                  </a:moveTo>
                  <a:lnTo>
                    <a:pt x="0" y="0"/>
                  </a:lnTo>
                  <a:lnTo>
                    <a:pt x="0" y="168812"/>
                  </a:lnTo>
                  <a:lnTo>
                    <a:pt x="267285" y="168812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05901" y="6574339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5" y="0"/>
                  </a:moveTo>
                  <a:lnTo>
                    <a:pt x="267285" y="168812"/>
                  </a:lnTo>
                  <a:lnTo>
                    <a:pt x="0" y="168812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33403" y="5486399"/>
              <a:ext cx="365760" cy="13300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381858" y="5512229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0" y="0"/>
                  </a:lnTo>
                  <a:lnTo>
                    <a:pt x="0" y="1230921"/>
                  </a:lnTo>
                  <a:lnTo>
                    <a:pt x="267282" y="1230921"/>
                  </a:lnTo>
                  <a:lnTo>
                    <a:pt x="267282" y="0"/>
                  </a:lnTo>
                  <a:close/>
                </a:path>
              </a:pathLst>
            </a:custGeom>
            <a:solidFill>
              <a:srgbClr val="89A2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81859" y="5512229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267282" y="1230920"/>
                  </a:lnTo>
                  <a:lnTo>
                    <a:pt x="0" y="1230920"/>
                  </a:lnTo>
                  <a:lnTo>
                    <a:pt x="0" y="0"/>
                  </a:lnTo>
                  <a:lnTo>
                    <a:pt x="267282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33403" y="5440679"/>
              <a:ext cx="365760" cy="14547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381855" y="546650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5" y="45718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81854" y="546650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267286" y="45718"/>
                  </a:lnTo>
                  <a:lnTo>
                    <a:pt x="0" y="45718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3403" y="5922817"/>
              <a:ext cx="365760" cy="21197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381858" y="5948325"/>
              <a:ext cx="267335" cy="113030"/>
            </a:xfrm>
            <a:custGeom>
              <a:avLst/>
              <a:gdLst/>
              <a:ahLst/>
              <a:cxnLst/>
              <a:rect l="l" t="t" r="r" b="b"/>
              <a:pathLst>
                <a:path w="267335" h="113029">
                  <a:moveTo>
                    <a:pt x="267285" y="0"/>
                  </a:moveTo>
                  <a:lnTo>
                    <a:pt x="0" y="0"/>
                  </a:lnTo>
                  <a:lnTo>
                    <a:pt x="0" y="112542"/>
                  </a:lnTo>
                  <a:lnTo>
                    <a:pt x="267285" y="112542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81858" y="5948325"/>
              <a:ext cx="267335" cy="113030"/>
            </a:xfrm>
            <a:custGeom>
              <a:avLst/>
              <a:gdLst/>
              <a:ahLst/>
              <a:cxnLst/>
              <a:rect l="l" t="t" r="r" b="b"/>
              <a:pathLst>
                <a:path w="267335" h="113029">
                  <a:moveTo>
                    <a:pt x="267286" y="0"/>
                  </a:moveTo>
                  <a:lnTo>
                    <a:pt x="267286" y="112541"/>
                  </a:lnTo>
                  <a:lnTo>
                    <a:pt x="0" y="112541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33403" y="6035039"/>
              <a:ext cx="365760" cy="14547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381852" y="606086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6" y="45718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81853" y="6060867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267285" y="45719"/>
                  </a:lnTo>
                  <a:lnTo>
                    <a:pt x="0" y="45719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33403" y="6546272"/>
              <a:ext cx="365760" cy="27016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381853" y="6574337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5" y="0"/>
                  </a:moveTo>
                  <a:lnTo>
                    <a:pt x="0" y="0"/>
                  </a:lnTo>
                  <a:lnTo>
                    <a:pt x="0" y="168812"/>
                  </a:lnTo>
                  <a:lnTo>
                    <a:pt x="267285" y="168812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381853" y="6574337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6" y="0"/>
                  </a:moveTo>
                  <a:lnTo>
                    <a:pt x="267286" y="168812"/>
                  </a:lnTo>
                  <a:lnTo>
                    <a:pt x="0" y="168812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23854" y="5486399"/>
              <a:ext cx="369916" cy="1330036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874227" y="5512227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0" y="0"/>
                  </a:lnTo>
                  <a:lnTo>
                    <a:pt x="0" y="1230920"/>
                  </a:lnTo>
                  <a:lnTo>
                    <a:pt x="267282" y="1230920"/>
                  </a:lnTo>
                  <a:lnTo>
                    <a:pt x="267282" y="0"/>
                  </a:lnTo>
                  <a:close/>
                </a:path>
              </a:pathLst>
            </a:custGeom>
            <a:solidFill>
              <a:srgbClr val="89A2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874227" y="5512227"/>
              <a:ext cx="267335" cy="1231265"/>
            </a:xfrm>
            <a:custGeom>
              <a:avLst/>
              <a:gdLst/>
              <a:ahLst/>
              <a:cxnLst/>
              <a:rect l="l" t="t" r="r" b="b"/>
              <a:pathLst>
                <a:path w="267335" h="1231265">
                  <a:moveTo>
                    <a:pt x="267282" y="0"/>
                  </a:moveTo>
                  <a:lnTo>
                    <a:pt x="267282" y="1230920"/>
                  </a:lnTo>
                  <a:lnTo>
                    <a:pt x="0" y="1230920"/>
                  </a:lnTo>
                  <a:lnTo>
                    <a:pt x="0" y="0"/>
                  </a:lnTo>
                  <a:lnTo>
                    <a:pt x="267282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23854" y="5440679"/>
              <a:ext cx="369916" cy="14547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874223" y="546650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67285" y="45720"/>
                  </a:lnTo>
                  <a:lnTo>
                    <a:pt x="26728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874223" y="546650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267286" y="45718"/>
                  </a:lnTo>
                  <a:lnTo>
                    <a:pt x="0" y="45718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23854" y="5989319"/>
              <a:ext cx="369916" cy="14547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874227" y="601514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267280" y="45718"/>
                  </a:lnTo>
                  <a:lnTo>
                    <a:pt x="267280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74227" y="601514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0" y="0"/>
                  </a:moveTo>
                  <a:lnTo>
                    <a:pt x="267280" y="45719"/>
                  </a:lnTo>
                  <a:lnTo>
                    <a:pt x="0" y="45719"/>
                  </a:lnTo>
                  <a:lnTo>
                    <a:pt x="0" y="0"/>
                  </a:lnTo>
                  <a:lnTo>
                    <a:pt x="26728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23854" y="6035039"/>
              <a:ext cx="369916" cy="14547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874221" y="606086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67286" y="45720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874222" y="6060865"/>
              <a:ext cx="267335" cy="45720"/>
            </a:xfrm>
            <a:custGeom>
              <a:avLst/>
              <a:gdLst/>
              <a:ahLst/>
              <a:cxnLst/>
              <a:rect l="l" t="t" r="r" b="b"/>
              <a:pathLst>
                <a:path w="267335" h="45720">
                  <a:moveTo>
                    <a:pt x="267285" y="0"/>
                  </a:moveTo>
                  <a:lnTo>
                    <a:pt x="267285" y="45719"/>
                  </a:lnTo>
                  <a:lnTo>
                    <a:pt x="0" y="45719"/>
                  </a:lnTo>
                  <a:lnTo>
                    <a:pt x="0" y="0"/>
                  </a:lnTo>
                  <a:lnTo>
                    <a:pt x="26728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23854" y="6546272"/>
              <a:ext cx="369916" cy="270163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874222" y="6574335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6" y="0"/>
                  </a:moveTo>
                  <a:lnTo>
                    <a:pt x="0" y="0"/>
                  </a:lnTo>
                  <a:lnTo>
                    <a:pt x="0" y="168812"/>
                  </a:lnTo>
                  <a:lnTo>
                    <a:pt x="267286" y="168812"/>
                  </a:lnTo>
                  <a:lnTo>
                    <a:pt x="267286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874223" y="6574335"/>
              <a:ext cx="267335" cy="168910"/>
            </a:xfrm>
            <a:custGeom>
              <a:avLst/>
              <a:gdLst/>
              <a:ahLst/>
              <a:cxnLst/>
              <a:rect l="l" t="t" r="r" b="b"/>
              <a:pathLst>
                <a:path w="267335" h="168909">
                  <a:moveTo>
                    <a:pt x="267286" y="0"/>
                  </a:moveTo>
                  <a:lnTo>
                    <a:pt x="267286" y="168812"/>
                  </a:lnTo>
                  <a:lnTo>
                    <a:pt x="0" y="168812"/>
                  </a:lnTo>
                  <a:lnTo>
                    <a:pt x="0" y="0"/>
                  </a:lnTo>
                  <a:lnTo>
                    <a:pt x="267286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01046" y="6035039"/>
              <a:ext cx="353290" cy="453043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352486" y="6060862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253218" y="0"/>
                  </a:moveTo>
                  <a:lnTo>
                    <a:pt x="0" y="0"/>
                  </a:lnTo>
                  <a:lnTo>
                    <a:pt x="0" y="355209"/>
                  </a:lnTo>
                  <a:lnTo>
                    <a:pt x="253218" y="355209"/>
                  </a:lnTo>
                  <a:lnTo>
                    <a:pt x="253218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52486" y="6060862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0" y="0"/>
                  </a:moveTo>
                  <a:lnTo>
                    <a:pt x="253218" y="0"/>
                  </a:lnTo>
                  <a:lnTo>
                    <a:pt x="253218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01046" y="5486399"/>
              <a:ext cx="353290" cy="453043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352486" y="551222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253218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8" y="355208"/>
                  </a:lnTo>
                  <a:lnTo>
                    <a:pt x="253218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352486" y="551222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0" y="0"/>
                  </a:moveTo>
                  <a:lnTo>
                    <a:pt x="253218" y="0"/>
                  </a:lnTo>
                  <a:lnTo>
                    <a:pt x="253218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39689" y="6080759"/>
              <a:ext cx="353290" cy="45304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888253" y="610658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88253" y="610658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39689" y="5440679"/>
              <a:ext cx="353290" cy="453043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888253" y="546650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888253" y="546650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28211" y="6035039"/>
              <a:ext cx="357447" cy="453043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480288" y="606086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9"/>
                  </a:lnTo>
                  <a:lnTo>
                    <a:pt x="253217" y="355209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480288" y="606086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28211" y="5440679"/>
              <a:ext cx="357447" cy="453043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480288" y="546650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480288" y="546650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37512" y="6035039"/>
              <a:ext cx="353290" cy="453043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5086394" y="606087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9"/>
                  </a:lnTo>
                  <a:lnTo>
                    <a:pt x="253217" y="355209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086394" y="606087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37512" y="5440679"/>
              <a:ext cx="353290" cy="45304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086394" y="5466510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086394" y="5466510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9689" y="6434050"/>
              <a:ext cx="353290" cy="45720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888253" y="646179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888253" y="646179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9689" y="5793969"/>
              <a:ext cx="353290" cy="45720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5888253" y="582171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888253" y="5821714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28211" y="6388330"/>
              <a:ext cx="357447" cy="45720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480288" y="6416078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480288" y="6416078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28211" y="5677592"/>
              <a:ext cx="357447" cy="457199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5480288" y="5705660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480288" y="5705660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37512" y="6388330"/>
              <a:ext cx="353290" cy="45720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086394" y="6416078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086394" y="6416078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37512" y="5793969"/>
              <a:ext cx="353290" cy="457200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086394" y="5821719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253217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7" y="355208"/>
                  </a:lnTo>
                  <a:lnTo>
                    <a:pt x="253217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086394" y="5821719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4" h="355600">
                  <a:moveTo>
                    <a:pt x="0" y="0"/>
                  </a:moveTo>
                  <a:lnTo>
                    <a:pt x="253217" y="0"/>
                  </a:lnTo>
                  <a:lnTo>
                    <a:pt x="253217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01046" y="5723312"/>
              <a:ext cx="353290" cy="4572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6352486" y="5751371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253218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8" y="355208"/>
                  </a:lnTo>
                  <a:lnTo>
                    <a:pt x="253218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352486" y="5751371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0" y="0"/>
                  </a:moveTo>
                  <a:lnTo>
                    <a:pt x="253218" y="0"/>
                  </a:lnTo>
                  <a:lnTo>
                    <a:pt x="253218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01046" y="6404956"/>
              <a:ext cx="353290" cy="457200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352486" y="643365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253218" y="0"/>
                  </a:moveTo>
                  <a:lnTo>
                    <a:pt x="0" y="0"/>
                  </a:lnTo>
                  <a:lnTo>
                    <a:pt x="0" y="355208"/>
                  </a:lnTo>
                  <a:lnTo>
                    <a:pt x="253218" y="355208"/>
                  </a:lnTo>
                  <a:lnTo>
                    <a:pt x="253218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352486" y="6433655"/>
              <a:ext cx="253365" cy="355600"/>
            </a:xfrm>
            <a:custGeom>
              <a:avLst/>
              <a:gdLst/>
              <a:ahLst/>
              <a:cxnLst/>
              <a:rect l="l" t="t" r="r" b="b"/>
              <a:pathLst>
                <a:path w="253365" h="355600">
                  <a:moveTo>
                    <a:pt x="0" y="0"/>
                  </a:moveTo>
                  <a:lnTo>
                    <a:pt x="253218" y="0"/>
                  </a:lnTo>
                  <a:lnTo>
                    <a:pt x="253218" y="355208"/>
                  </a:lnTo>
                  <a:lnTo>
                    <a:pt x="0" y="3552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5"/>
            <a:ext cx="9144000" cy="8128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0" rIns="0" bIns="0" rtlCol="0">
            <a:spAutoFit/>
          </a:bodyPr>
          <a:lstStyle/>
          <a:p>
            <a:pPr marL="2865755" marR="918844" indent="-1934845">
              <a:lnSpc>
                <a:spcPts val="3300"/>
              </a:lnSpc>
            </a:pPr>
            <a:r>
              <a:rPr sz="2800" spc="-5" dirty="0">
                <a:solidFill>
                  <a:srgbClr val="FFFFFF"/>
                </a:solidFill>
              </a:rPr>
              <a:t>Nearest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neighbor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exchange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in a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ring</a:t>
            </a:r>
            <a:r>
              <a:rPr sz="2800" spc="5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topology</a:t>
            </a:r>
            <a:r>
              <a:rPr sz="280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with </a:t>
            </a:r>
            <a:r>
              <a:rPr sz="2800" spc="-615" dirty="0">
                <a:solidFill>
                  <a:srgbClr val="FFFFFF"/>
                </a:solidFill>
              </a:rPr>
              <a:t> </a:t>
            </a:r>
            <a:r>
              <a:rPr sz="2800" spc="-125" dirty="0">
                <a:solidFill>
                  <a:srgbClr val="FFFFFF"/>
                </a:solidFill>
              </a:rPr>
              <a:t>Non-­‐Blocking</a:t>
            </a:r>
            <a:r>
              <a:rPr sz="2800" spc="-5" dirty="0">
                <a:solidFill>
                  <a:srgbClr val="FFFFFF"/>
                </a:solidFill>
              </a:rPr>
              <a:t> Messages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941916" y="2714105"/>
            <a:ext cx="4775835" cy="835660"/>
            <a:chOff x="4941916" y="2714105"/>
            <a:chExt cx="4775835" cy="835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9076" y="2992581"/>
              <a:ext cx="328352" cy="3408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31314" y="3019225"/>
              <a:ext cx="226695" cy="239395"/>
            </a:xfrm>
            <a:custGeom>
              <a:avLst/>
              <a:gdLst/>
              <a:ahLst/>
              <a:cxnLst/>
              <a:rect l="l" t="t" r="r" b="b"/>
              <a:pathLst>
                <a:path w="226695" h="239395">
                  <a:moveTo>
                    <a:pt x="113315" y="0"/>
                  </a:moveTo>
                  <a:lnTo>
                    <a:pt x="69207" y="9396"/>
                  </a:lnTo>
                  <a:lnTo>
                    <a:pt x="33189" y="35022"/>
                  </a:lnTo>
                  <a:lnTo>
                    <a:pt x="8904" y="73031"/>
                  </a:lnTo>
                  <a:lnTo>
                    <a:pt x="0" y="119575"/>
                  </a:lnTo>
                  <a:lnTo>
                    <a:pt x="8904" y="166119"/>
                  </a:lnTo>
                  <a:lnTo>
                    <a:pt x="33189" y="204128"/>
                  </a:lnTo>
                  <a:lnTo>
                    <a:pt x="69207" y="229754"/>
                  </a:lnTo>
                  <a:lnTo>
                    <a:pt x="113315" y="239151"/>
                  </a:lnTo>
                  <a:lnTo>
                    <a:pt x="157423" y="229754"/>
                  </a:lnTo>
                  <a:lnTo>
                    <a:pt x="193441" y="204128"/>
                  </a:lnTo>
                  <a:lnTo>
                    <a:pt x="217726" y="166119"/>
                  </a:lnTo>
                  <a:lnTo>
                    <a:pt x="226631" y="119575"/>
                  </a:lnTo>
                  <a:lnTo>
                    <a:pt x="217726" y="73031"/>
                  </a:lnTo>
                  <a:lnTo>
                    <a:pt x="193441" y="35022"/>
                  </a:lnTo>
                  <a:lnTo>
                    <a:pt x="157423" y="9396"/>
                  </a:lnTo>
                  <a:lnTo>
                    <a:pt x="113315" y="0"/>
                  </a:lnTo>
                  <a:close/>
                </a:path>
              </a:pathLst>
            </a:custGeom>
            <a:solidFill>
              <a:srgbClr val="EB81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31313" y="3019225"/>
              <a:ext cx="226695" cy="239395"/>
            </a:xfrm>
            <a:custGeom>
              <a:avLst/>
              <a:gdLst/>
              <a:ahLst/>
              <a:cxnLst/>
              <a:rect l="l" t="t" r="r" b="b"/>
              <a:pathLst>
                <a:path w="226695" h="239395">
                  <a:moveTo>
                    <a:pt x="0" y="119576"/>
                  </a:moveTo>
                  <a:lnTo>
                    <a:pt x="8904" y="73031"/>
                  </a:lnTo>
                  <a:lnTo>
                    <a:pt x="33189" y="35022"/>
                  </a:lnTo>
                  <a:lnTo>
                    <a:pt x="69208" y="9396"/>
                  </a:lnTo>
                  <a:lnTo>
                    <a:pt x="113315" y="0"/>
                  </a:lnTo>
                  <a:lnTo>
                    <a:pt x="157423" y="9396"/>
                  </a:lnTo>
                  <a:lnTo>
                    <a:pt x="193442" y="35022"/>
                  </a:lnTo>
                  <a:lnTo>
                    <a:pt x="217726" y="73031"/>
                  </a:lnTo>
                  <a:lnTo>
                    <a:pt x="226631" y="119576"/>
                  </a:lnTo>
                  <a:lnTo>
                    <a:pt x="217726" y="166120"/>
                  </a:lnTo>
                  <a:lnTo>
                    <a:pt x="193442" y="204128"/>
                  </a:lnTo>
                  <a:lnTo>
                    <a:pt x="157423" y="229755"/>
                  </a:lnTo>
                  <a:lnTo>
                    <a:pt x="113315" y="239152"/>
                  </a:lnTo>
                  <a:lnTo>
                    <a:pt x="69208" y="229755"/>
                  </a:lnTo>
                  <a:lnTo>
                    <a:pt x="33189" y="204128"/>
                  </a:lnTo>
                  <a:lnTo>
                    <a:pt x="8904" y="166120"/>
                  </a:lnTo>
                  <a:lnTo>
                    <a:pt x="0" y="119576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1089" y="2992581"/>
              <a:ext cx="324196" cy="3408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4936" y="3014463"/>
              <a:ext cx="236156" cy="2486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3396" y="2921923"/>
              <a:ext cx="399010" cy="2909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99323" y="3047272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91376" y="2988318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5" y="0"/>
                  </a:moveTo>
                  <a:lnTo>
                    <a:pt x="7068" y="2045"/>
                  </a:lnTo>
                  <a:lnTo>
                    <a:pt x="0" y="14163"/>
                  </a:lnTo>
                  <a:lnTo>
                    <a:pt x="2045" y="21940"/>
                  </a:lnTo>
                  <a:lnTo>
                    <a:pt x="65498" y="58953"/>
                  </a:lnTo>
                  <a:lnTo>
                    <a:pt x="2045" y="95967"/>
                  </a:lnTo>
                  <a:lnTo>
                    <a:pt x="0" y="103745"/>
                  </a:lnTo>
                  <a:lnTo>
                    <a:pt x="7068" y="115862"/>
                  </a:lnTo>
                  <a:lnTo>
                    <a:pt x="14845" y="117908"/>
                  </a:lnTo>
                  <a:lnTo>
                    <a:pt x="115909" y="58953"/>
                  </a:lnTo>
                  <a:lnTo>
                    <a:pt x="1484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32862" y="3017520"/>
              <a:ext cx="399010" cy="2909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03201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>
                  <a:moveTo>
                    <a:pt x="182968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77996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4" y="117908"/>
                  </a:lnTo>
                  <a:lnTo>
                    <a:pt x="108841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1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7340" y="2992581"/>
              <a:ext cx="328352" cy="3408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3933" y="3014463"/>
              <a:ext cx="236156" cy="2486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0511" y="2992581"/>
              <a:ext cx="328352" cy="3408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27884" y="3014463"/>
              <a:ext cx="236156" cy="2486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5491" y="2892829"/>
              <a:ext cx="403167" cy="29510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72592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64646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5" y="0"/>
                  </a:moveTo>
                  <a:lnTo>
                    <a:pt x="7067" y="2045"/>
                  </a:lnTo>
                  <a:lnTo>
                    <a:pt x="0" y="14163"/>
                  </a:lnTo>
                  <a:lnTo>
                    <a:pt x="2047" y="21940"/>
                  </a:lnTo>
                  <a:lnTo>
                    <a:pt x="65498" y="58954"/>
                  </a:lnTo>
                  <a:lnTo>
                    <a:pt x="2047" y="95967"/>
                  </a:lnTo>
                  <a:lnTo>
                    <a:pt x="0" y="103745"/>
                  </a:lnTo>
                  <a:lnTo>
                    <a:pt x="7067" y="115862"/>
                  </a:lnTo>
                  <a:lnTo>
                    <a:pt x="14845" y="117908"/>
                  </a:lnTo>
                  <a:lnTo>
                    <a:pt x="115909" y="58954"/>
                  </a:lnTo>
                  <a:lnTo>
                    <a:pt x="1484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25737" y="3017520"/>
              <a:ext cx="399010" cy="2909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597798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182967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72592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5" y="117908"/>
                  </a:lnTo>
                  <a:lnTo>
                    <a:pt x="108841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3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2817" y="2892829"/>
              <a:ext cx="399010" cy="29510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66542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58595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5" y="0"/>
                  </a:moveTo>
                  <a:lnTo>
                    <a:pt x="7068" y="2045"/>
                  </a:lnTo>
                  <a:lnTo>
                    <a:pt x="0" y="14163"/>
                  </a:lnTo>
                  <a:lnTo>
                    <a:pt x="2047" y="21940"/>
                  </a:lnTo>
                  <a:lnTo>
                    <a:pt x="65498" y="58954"/>
                  </a:lnTo>
                  <a:lnTo>
                    <a:pt x="2047" y="95967"/>
                  </a:lnTo>
                  <a:lnTo>
                    <a:pt x="0" y="103745"/>
                  </a:lnTo>
                  <a:lnTo>
                    <a:pt x="7068" y="115862"/>
                  </a:lnTo>
                  <a:lnTo>
                    <a:pt x="14845" y="117908"/>
                  </a:lnTo>
                  <a:lnTo>
                    <a:pt x="115909" y="58954"/>
                  </a:lnTo>
                  <a:lnTo>
                    <a:pt x="1484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18908" y="3017520"/>
              <a:ext cx="403167" cy="2909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91747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>
                  <a:moveTo>
                    <a:pt x="182968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66542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4" y="117908"/>
                  </a:lnTo>
                  <a:lnTo>
                    <a:pt x="108840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1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27422" y="2992581"/>
              <a:ext cx="328352" cy="34082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4362" y="3014463"/>
              <a:ext cx="236156" cy="2486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57257" y="2892829"/>
              <a:ext cx="403167" cy="29510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203791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95844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3" y="0"/>
                  </a:moveTo>
                  <a:lnTo>
                    <a:pt x="7067" y="2045"/>
                  </a:lnTo>
                  <a:lnTo>
                    <a:pt x="0" y="14163"/>
                  </a:lnTo>
                  <a:lnTo>
                    <a:pt x="2045" y="21940"/>
                  </a:lnTo>
                  <a:lnTo>
                    <a:pt x="65498" y="58954"/>
                  </a:lnTo>
                  <a:lnTo>
                    <a:pt x="2045" y="95967"/>
                  </a:lnTo>
                  <a:lnTo>
                    <a:pt x="0" y="103745"/>
                  </a:lnTo>
                  <a:lnTo>
                    <a:pt x="7067" y="115862"/>
                  </a:lnTo>
                  <a:lnTo>
                    <a:pt x="14843" y="117908"/>
                  </a:lnTo>
                  <a:lnTo>
                    <a:pt x="115909" y="58954"/>
                  </a:lnTo>
                  <a:lnTo>
                    <a:pt x="14843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57504" y="3017520"/>
              <a:ext cx="399010" cy="2909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228996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182967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03791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4" y="117908"/>
                  </a:lnTo>
                  <a:lnTo>
                    <a:pt x="108841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1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50875" y="2992581"/>
              <a:ext cx="328352" cy="34082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5689" y="3014463"/>
              <a:ext cx="236156" cy="24867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89025" y="2892829"/>
              <a:ext cx="399010" cy="29510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834349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26403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3" y="0"/>
                  </a:moveTo>
                  <a:lnTo>
                    <a:pt x="7067" y="2045"/>
                  </a:lnTo>
                  <a:lnTo>
                    <a:pt x="0" y="14163"/>
                  </a:lnTo>
                  <a:lnTo>
                    <a:pt x="2045" y="21940"/>
                  </a:lnTo>
                  <a:lnTo>
                    <a:pt x="65498" y="58954"/>
                  </a:lnTo>
                  <a:lnTo>
                    <a:pt x="2045" y="95967"/>
                  </a:lnTo>
                  <a:lnTo>
                    <a:pt x="0" y="103745"/>
                  </a:lnTo>
                  <a:lnTo>
                    <a:pt x="7067" y="115862"/>
                  </a:lnTo>
                  <a:lnTo>
                    <a:pt x="14843" y="117908"/>
                  </a:lnTo>
                  <a:lnTo>
                    <a:pt x="115907" y="58954"/>
                  </a:lnTo>
                  <a:lnTo>
                    <a:pt x="14843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89271" y="3017520"/>
              <a:ext cx="399010" cy="29094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859554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182967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34349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5" y="117908"/>
                  </a:lnTo>
                  <a:lnTo>
                    <a:pt x="108841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1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11737" y="2992581"/>
              <a:ext cx="328352" cy="34082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7762" y="3014463"/>
              <a:ext cx="236156" cy="24867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41574" y="2892829"/>
              <a:ext cx="399010" cy="29510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487190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79244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5" y="0"/>
                  </a:moveTo>
                  <a:lnTo>
                    <a:pt x="7067" y="2045"/>
                  </a:lnTo>
                  <a:lnTo>
                    <a:pt x="0" y="14163"/>
                  </a:lnTo>
                  <a:lnTo>
                    <a:pt x="2047" y="21940"/>
                  </a:lnTo>
                  <a:lnTo>
                    <a:pt x="65498" y="58954"/>
                  </a:lnTo>
                  <a:lnTo>
                    <a:pt x="2047" y="95967"/>
                  </a:lnTo>
                  <a:lnTo>
                    <a:pt x="0" y="103745"/>
                  </a:lnTo>
                  <a:lnTo>
                    <a:pt x="7067" y="115862"/>
                  </a:lnTo>
                  <a:lnTo>
                    <a:pt x="14845" y="117908"/>
                  </a:lnTo>
                  <a:lnTo>
                    <a:pt x="115909" y="58954"/>
                  </a:lnTo>
                  <a:lnTo>
                    <a:pt x="14845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41822" y="3017520"/>
              <a:ext cx="399010" cy="29094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512396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182967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87191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5" y="117908"/>
                  </a:lnTo>
                  <a:lnTo>
                    <a:pt x="108841" y="115862"/>
                  </a:lnTo>
                  <a:lnTo>
                    <a:pt x="115909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3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268690" y="2992581"/>
              <a:ext cx="328352" cy="34082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319557" y="3019225"/>
              <a:ext cx="226695" cy="239395"/>
            </a:xfrm>
            <a:custGeom>
              <a:avLst/>
              <a:gdLst/>
              <a:ahLst/>
              <a:cxnLst/>
              <a:rect l="l" t="t" r="r" b="b"/>
              <a:pathLst>
                <a:path w="226695" h="239395">
                  <a:moveTo>
                    <a:pt x="113317" y="0"/>
                  </a:moveTo>
                  <a:lnTo>
                    <a:pt x="69209" y="9396"/>
                  </a:lnTo>
                  <a:lnTo>
                    <a:pt x="33189" y="35022"/>
                  </a:lnTo>
                  <a:lnTo>
                    <a:pt x="8905" y="73031"/>
                  </a:lnTo>
                  <a:lnTo>
                    <a:pt x="0" y="119575"/>
                  </a:lnTo>
                  <a:lnTo>
                    <a:pt x="8905" y="166119"/>
                  </a:lnTo>
                  <a:lnTo>
                    <a:pt x="33189" y="204128"/>
                  </a:lnTo>
                  <a:lnTo>
                    <a:pt x="69209" y="229754"/>
                  </a:lnTo>
                  <a:lnTo>
                    <a:pt x="113317" y="239151"/>
                  </a:lnTo>
                  <a:lnTo>
                    <a:pt x="157424" y="229754"/>
                  </a:lnTo>
                  <a:lnTo>
                    <a:pt x="193443" y="204128"/>
                  </a:lnTo>
                  <a:lnTo>
                    <a:pt x="217727" y="166119"/>
                  </a:lnTo>
                  <a:lnTo>
                    <a:pt x="226632" y="119575"/>
                  </a:lnTo>
                  <a:lnTo>
                    <a:pt x="217727" y="73031"/>
                  </a:lnTo>
                  <a:lnTo>
                    <a:pt x="193443" y="35022"/>
                  </a:lnTo>
                  <a:lnTo>
                    <a:pt x="157424" y="9396"/>
                  </a:lnTo>
                  <a:lnTo>
                    <a:pt x="113317" y="0"/>
                  </a:lnTo>
                  <a:close/>
                </a:path>
              </a:pathLst>
            </a:custGeom>
            <a:solidFill>
              <a:srgbClr val="EB81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319557" y="3019225"/>
              <a:ext cx="226695" cy="239395"/>
            </a:xfrm>
            <a:custGeom>
              <a:avLst/>
              <a:gdLst/>
              <a:ahLst/>
              <a:cxnLst/>
              <a:rect l="l" t="t" r="r" b="b"/>
              <a:pathLst>
                <a:path w="226695" h="239395">
                  <a:moveTo>
                    <a:pt x="0" y="119576"/>
                  </a:moveTo>
                  <a:lnTo>
                    <a:pt x="8904" y="73031"/>
                  </a:lnTo>
                  <a:lnTo>
                    <a:pt x="33189" y="35022"/>
                  </a:lnTo>
                  <a:lnTo>
                    <a:pt x="69208" y="9396"/>
                  </a:lnTo>
                  <a:lnTo>
                    <a:pt x="113316" y="0"/>
                  </a:lnTo>
                  <a:lnTo>
                    <a:pt x="157423" y="9396"/>
                  </a:lnTo>
                  <a:lnTo>
                    <a:pt x="193442" y="35022"/>
                  </a:lnTo>
                  <a:lnTo>
                    <a:pt x="217726" y="73031"/>
                  </a:lnTo>
                  <a:lnTo>
                    <a:pt x="226631" y="119576"/>
                  </a:lnTo>
                  <a:lnTo>
                    <a:pt x="217726" y="166120"/>
                  </a:lnTo>
                  <a:lnTo>
                    <a:pt x="193442" y="204128"/>
                  </a:lnTo>
                  <a:lnTo>
                    <a:pt x="157423" y="229755"/>
                  </a:lnTo>
                  <a:lnTo>
                    <a:pt x="113316" y="239152"/>
                  </a:lnTo>
                  <a:lnTo>
                    <a:pt x="69208" y="229755"/>
                  </a:lnTo>
                  <a:lnTo>
                    <a:pt x="33189" y="204128"/>
                  </a:lnTo>
                  <a:lnTo>
                    <a:pt x="8904" y="166120"/>
                  </a:lnTo>
                  <a:lnTo>
                    <a:pt x="0" y="119576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65028" y="2892829"/>
              <a:ext cx="403167" cy="29510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111384" y="3019225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757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203439" y="2960270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4843" y="0"/>
                  </a:moveTo>
                  <a:lnTo>
                    <a:pt x="7067" y="2045"/>
                  </a:lnTo>
                  <a:lnTo>
                    <a:pt x="0" y="14163"/>
                  </a:lnTo>
                  <a:lnTo>
                    <a:pt x="2045" y="21940"/>
                  </a:lnTo>
                  <a:lnTo>
                    <a:pt x="65498" y="58954"/>
                  </a:lnTo>
                  <a:lnTo>
                    <a:pt x="2045" y="95967"/>
                  </a:lnTo>
                  <a:lnTo>
                    <a:pt x="0" y="103745"/>
                  </a:lnTo>
                  <a:lnTo>
                    <a:pt x="7067" y="115862"/>
                  </a:lnTo>
                  <a:lnTo>
                    <a:pt x="14843" y="117908"/>
                  </a:lnTo>
                  <a:lnTo>
                    <a:pt x="115907" y="58954"/>
                  </a:lnTo>
                  <a:lnTo>
                    <a:pt x="14843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965275" y="3017520"/>
              <a:ext cx="399010" cy="29094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9136589" y="3143228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182967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111384" y="3084274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4" y="0"/>
                  </a:moveTo>
                  <a:lnTo>
                    <a:pt x="0" y="58954"/>
                  </a:lnTo>
                  <a:lnTo>
                    <a:pt x="101065" y="117908"/>
                  </a:lnTo>
                  <a:lnTo>
                    <a:pt x="108841" y="115862"/>
                  </a:lnTo>
                  <a:lnTo>
                    <a:pt x="115910" y="103745"/>
                  </a:lnTo>
                  <a:lnTo>
                    <a:pt x="113863" y="95967"/>
                  </a:lnTo>
                  <a:lnTo>
                    <a:pt x="50410" y="58954"/>
                  </a:lnTo>
                  <a:lnTo>
                    <a:pt x="113863" y="21940"/>
                  </a:lnTo>
                  <a:lnTo>
                    <a:pt x="115909" y="14163"/>
                  </a:lnTo>
                  <a:lnTo>
                    <a:pt x="108840" y="2045"/>
                  </a:lnTo>
                  <a:lnTo>
                    <a:pt x="101064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01446" y="3100647"/>
              <a:ext cx="203661" cy="12053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546189" y="3138800"/>
              <a:ext cx="113664" cy="4445"/>
            </a:xfrm>
            <a:custGeom>
              <a:avLst/>
              <a:gdLst/>
              <a:ahLst/>
              <a:cxnLst/>
              <a:rect l="l" t="t" r="r" b="b"/>
              <a:pathLst>
                <a:path w="113665" h="4444">
                  <a:moveTo>
                    <a:pt x="-12699" y="2214"/>
                  </a:moveTo>
                  <a:lnTo>
                    <a:pt x="126331" y="2214"/>
                  </a:lnTo>
                </a:path>
              </a:pathLst>
            </a:custGeom>
            <a:ln w="29828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01200" y="2726574"/>
              <a:ext cx="116378" cy="48213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659818" y="2753501"/>
              <a:ext cx="0" cy="389890"/>
            </a:xfrm>
            <a:custGeom>
              <a:avLst/>
              <a:gdLst/>
              <a:ahLst/>
              <a:cxnLst/>
              <a:rect l="l" t="t" r="r" b="b"/>
              <a:pathLst>
                <a:path h="389889">
                  <a:moveTo>
                    <a:pt x="0" y="389726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54385" y="2714105"/>
              <a:ext cx="4750723" cy="11637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999852" y="2753502"/>
              <a:ext cx="4660265" cy="0"/>
            </a:xfrm>
            <a:custGeom>
              <a:avLst/>
              <a:gdLst/>
              <a:ahLst/>
              <a:cxnLst/>
              <a:rect l="l" t="t" r="r" b="b"/>
              <a:pathLst>
                <a:path w="4660265">
                  <a:moveTo>
                    <a:pt x="4659967" y="0"/>
                  </a:moveTo>
                  <a:lnTo>
                    <a:pt x="0" y="1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41916" y="2726574"/>
              <a:ext cx="116378" cy="38654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999851" y="2753502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h="294005">
                  <a:moveTo>
                    <a:pt x="0" y="0"/>
                  </a:moveTo>
                  <a:lnTo>
                    <a:pt x="1" y="29377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954385" y="2921923"/>
              <a:ext cx="324196" cy="29094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999851" y="3047848"/>
              <a:ext cx="106680" cy="4445"/>
            </a:xfrm>
            <a:custGeom>
              <a:avLst/>
              <a:gdLst/>
              <a:ahLst/>
              <a:cxnLst/>
              <a:rect l="l" t="t" r="r" b="b"/>
              <a:pathLst>
                <a:path w="106679" h="4444">
                  <a:moveTo>
                    <a:pt x="-12699" y="1926"/>
                  </a:moveTo>
                  <a:lnTo>
                    <a:pt x="119274" y="1926"/>
                  </a:lnTo>
                </a:path>
              </a:pathLst>
            </a:custGeom>
            <a:ln w="29252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014163" y="2991672"/>
              <a:ext cx="117475" cy="118110"/>
            </a:xfrm>
            <a:custGeom>
              <a:avLst/>
              <a:gdLst/>
              <a:ahLst/>
              <a:cxnLst/>
              <a:rect l="l" t="t" r="r" b="b"/>
              <a:pathLst>
                <a:path w="117475" h="118110">
                  <a:moveTo>
                    <a:pt x="14323" y="0"/>
                  </a:moveTo>
                  <a:lnTo>
                    <a:pt x="6625" y="2326"/>
                  </a:lnTo>
                  <a:lnTo>
                    <a:pt x="0" y="14691"/>
                  </a:lnTo>
                  <a:lnTo>
                    <a:pt x="2325" y="22388"/>
                  </a:lnTo>
                  <a:lnTo>
                    <a:pt x="67073" y="57086"/>
                  </a:lnTo>
                  <a:lnTo>
                    <a:pt x="4999" y="96368"/>
                  </a:lnTo>
                  <a:lnTo>
                    <a:pt x="3235" y="104213"/>
                  </a:lnTo>
                  <a:lnTo>
                    <a:pt x="10736" y="116067"/>
                  </a:lnTo>
                  <a:lnTo>
                    <a:pt x="18582" y="117831"/>
                  </a:lnTo>
                  <a:lnTo>
                    <a:pt x="117450" y="55265"/>
                  </a:lnTo>
                  <a:lnTo>
                    <a:pt x="14323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954385" y="3100647"/>
              <a:ext cx="224443" cy="12053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999851" y="3138800"/>
              <a:ext cx="132080" cy="4445"/>
            </a:xfrm>
            <a:custGeom>
              <a:avLst/>
              <a:gdLst/>
              <a:ahLst/>
              <a:cxnLst/>
              <a:rect l="l" t="t" r="r" b="b"/>
              <a:pathLst>
                <a:path w="132079" h="4444">
                  <a:moveTo>
                    <a:pt x="-12699" y="2214"/>
                  </a:moveTo>
                  <a:lnTo>
                    <a:pt x="144162" y="2214"/>
                  </a:lnTo>
                </a:path>
              </a:pathLst>
            </a:custGeom>
            <a:ln w="29828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941916" y="3117272"/>
              <a:ext cx="116378" cy="419792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999851" y="3143228"/>
              <a:ext cx="0" cy="328295"/>
            </a:xfrm>
            <a:custGeom>
              <a:avLst/>
              <a:gdLst/>
              <a:ahLst/>
              <a:cxnLst/>
              <a:rect l="l" t="t" r="r" b="b"/>
              <a:pathLst>
                <a:path h="328295">
                  <a:moveTo>
                    <a:pt x="0" y="0"/>
                  </a:moveTo>
                  <a:lnTo>
                    <a:pt x="1" y="327723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54385" y="3433156"/>
              <a:ext cx="4750723" cy="11637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999851" y="3470953"/>
              <a:ext cx="4660265" cy="0"/>
            </a:xfrm>
            <a:custGeom>
              <a:avLst/>
              <a:gdLst/>
              <a:ahLst/>
              <a:cxnLst/>
              <a:rect l="l" t="t" r="r" b="b"/>
              <a:pathLst>
                <a:path w="4660265">
                  <a:moveTo>
                    <a:pt x="0" y="0"/>
                  </a:moveTo>
                  <a:lnTo>
                    <a:pt x="4659966" y="1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01198" y="3233650"/>
              <a:ext cx="116378" cy="30341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9659820" y="3258376"/>
              <a:ext cx="0" cy="212725"/>
            </a:xfrm>
            <a:custGeom>
              <a:avLst/>
              <a:gdLst/>
              <a:ahLst/>
              <a:cxnLst/>
              <a:rect l="l" t="t" r="r" b="b"/>
              <a:pathLst>
                <a:path h="212725">
                  <a:moveTo>
                    <a:pt x="0" y="212576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97537" y="3129741"/>
              <a:ext cx="307570" cy="295101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9571394" y="3258375"/>
              <a:ext cx="88900" cy="0"/>
            </a:xfrm>
            <a:custGeom>
              <a:avLst/>
              <a:gdLst/>
              <a:ahLst/>
              <a:cxnLst/>
              <a:rect l="l" t="t" r="r" b="b"/>
              <a:pathLst>
                <a:path w="88900">
                  <a:moveTo>
                    <a:pt x="88426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A1D5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546189" y="3199422"/>
              <a:ext cx="116205" cy="118110"/>
            </a:xfrm>
            <a:custGeom>
              <a:avLst/>
              <a:gdLst/>
              <a:ahLst/>
              <a:cxnLst/>
              <a:rect l="l" t="t" r="r" b="b"/>
              <a:pathLst>
                <a:path w="116204" h="118110">
                  <a:moveTo>
                    <a:pt x="101062" y="0"/>
                  </a:moveTo>
                  <a:lnTo>
                    <a:pt x="0" y="58954"/>
                  </a:lnTo>
                  <a:lnTo>
                    <a:pt x="101064" y="117908"/>
                  </a:lnTo>
                  <a:lnTo>
                    <a:pt x="108840" y="115862"/>
                  </a:lnTo>
                  <a:lnTo>
                    <a:pt x="115909" y="103745"/>
                  </a:lnTo>
                  <a:lnTo>
                    <a:pt x="113861" y="95967"/>
                  </a:lnTo>
                  <a:lnTo>
                    <a:pt x="50408" y="58954"/>
                  </a:lnTo>
                  <a:lnTo>
                    <a:pt x="113861" y="21939"/>
                  </a:lnTo>
                  <a:lnTo>
                    <a:pt x="115907" y="14163"/>
                  </a:lnTo>
                  <a:lnTo>
                    <a:pt x="108839" y="2045"/>
                  </a:lnTo>
                  <a:lnTo>
                    <a:pt x="101062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023829" y="1454477"/>
            <a:ext cx="5072380" cy="2037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3399790">
              <a:lnSpc>
                <a:spcPts val="1400"/>
              </a:lnSpc>
              <a:spcBef>
                <a:spcPts val="180"/>
              </a:spcBef>
            </a:pPr>
            <a:r>
              <a:rPr sz="1200" dirty="0">
                <a:latin typeface="Courier New"/>
                <a:cs typeface="Courier New"/>
              </a:rPr>
              <a:t>#include "mpi.h" 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#include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&lt;stdio.h&gt;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50">
              <a:latin typeface="Courier New"/>
              <a:cs typeface="Courier New"/>
            </a:endParaRPr>
          </a:p>
          <a:p>
            <a:pPr marL="12700">
              <a:lnSpc>
                <a:spcPts val="1420"/>
              </a:lnSpc>
              <a:tabLst>
                <a:tab pos="2764790" algn="l"/>
              </a:tabLst>
            </a:pPr>
            <a:r>
              <a:rPr sz="1200" dirty="0">
                <a:latin typeface="Courier New"/>
                <a:cs typeface="Courier New"/>
              </a:rPr>
              <a:t>main(int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argc,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char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*argv[])	{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0"/>
              </a:lnSpc>
            </a:pPr>
            <a:r>
              <a:rPr sz="1200" dirty="0">
                <a:latin typeface="Courier New"/>
                <a:cs typeface="Courier New"/>
              </a:rPr>
              <a:t>int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numtasks, rank, next, prev, buf[2], tag1=1, tag2=2;</a:t>
            </a:r>
            <a:endParaRPr sz="1200">
              <a:latin typeface="Courier New"/>
              <a:cs typeface="Courier New"/>
            </a:endParaRPr>
          </a:p>
          <a:p>
            <a:pPr marL="12700" marR="3216275">
              <a:lnSpc>
                <a:spcPts val="1400"/>
              </a:lnSpc>
              <a:spcBef>
                <a:spcPts val="140"/>
              </a:spcBef>
            </a:pPr>
            <a:r>
              <a:rPr sz="1200" dirty="0">
                <a:latin typeface="Courier New"/>
                <a:cs typeface="Courier New"/>
              </a:rPr>
              <a:t>MPI_Request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reqs[4]; </a:t>
            </a:r>
            <a:r>
              <a:rPr sz="1200" spc="-7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MPI_Status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stats[4];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1289050">
              <a:lnSpc>
                <a:spcPct val="100699"/>
              </a:lnSpc>
              <a:spcBef>
                <a:spcPts val="5"/>
              </a:spcBef>
            </a:pPr>
            <a:r>
              <a:rPr sz="1200" dirty="0">
                <a:latin typeface="Courier New"/>
                <a:cs typeface="Courier New"/>
              </a:rPr>
              <a:t>MPI_Init(&amp;argc,&amp;argv); 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MPI_Comm_size(MPI_COMM_WORLD, &amp;numtasks); </a:t>
            </a:r>
            <a:r>
              <a:rPr sz="1200" spc="-7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MPI_Comm_rank(MPI_COMM_WORLD,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&amp;rank);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23829" y="3638876"/>
            <a:ext cx="1310005" cy="576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90"/>
              </a:spcBef>
            </a:pPr>
            <a:r>
              <a:rPr sz="1200" dirty="0">
                <a:latin typeface="Courier New"/>
                <a:cs typeface="Courier New"/>
              </a:rPr>
              <a:t>prev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rank-1; </a:t>
            </a:r>
            <a:r>
              <a:rPr sz="1200" spc="-7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next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rank+1; </a:t>
            </a:r>
            <a:r>
              <a:rPr sz="1200" spc="-7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(rank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==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0)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491870" y="4007176"/>
            <a:ext cx="1860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prev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numtasks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23829" y="4184976"/>
            <a:ext cx="6356985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3350" algn="l"/>
              </a:tabLst>
            </a:pP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(rank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==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(numtasks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1))	next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0;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042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MPI_Irecv(&amp;buf[0], 1,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MPI_INT, prev,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tag1, MPI_COMM_WORLD,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&amp;reqs[0]); </a:t>
            </a:r>
            <a:r>
              <a:rPr sz="1200" b="1" spc="-70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MPI_Irecv(&amp;buf[1], 1,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MPI_INT,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next, tag2,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MPI_COMM_WORLD,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&amp;reqs[1]);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ourier New"/>
              <a:cs typeface="Courier New"/>
            </a:endParaRPr>
          </a:p>
          <a:p>
            <a:pPr marL="12700" marR="187960">
              <a:lnSpc>
                <a:spcPct val="1042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MPI_Isend(&amp;rank, 1,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MPI_INT,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prev,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tag2, MPI_COMM_WORLD,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&amp;reqs[2]); </a:t>
            </a:r>
            <a:r>
              <a:rPr sz="1200" b="1" spc="-70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MPI_Isend(&amp;rank, 1,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MPI_INT,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next,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tag1,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MPI_COMM_WORLD,</a:t>
            </a:r>
            <a:r>
              <a:rPr sz="12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&amp;reqs[3]);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23829" y="5658176"/>
            <a:ext cx="2594610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655" algn="l"/>
                <a:tab pos="1572260" algn="l"/>
              </a:tabLst>
            </a:pPr>
            <a:r>
              <a:rPr sz="1200" dirty="0">
                <a:latin typeface="Courier New"/>
                <a:cs typeface="Courier New"/>
              </a:rPr>
              <a:t>{	do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some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work	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MPI_Waitall(4,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reqs,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stats);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023829" y="6382076"/>
            <a:ext cx="140208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MPI_Finalize();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2913611" y="5507181"/>
            <a:ext cx="6238875" cy="877569"/>
            <a:chOff x="2913611" y="5507181"/>
            <a:chExt cx="6238875" cy="877569"/>
          </a:xfrm>
        </p:grpSpPr>
        <p:pic>
          <p:nvPicPr>
            <p:cNvPr id="93" name="object 9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13611" y="5511338"/>
              <a:ext cx="6238701" cy="86452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60519" y="5507181"/>
              <a:ext cx="4738254" cy="87699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965733" y="5539202"/>
              <a:ext cx="6137275" cy="762000"/>
            </a:xfrm>
            <a:custGeom>
              <a:avLst/>
              <a:gdLst/>
              <a:ahLst/>
              <a:cxnLst/>
              <a:rect l="l" t="t" r="r" b="b"/>
              <a:pathLst>
                <a:path w="6137275" h="762000">
                  <a:moveTo>
                    <a:pt x="6010051" y="0"/>
                  </a:moveTo>
                  <a:lnTo>
                    <a:pt x="1123930" y="0"/>
                  </a:lnTo>
                  <a:lnTo>
                    <a:pt x="1074495" y="9980"/>
                  </a:lnTo>
                  <a:lnTo>
                    <a:pt x="1034126" y="37197"/>
                  </a:lnTo>
                  <a:lnTo>
                    <a:pt x="1006908" y="77567"/>
                  </a:lnTo>
                  <a:lnTo>
                    <a:pt x="996928" y="127002"/>
                  </a:lnTo>
                  <a:lnTo>
                    <a:pt x="0" y="287944"/>
                  </a:lnTo>
                  <a:lnTo>
                    <a:pt x="996928" y="317500"/>
                  </a:lnTo>
                  <a:lnTo>
                    <a:pt x="996928" y="634998"/>
                  </a:lnTo>
                  <a:lnTo>
                    <a:pt x="1006908" y="684434"/>
                  </a:lnTo>
                  <a:lnTo>
                    <a:pt x="1034126" y="724803"/>
                  </a:lnTo>
                  <a:lnTo>
                    <a:pt x="1074495" y="752020"/>
                  </a:lnTo>
                  <a:lnTo>
                    <a:pt x="1123930" y="762001"/>
                  </a:lnTo>
                  <a:lnTo>
                    <a:pt x="6010051" y="762001"/>
                  </a:lnTo>
                  <a:lnTo>
                    <a:pt x="6059486" y="752020"/>
                  </a:lnTo>
                  <a:lnTo>
                    <a:pt x="6099855" y="724803"/>
                  </a:lnTo>
                  <a:lnTo>
                    <a:pt x="6127073" y="684434"/>
                  </a:lnTo>
                  <a:lnTo>
                    <a:pt x="6137054" y="634998"/>
                  </a:lnTo>
                  <a:lnTo>
                    <a:pt x="6137053" y="127000"/>
                  </a:lnTo>
                  <a:lnTo>
                    <a:pt x="6127073" y="77567"/>
                  </a:lnTo>
                  <a:lnTo>
                    <a:pt x="6099855" y="37197"/>
                  </a:lnTo>
                  <a:lnTo>
                    <a:pt x="6059486" y="9980"/>
                  </a:lnTo>
                  <a:lnTo>
                    <a:pt x="6010051" y="0"/>
                  </a:lnTo>
                  <a:close/>
                </a:path>
                <a:path w="6137275" h="762000">
                  <a:moveTo>
                    <a:pt x="996928" y="12700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965733" y="5539202"/>
              <a:ext cx="6137275" cy="762000"/>
            </a:xfrm>
            <a:custGeom>
              <a:avLst/>
              <a:gdLst/>
              <a:ahLst/>
              <a:cxnLst/>
              <a:rect l="l" t="t" r="r" b="b"/>
              <a:pathLst>
                <a:path w="6137275" h="762000">
                  <a:moveTo>
                    <a:pt x="996927" y="127002"/>
                  </a:moveTo>
                  <a:lnTo>
                    <a:pt x="1006908" y="77567"/>
                  </a:lnTo>
                  <a:lnTo>
                    <a:pt x="1034126" y="37198"/>
                  </a:lnTo>
                  <a:lnTo>
                    <a:pt x="1074495" y="9980"/>
                  </a:lnTo>
                  <a:lnTo>
                    <a:pt x="1123930" y="0"/>
                  </a:lnTo>
                  <a:lnTo>
                    <a:pt x="1853615" y="0"/>
                  </a:lnTo>
                  <a:lnTo>
                    <a:pt x="3138647" y="0"/>
                  </a:lnTo>
                  <a:lnTo>
                    <a:pt x="6010050" y="0"/>
                  </a:lnTo>
                  <a:lnTo>
                    <a:pt x="6059485" y="9980"/>
                  </a:lnTo>
                  <a:lnTo>
                    <a:pt x="6099854" y="37198"/>
                  </a:lnTo>
                  <a:lnTo>
                    <a:pt x="6127072" y="77567"/>
                  </a:lnTo>
                  <a:lnTo>
                    <a:pt x="6137052" y="127002"/>
                  </a:lnTo>
                  <a:lnTo>
                    <a:pt x="6137052" y="317500"/>
                  </a:lnTo>
                  <a:lnTo>
                    <a:pt x="6137052" y="634998"/>
                  </a:lnTo>
                  <a:lnTo>
                    <a:pt x="6127072" y="684434"/>
                  </a:lnTo>
                  <a:lnTo>
                    <a:pt x="6099854" y="724803"/>
                  </a:lnTo>
                  <a:lnTo>
                    <a:pt x="6059485" y="752021"/>
                  </a:lnTo>
                  <a:lnTo>
                    <a:pt x="6010050" y="762001"/>
                  </a:lnTo>
                  <a:lnTo>
                    <a:pt x="3138647" y="762001"/>
                  </a:lnTo>
                  <a:lnTo>
                    <a:pt x="1853615" y="762001"/>
                  </a:lnTo>
                  <a:lnTo>
                    <a:pt x="1123930" y="762001"/>
                  </a:lnTo>
                  <a:lnTo>
                    <a:pt x="1074495" y="752021"/>
                  </a:lnTo>
                  <a:lnTo>
                    <a:pt x="1034126" y="724803"/>
                  </a:lnTo>
                  <a:lnTo>
                    <a:pt x="1006908" y="684434"/>
                  </a:lnTo>
                  <a:lnTo>
                    <a:pt x="996927" y="634998"/>
                  </a:lnTo>
                  <a:lnTo>
                    <a:pt x="996927" y="317500"/>
                  </a:lnTo>
                  <a:lnTo>
                    <a:pt x="0" y="287945"/>
                  </a:lnTo>
                  <a:lnTo>
                    <a:pt x="996927" y="1269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4223606" y="5541743"/>
            <a:ext cx="4624070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065" marR="5080" indent="-635" algn="ctr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latin typeface="Calibri"/>
                <a:cs typeface="Calibri"/>
              </a:rPr>
              <a:t>Do some</a:t>
            </a:r>
            <a:r>
              <a:rPr sz="1600" dirty="0">
                <a:latin typeface="Calibri"/>
                <a:cs typeface="Calibri"/>
              </a:rPr>
              <a:t> useful </a:t>
            </a:r>
            <a:r>
              <a:rPr sz="1600" spc="-5" dirty="0">
                <a:latin typeface="Calibri"/>
                <a:cs typeface="Calibri"/>
              </a:rPr>
              <a:t>work </a:t>
            </a:r>
            <a:r>
              <a:rPr sz="1600" dirty="0">
                <a:latin typeface="Calibri"/>
                <a:cs typeface="Calibri"/>
              </a:rPr>
              <a:t>to hide the</a:t>
            </a:r>
            <a:r>
              <a:rPr sz="1600" spc="-5" dirty="0">
                <a:latin typeface="Calibri"/>
                <a:cs typeface="Calibri"/>
              </a:rPr>
              <a:t> communication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overhead.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Work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cannot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 </a:t>
            </a: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message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buﬀers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(e.g. rank</a:t>
            </a:r>
            <a:r>
              <a:rPr sz="1600" dirty="0">
                <a:latin typeface="Calibri"/>
                <a:cs typeface="Calibri"/>
              </a:rPr>
              <a:t> and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buf)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99" name="object 99"/>
          <p:cNvSpPr txBox="1"/>
          <p:nvPr/>
        </p:nvSpPr>
        <p:spPr>
          <a:xfrm>
            <a:off x="9258180" y="6791199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Stencil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Computation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61748"/>
            <a:ext cx="7967980" cy="23837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36575" indent="-342900">
              <a:lnSpc>
                <a:spcPts val="23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Stencils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2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basis</a:t>
            </a:r>
            <a:r>
              <a:rPr sz="22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many</a:t>
            </a:r>
            <a:r>
              <a:rPr sz="22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algorithms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numerically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solve </a:t>
            </a:r>
            <a:r>
              <a:rPr sz="2200" spc="-48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partial diﬀerential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equations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(PDEs)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25"/>
              </a:spcBef>
              <a:tabLst>
                <a:tab pos="739140" algn="l"/>
              </a:tabLst>
            </a:pPr>
            <a:r>
              <a:rPr sz="1500" spc="-145" dirty="0">
                <a:solidFill>
                  <a:srgbClr val="31859C"/>
                </a:solidFill>
                <a:latin typeface="Cambria"/>
                <a:cs typeface="Cambria"/>
              </a:rPr>
              <a:t>⦿	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Approximate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derivatives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numerically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20"/>
              </a:spcBef>
              <a:tabLst>
                <a:tab pos="739140" algn="l"/>
              </a:tabLst>
            </a:pPr>
            <a:r>
              <a:rPr sz="1500" spc="-145" dirty="0">
                <a:solidFill>
                  <a:srgbClr val="31859C"/>
                </a:solidFill>
                <a:latin typeface="Cambria"/>
                <a:cs typeface="Cambria"/>
              </a:rPr>
              <a:t>⦿	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Countless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examples</a:t>
            </a:r>
            <a:r>
              <a:rPr sz="19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in</a:t>
            </a:r>
            <a:r>
              <a:rPr sz="19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scientific</a:t>
            </a:r>
            <a:r>
              <a:rPr sz="19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and</a:t>
            </a:r>
            <a:r>
              <a:rPr sz="19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engineering</a:t>
            </a:r>
            <a:r>
              <a:rPr sz="19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problems</a:t>
            </a:r>
            <a:endParaRPr sz="1900">
              <a:latin typeface="Calibri"/>
              <a:cs typeface="Calibri"/>
            </a:endParaRPr>
          </a:p>
          <a:p>
            <a:pPr marL="1193800" marR="5080" indent="-381000">
              <a:lnSpc>
                <a:spcPts val="1639"/>
              </a:lnSpc>
              <a:spcBef>
                <a:spcPts val="350"/>
              </a:spcBef>
              <a:tabLst>
                <a:tab pos="1196340" algn="l"/>
              </a:tabLst>
            </a:pPr>
            <a:r>
              <a:rPr sz="1200" spc="-130" dirty="0">
                <a:latin typeface="Cambria"/>
                <a:cs typeface="Cambria"/>
              </a:rPr>
              <a:t>⦿		</a:t>
            </a:r>
            <a:r>
              <a:rPr sz="1500" dirty="0">
                <a:latin typeface="Calibri"/>
                <a:cs typeface="Calibri"/>
              </a:rPr>
              <a:t>Turbulence </a:t>
            </a:r>
            <a:r>
              <a:rPr sz="1500" spc="-5" dirty="0">
                <a:latin typeface="Calibri"/>
                <a:cs typeface="Calibri"/>
              </a:rPr>
              <a:t>ﬂow,</a:t>
            </a:r>
            <a:r>
              <a:rPr sz="1500" dirty="0">
                <a:latin typeface="Calibri"/>
                <a:cs typeface="Calibri"/>
              </a:rPr>
              <a:t> seismic </a:t>
            </a:r>
            <a:r>
              <a:rPr sz="1500" spc="-5" dirty="0">
                <a:latin typeface="Calibri"/>
                <a:cs typeface="Calibri"/>
              </a:rPr>
              <a:t>wave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propagation,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ocean</a:t>
            </a:r>
            <a:r>
              <a:rPr sz="1500" dirty="0">
                <a:latin typeface="Calibri"/>
                <a:cs typeface="Calibri"/>
              </a:rPr>
              <a:t> currents, </a:t>
            </a:r>
            <a:r>
              <a:rPr sz="1500" spc="-5" dirty="0">
                <a:latin typeface="Calibri"/>
                <a:cs typeface="Calibri"/>
              </a:rPr>
              <a:t>water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ﬂow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 a pipe, </a:t>
            </a:r>
            <a:r>
              <a:rPr sz="1500" spc="-5" dirty="0">
                <a:latin typeface="Calibri"/>
                <a:cs typeface="Calibri"/>
              </a:rPr>
              <a:t>blood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ﬂow,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weather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forecast, </a:t>
            </a:r>
            <a:r>
              <a:rPr sz="1500" dirty="0">
                <a:latin typeface="Calibri"/>
                <a:cs typeface="Calibri"/>
              </a:rPr>
              <a:t>air </a:t>
            </a:r>
            <a:r>
              <a:rPr sz="1500" spc="-5" dirty="0">
                <a:latin typeface="Calibri"/>
                <a:cs typeface="Calibri"/>
              </a:rPr>
              <a:t>ﬂow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around</a:t>
            </a:r>
            <a:r>
              <a:rPr sz="1500" dirty="0">
                <a:latin typeface="Calibri"/>
                <a:cs typeface="Calibri"/>
              </a:rPr>
              <a:t> a </a:t>
            </a:r>
            <a:r>
              <a:rPr sz="1500" spc="-5" dirty="0">
                <a:latin typeface="Calibri"/>
                <a:cs typeface="Calibri"/>
              </a:rPr>
              <a:t>wing</a:t>
            </a:r>
            <a:endParaRPr sz="15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90"/>
              </a:spcBef>
              <a:tabLst>
                <a:tab pos="739140" algn="l"/>
              </a:tabLst>
            </a:pPr>
            <a:r>
              <a:rPr sz="1500" spc="-145" dirty="0">
                <a:solidFill>
                  <a:srgbClr val="31859C"/>
                </a:solidFill>
                <a:latin typeface="Cambria"/>
                <a:cs typeface="Cambria"/>
              </a:rPr>
              <a:t>⦿	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Multimedia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applications</a:t>
            </a:r>
            <a:r>
              <a:rPr sz="1900" spc="44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(e.g.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image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smoothing)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20"/>
              </a:spcBef>
              <a:tabLst>
                <a:tab pos="739140" algn="l"/>
              </a:tabLst>
            </a:pPr>
            <a:r>
              <a:rPr sz="1500" spc="-145" dirty="0">
                <a:solidFill>
                  <a:srgbClr val="31859C"/>
                </a:solidFill>
                <a:latin typeface="Cambria"/>
                <a:cs typeface="Cambria"/>
              </a:rPr>
              <a:t>⦿	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Uses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finite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diﬀerence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or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finite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volume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method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349" y="4193001"/>
            <a:ext cx="1744132" cy="17441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9610" y="4195018"/>
            <a:ext cx="1750583" cy="17505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35557" y="6022442"/>
            <a:ext cx="1416050" cy="3378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190"/>
              </a:spcBef>
            </a:pPr>
            <a:r>
              <a:rPr sz="1050" spc="-5" dirty="0">
                <a:latin typeface="Calibri"/>
                <a:cs typeface="Calibri"/>
              </a:rPr>
              <a:t>Earthquake Simulation </a:t>
            </a:r>
            <a:r>
              <a:rPr sz="105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Source: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Yifeng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Cui</a:t>
            </a:r>
            <a:r>
              <a:rPr sz="1050" spc="2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(SDSC)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6683" y="4209134"/>
            <a:ext cx="1854200" cy="17687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13954" y="6010887"/>
            <a:ext cx="1608455" cy="3378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190"/>
              </a:spcBef>
            </a:pPr>
            <a:r>
              <a:rPr sz="1050" spc="-10" dirty="0">
                <a:latin typeface="Calibri"/>
                <a:cs typeface="Calibri"/>
              </a:rPr>
              <a:t>Combustion </a:t>
            </a:r>
            <a:r>
              <a:rPr sz="1050" spc="-5" dirty="0">
                <a:latin typeface="Calibri"/>
                <a:cs typeface="Calibri"/>
              </a:rPr>
              <a:t>Turbulence Flow </a:t>
            </a:r>
            <a:r>
              <a:rPr sz="1050" spc="-2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Source: John Bell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(LBNL)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9258180" y="6791199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25" y="6022442"/>
            <a:ext cx="1563370" cy="3378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190"/>
              </a:spcBef>
            </a:pPr>
            <a:r>
              <a:rPr sz="1050" spc="-5" dirty="0">
                <a:latin typeface="Calibri"/>
                <a:cs typeface="Calibri"/>
              </a:rPr>
              <a:t>Image </a:t>
            </a:r>
            <a:r>
              <a:rPr sz="1050" dirty="0">
                <a:latin typeface="Calibri"/>
                <a:cs typeface="Calibri"/>
              </a:rPr>
              <a:t>Corner </a:t>
            </a:r>
            <a:r>
              <a:rPr sz="1050" spc="-5" dirty="0">
                <a:latin typeface="Calibri"/>
                <a:cs typeface="Calibri"/>
              </a:rPr>
              <a:t>Detection </a:t>
            </a:r>
            <a:r>
              <a:rPr sz="1050" dirty="0">
                <a:latin typeface="Calibri"/>
                <a:cs typeface="Calibri"/>
              </a:rPr>
              <a:t> Source: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Han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Suk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Kim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(Apple)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Stencil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Computation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25956" y="1214428"/>
            <a:ext cx="8136890" cy="18999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Discretizes</a:t>
            </a:r>
            <a:r>
              <a:rPr sz="20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problem domain</a:t>
            </a:r>
            <a:endParaRPr sz="2000">
              <a:latin typeface="Calibri"/>
              <a:cs typeface="Calibri"/>
            </a:endParaRPr>
          </a:p>
          <a:p>
            <a:pPr marL="406400" marR="95885" indent="-342900">
              <a:lnSpc>
                <a:spcPts val="2220"/>
              </a:lnSpc>
              <a:spcBef>
                <a:spcPts val="405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Divides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domain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in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space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into a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uniform grid (structured grid)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x</a:t>
            </a:r>
            <a:r>
              <a:rPr sz="1950" baseline="-21367" dirty="0">
                <a:solidFill>
                  <a:srgbClr val="215968"/>
                </a:solidFill>
                <a:latin typeface="Calibri"/>
                <a:cs typeface="Calibri"/>
              </a:rPr>
              <a:t>0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, 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x</a:t>
            </a:r>
            <a:r>
              <a:rPr sz="1950" spc="7" baseline="-21367" dirty="0">
                <a:solidFill>
                  <a:srgbClr val="215968"/>
                </a:solidFill>
                <a:latin typeface="Calibri"/>
                <a:cs typeface="Calibri"/>
              </a:rPr>
              <a:t>1</a:t>
            </a:r>
            <a:r>
              <a:rPr sz="1950" spc="15" baseline="-21367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…x</a:t>
            </a:r>
            <a:r>
              <a:rPr sz="1950" spc="7" baseline="-21367" dirty="0">
                <a:solidFill>
                  <a:srgbClr val="296C7B"/>
                </a:solidFill>
                <a:latin typeface="Calibri"/>
                <a:cs typeface="Calibri"/>
              </a:rPr>
              <a:t>n </a:t>
            </a:r>
            <a:r>
              <a:rPr sz="1950" spc="-419" baseline="-21367" dirty="0">
                <a:solidFill>
                  <a:srgbClr val="296C7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in </a:t>
            </a:r>
            <a:r>
              <a:rPr sz="2000" spc="-10" dirty="0">
                <a:solidFill>
                  <a:srgbClr val="215968"/>
                </a:solidFill>
                <a:latin typeface="Calibri"/>
                <a:cs typeface="Calibri"/>
              </a:rPr>
              <a:t>time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t</a:t>
            </a:r>
            <a:r>
              <a:rPr sz="1950" baseline="-21367" dirty="0">
                <a:solidFill>
                  <a:srgbClr val="215968"/>
                </a:solidFill>
                <a:latin typeface="Calibri"/>
                <a:cs typeface="Calibri"/>
              </a:rPr>
              <a:t>0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, 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…t</a:t>
            </a:r>
            <a:r>
              <a:rPr sz="1950" spc="7" baseline="-21367" dirty="0">
                <a:solidFill>
                  <a:srgbClr val="296C7B"/>
                </a:solidFill>
                <a:latin typeface="Calibri"/>
                <a:cs typeface="Calibri"/>
              </a:rPr>
              <a:t>N</a:t>
            </a:r>
            <a:endParaRPr sz="1950" baseline="-21367">
              <a:latin typeface="Calibri"/>
              <a:cs typeface="Calibri"/>
            </a:endParaRPr>
          </a:p>
          <a:p>
            <a:pPr marL="406400" marR="68580" indent="-342900">
              <a:lnSpc>
                <a:spcPts val="2120"/>
              </a:lnSpc>
              <a:spcBef>
                <a:spcPts val="439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Produces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sets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discrete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numerical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approximations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derivative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an </a:t>
            </a:r>
            <a:r>
              <a:rPr sz="2000" spc="-434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iterative manner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75" dirty="0">
                <a:solidFill>
                  <a:srgbClr val="215968"/>
                </a:solidFill>
                <a:latin typeface="Calibri"/>
                <a:cs typeface="Calibri"/>
              </a:rPr>
              <a:t>(time-­‐stepping)</a:t>
            </a:r>
            <a:endParaRPr sz="2000">
              <a:latin typeface="Calibri"/>
              <a:cs typeface="Calibri"/>
            </a:endParaRPr>
          </a:p>
          <a:p>
            <a:pPr marL="406400" indent="-34290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Performs nearest neighbors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0178" y="3460633"/>
            <a:ext cx="2227436" cy="26480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82223" y="6380893"/>
            <a:ext cx="907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Src: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Wikipedia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0483" y="3689234"/>
            <a:ext cx="2793998" cy="1701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39156" y="5544084"/>
            <a:ext cx="297561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dirty="0">
                <a:latin typeface="Calibri"/>
                <a:cs typeface="Calibri"/>
              </a:rPr>
              <a:t>The </a:t>
            </a:r>
            <a:r>
              <a:rPr sz="1400" spc="-5" dirty="0">
                <a:latin typeface="Calibri"/>
                <a:cs typeface="Calibri"/>
              </a:rPr>
              <a:t>stencil for </a:t>
            </a:r>
            <a:r>
              <a:rPr sz="1400" dirty="0">
                <a:latin typeface="Calibri"/>
                <a:cs typeface="Calibri"/>
              </a:rPr>
              <a:t>the </a:t>
            </a:r>
            <a:r>
              <a:rPr sz="1400" spc="-5" dirty="0">
                <a:latin typeface="Calibri"/>
                <a:cs typeface="Calibri"/>
              </a:rPr>
              <a:t>most common </a:t>
            </a:r>
            <a:r>
              <a:rPr sz="1400" dirty="0">
                <a:latin typeface="Calibri"/>
                <a:cs typeface="Calibri"/>
              </a:rPr>
              <a:t>explicit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method for</a:t>
            </a:r>
            <a:r>
              <a:rPr sz="1400" dirty="0">
                <a:latin typeface="Calibri"/>
                <a:cs typeface="Calibri"/>
              </a:rPr>
              <a:t> the heat</a:t>
            </a:r>
            <a:r>
              <a:rPr sz="1400" spc="-5" dirty="0">
                <a:latin typeface="Calibri"/>
                <a:cs typeface="Calibri"/>
              </a:rPr>
              <a:t> equation.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9258180" y="6791199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Stencil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Shape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44814"/>
            <a:ext cx="7620634" cy="16014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632460" indent="-342900">
              <a:lnSpc>
                <a:spcPts val="23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Stencil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shape can be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diﬀerent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depending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on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the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numerical </a:t>
            </a:r>
            <a:r>
              <a:rPr sz="2200" spc="-48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algorithm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used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Here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155" dirty="0">
                <a:solidFill>
                  <a:srgbClr val="215968"/>
                </a:solidFill>
                <a:latin typeface="Calibri"/>
                <a:cs typeface="Calibri"/>
              </a:rPr>
              <a:t>5-­‐point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2D,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140" dirty="0">
                <a:solidFill>
                  <a:srgbClr val="215968"/>
                </a:solidFill>
                <a:latin typeface="Calibri"/>
                <a:cs typeface="Calibri"/>
              </a:rPr>
              <a:t>13-­‐point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and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155" dirty="0">
                <a:solidFill>
                  <a:srgbClr val="215968"/>
                </a:solidFill>
                <a:latin typeface="Calibri"/>
                <a:cs typeface="Calibri"/>
              </a:rPr>
              <a:t>7-­‐point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3D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shown</a:t>
            </a:r>
            <a:endParaRPr sz="2200">
              <a:latin typeface="Calibri"/>
              <a:cs typeface="Calibri"/>
            </a:endParaRPr>
          </a:p>
          <a:p>
            <a:pPr marL="749300" marR="5080" indent="-279400">
              <a:lnSpc>
                <a:spcPts val="2039"/>
              </a:lnSpc>
              <a:spcBef>
                <a:spcPts val="484"/>
              </a:spcBef>
            </a:pPr>
            <a:r>
              <a:rPr sz="1900" dirty="0">
                <a:solidFill>
                  <a:srgbClr val="31859C"/>
                </a:solidFill>
                <a:latin typeface="Courier New"/>
                <a:cs typeface="Courier New"/>
              </a:rPr>
              <a:t>o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Next value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of green point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depends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on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the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current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value in the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nearest </a:t>
            </a:r>
            <a:r>
              <a:rPr sz="1900" spc="-4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neighbors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580" y="678390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007627" y="2909455"/>
            <a:ext cx="1874520" cy="2107565"/>
            <a:chOff x="7007627" y="2909455"/>
            <a:chExt cx="1874520" cy="21075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337" y="3715788"/>
              <a:ext cx="997527" cy="4488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57212" y="3852107"/>
              <a:ext cx="678815" cy="128905"/>
            </a:xfrm>
            <a:custGeom>
              <a:avLst/>
              <a:gdLst/>
              <a:ahLst/>
              <a:cxnLst/>
              <a:rect l="l" t="t" r="r" b="b"/>
              <a:pathLst>
                <a:path w="678815" h="128904">
                  <a:moveTo>
                    <a:pt x="678592" y="0"/>
                  </a:moveTo>
                  <a:lnTo>
                    <a:pt x="0" y="128766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9657" y="3795958"/>
              <a:ext cx="112295" cy="1122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1064" y="3924724"/>
              <a:ext cx="112295" cy="1122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7337" y="3844636"/>
              <a:ext cx="864523" cy="5777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57213" y="3980873"/>
              <a:ext cx="542925" cy="257810"/>
            </a:xfrm>
            <a:custGeom>
              <a:avLst/>
              <a:gdLst/>
              <a:ahLst/>
              <a:cxnLst/>
              <a:rect l="l" t="t" r="r" b="b"/>
              <a:pathLst>
                <a:path w="542925" h="257810">
                  <a:moveTo>
                    <a:pt x="542873" y="25753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2974" y="4181294"/>
              <a:ext cx="114223" cy="1142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0101" y="3923761"/>
              <a:ext cx="114222" cy="1142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14338" y="3723340"/>
              <a:ext cx="542925" cy="257810"/>
            </a:xfrm>
            <a:custGeom>
              <a:avLst/>
              <a:gdLst/>
              <a:ahLst/>
              <a:cxnLst/>
              <a:rect l="l" t="t" r="r" b="b"/>
              <a:pathLst>
                <a:path w="542925" h="257810">
                  <a:moveTo>
                    <a:pt x="542873" y="25753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0101" y="3923762"/>
              <a:ext cx="114222" cy="1142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57227" y="3666229"/>
              <a:ext cx="114222" cy="11422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7337" y="3071551"/>
              <a:ext cx="320040" cy="10931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57211" y="3208273"/>
              <a:ext cx="0" cy="772795"/>
            </a:xfrm>
            <a:custGeom>
              <a:avLst/>
              <a:gdLst/>
              <a:ahLst/>
              <a:cxnLst/>
              <a:rect l="l" t="t" r="r" b="b"/>
              <a:pathLst>
                <a:path h="772795">
                  <a:moveTo>
                    <a:pt x="0" y="77259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0062" y="3923722"/>
              <a:ext cx="114300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0061" y="3151124"/>
              <a:ext cx="114300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97337" y="3844636"/>
              <a:ext cx="320040" cy="109312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57211" y="3980872"/>
              <a:ext cx="0" cy="772795"/>
            </a:xfrm>
            <a:custGeom>
              <a:avLst/>
              <a:gdLst/>
              <a:ahLst/>
              <a:cxnLst/>
              <a:rect l="l" t="t" r="r" b="b"/>
              <a:pathLst>
                <a:path h="772795">
                  <a:moveTo>
                    <a:pt x="0" y="0"/>
                  </a:moveTo>
                  <a:lnTo>
                    <a:pt x="0" y="772598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0062" y="3923722"/>
              <a:ext cx="114300" cy="114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0061" y="4696321"/>
              <a:ext cx="114300" cy="114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9850" y="3844636"/>
              <a:ext cx="997527" cy="44888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278620" y="3980872"/>
              <a:ext cx="678815" cy="128905"/>
            </a:xfrm>
            <a:custGeom>
              <a:avLst/>
              <a:gdLst/>
              <a:ahLst/>
              <a:cxnLst/>
              <a:rect l="l" t="t" r="r" b="b"/>
              <a:pathLst>
                <a:path w="678815" h="128904">
                  <a:moveTo>
                    <a:pt x="678592" y="0"/>
                  </a:moveTo>
                  <a:lnTo>
                    <a:pt x="0" y="128766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1064" y="3924724"/>
              <a:ext cx="112295" cy="1122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2471" y="4053490"/>
              <a:ext cx="112295" cy="1122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3305" y="3761509"/>
              <a:ext cx="428105" cy="4197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91922" y="3788864"/>
              <a:ext cx="330579" cy="31970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791922" y="3788864"/>
              <a:ext cx="330835" cy="320040"/>
            </a:xfrm>
            <a:custGeom>
              <a:avLst/>
              <a:gdLst/>
              <a:ahLst/>
              <a:cxnLst/>
              <a:rect l="l" t="t" r="r" b="b"/>
              <a:pathLst>
                <a:path w="330834" h="320039">
                  <a:moveTo>
                    <a:pt x="0" y="159851"/>
                  </a:moveTo>
                  <a:lnTo>
                    <a:pt x="5904" y="117356"/>
                  </a:lnTo>
                  <a:lnTo>
                    <a:pt x="22566" y="79171"/>
                  </a:lnTo>
                  <a:lnTo>
                    <a:pt x="48412" y="46819"/>
                  </a:lnTo>
                  <a:lnTo>
                    <a:pt x="81864" y="21824"/>
                  </a:lnTo>
                  <a:lnTo>
                    <a:pt x="121349" y="5710"/>
                  </a:lnTo>
                  <a:lnTo>
                    <a:pt x="165289" y="0"/>
                  </a:lnTo>
                  <a:lnTo>
                    <a:pt x="209230" y="5710"/>
                  </a:lnTo>
                  <a:lnTo>
                    <a:pt x="248715" y="21824"/>
                  </a:lnTo>
                  <a:lnTo>
                    <a:pt x="282167" y="46819"/>
                  </a:lnTo>
                  <a:lnTo>
                    <a:pt x="308012" y="79171"/>
                  </a:lnTo>
                  <a:lnTo>
                    <a:pt x="324675" y="117356"/>
                  </a:lnTo>
                  <a:lnTo>
                    <a:pt x="330579" y="159851"/>
                  </a:lnTo>
                  <a:lnTo>
                    <a:pt x="324675" y="202345"/>
                  </a:lnTo>
                  <a:lnTo>
                    <a:pt x="308012" y="240530"/>
                  </a:lnTo>
                  <a:lnTo>
                    <a:pt x="282167" y="272882"/>
                  </a:lnTo>
                  <a:lnTo>
                    <a:pt x="248715" y="297877"/>
                  </a:lnTo>
                  <a:lnTo>
                    <a:pt x="209230" y="313991"/>
                  </a:lnTo>
                  <a:lnTo>
                    <a:pt x="165289" y="319701"/>
                  </a:lnTo>
                  <a:lnTo>
                    <a:pt x="121349" y="313991"/>
                  </a:lnTo>
                  <a:lnTo>
                    <a:pt x="81864" y="297877"/>
                  </a:lnTo>
                  <a:lnTo>
                    <a:pt x="48412" y="272882"/>
                  </a:lnTo>
                  <a:lnTo>
                    <a:pt x="22566" y="240530"/>
                  </a:lnTo>
                  <a:lnTo>
                    <a:pt x="5904" y="202345"/>
                  </a:lnTo>
                  <a:lnTo>
                    <a:pt x="0" y="159851"/>
                  </a:lnTo>
                  <a:close/>
                </a:path>
              </a:pathLst>
            </a:custGeom>
            <a:ln w="9524">
              <a:solidFill>
                <a:srgbClr val="A8C3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34990" y="2909455"/>
              <a:ext cx="432261" cy="4197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49886" y="3616036"/>
              <a:ext cx="432261" cy="4239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34990" y="4596938"/>
              <a:ext cx="432261" cy="4197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83631" y="4081549"/>
              <a:ext cx="432261" cy="41979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69726" y="3487190"/>
              <a:ext cx="432261" cy="42394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07627" y="3936076"/>
              <a:ext cx="428105" cy="419792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3944388" y="2830484"/>
            <a:ext cx="2423160" cy="2435860"/>
            <a:chOff x="3944388" y="2830484"/>
            <a:chExt cx="2423160" cy="2435860"/>
          </a:xfrm>
        </p:grpSpPr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4260" y="3927763"/>
              <a:ext cx="1280160" cy="7439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164382" y="4062996"/>
              <a:ext cx="960119" cy="426084"/>
            </a:xfrm>
            <a:custGeom>
              <a:avLst/>
              <a:gdLst/>
              <a:ahLst/>
              <a:cxnLst/>
              <a:rect l="l" t="t" r="r" b="b"/>
              <a:pathLst>
                <a:path w="960120" h="426085">
                  <a:moveTo>
                    <a:pt x="959588" y="42590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07227" y="4005841"/>
              <a:ext cx="114311" cy="11431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66815" y="4431741"/>
              <a:ext cx="114311" cy="11431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16967" y="3686882"/>
              <a:ext cx="847725" cy="376555"/>
            </a:xfrm>
            <a:custGeom>
              <a:avLst/>
              <a:gdLst/>
              <a:ahLst/>
              <a:cxnLst/>
              <a:rect l="l" t="t" r="r" b="b"/>
              <a:pathLst>
                <a:path w="847725" h="376554">
                  <a:moveTo>
                    <a:pt x="847415" y="37611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59812" y="3629727"/>
              <a:ext cx="114311" cy="11431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07228" y="4005842"/>
              <a:ext cx="114310" cy="11431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04260" y="2838796"/>
              <a:ext cx="320039" cy="140900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164381" y="2975925"/>
              <a:ext cx="0" cy="1087120"/>
            </a:xfrm>
            <a:custGeom>
              <a:avLst/>
              <a:gdLst/>
              <a:ahLst/>
              <a:cxnLst/>
              <a:rect l="l" t="t" r="r" b="b"/>
              <a:pathLst>
                <a:path h="1087120">
                  <a:moveTo>
                    <a:pt x="1" y="1087071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7232" y="4005846"/>
              <a:ext cx="114300" cy="114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7232" y="2918774"/>
              <a:ext cx="114300" cy="114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04260" y="3927763"/>
              <a:ext cx="320039" cy="128016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164382" y="4062996"/>
              <a:ext cx="0" cy="963294"/>
            </a:xfrm>
            <a:custGeom>
              <a:avLst/>
              <a:gdLst/>
              <a:ahLst/>
              <a:cxnLst/>
              <a:rect l="l" t="t" r="r" b="b"/>
              <a:pathLst>
                <a:path h="963295">
                  <a:moveTo>
                    <a:pt x="1" y="0"/>
                  </a:moveTo>
                  <a:lnTo>
                    <a:pt x="0" y="962671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7233" y="4005846"/>
              <a:ext cx="114300" cy="114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7232" y="4968519"/>
              <a:ext cx="114300" cy="114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52702" y="3736570"/>
              <a:ext cx="2406534" cy="73983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113718" y="3873378"/>
              <a:ext cx="2085339" cy="418465"/>
            </a:xfrm>
            <a:custGeom>
              <a:avLst/>
              <a:gdLst/>
              <a:ahLst/>
              <a:cxnLst/>
              <a:rect l="l" t="t" r="r" b="b"/>
              <a:pathLst>
                <a:path w="2085339" h="418464">
                  <a:moveTo>
                    <a:pt x="2084892" y="0"/>
                  </a:moveTo>
                  <a:lnTo>
                    <a:pt x="0" y="418255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57700" y="3817353"/>
              <a:ext cx="2197100" cy="530860"/>
            </a:xfrm>
            <a:custGeom>
              <a:avLst/>
              <a:gdLst/>
              <a:ahLst/>
              <a:cxnLst/>
              <a:rect l="l" t="t" r="r" b="b"/>
              <a:pathLst>
                <a:path w="2197100" h="530860">
                  <a:moveTo>
                    <a:pt x="112014" y="485736"/>
                  </a:moveTo>
                  <a:lnTo>
                    <a:pt x="103263" y="442112"/>
                  </a:lnTo>
                  <a:lnTo>
                    <a:pt x="67462" y="418287"/>
                  </a:lnTo>
                  <a:lnTo>
                    <a:pt x="44767" y="418249"/>
                  </a:lnTo>
                  <a:lnTo>
                    <a:pt x="23837" y="427037"/>
                  </a:lnTo>
                  <a:lnTo>
                    <a:pt x="8445" y="442620"/>
                  </a:lnTo>
                  <a:lnTo>
                    <a:pt x="0" y="462838"/>
                  </a:lnTo>
                  <a:lnTo>
                    <a:pt x="63" y="485736"/>
                  </a:lnTo>
                  <a:lnTo>
                    <a:pt x="8750" y="506450"/>
                  </a:lnTo>
                  <a:lnTo>
                    <a:pt x="24333" y="521855"/>
                  </a:lnTo>
                  <a:lnTo>
                    <a:pt x="44564" y="530288"/>
                  </a:lnTo>
                  <a:lnTo>
                    <a:pt x="67259" y="530326"/>
                  </a:lnTo>
                  <a:lnTo>
                    <a:pt x="88176" y="521538"/>
                  </a:lnTo>
                  <a:lnTo>
                    <a:pt x="103581" y="505955"/>
                  </a:lnTo>
                  <a:lnTo>
                    <a:pt x="112014" y="485736"/>
                  </a:lnTo>
                  <a:close/>
                </a:path>
                <a:path w="2197100" h="530860">
                  <a:moveTo>
                    <a:pt x="2196909" y="67487"/>
                  </a:moveTo>
                  <a:lnTo>
                    <a:pt x="2188159" y="23863"/>
                  </a:lnTo>
                  <a:lnTo>
                    <a:pt x="2152358" y="25"/>
                  </a:lnTo>
                  <a:lnTo>
                    <a:pt x="2129663" y="0"/>
                  </a:lnTo>
                  <a:lnTo>
                    <a:pt x="2108733" y="8775"/>
                  </a:lnTo>
                  <a:lnTo>
                    <a:pt x="2093328" y="24358"/>
                  </a:lnTo>
                  <a:lnTo>
                    <a:pt x="2084895" y="44577"/>
                  </a:lnTo>
                  <a:lnTo>
                    <a:pt x="2084959" y="67487"/>
                  </a:lnTo>
                  <a:lnTo>
                    <a:pt x="2093645" y="88201"/>
                  </a:lnTo>
                  <a:lnTo>
                    <a:pt x="2109228" y="103606"/>
                  </a:lnTo>
                  <a:lnTo>
                    <a:pt x="2129447" y="112039"/>
                  </a:lnTo>
                  <a:lnTo>
                    <a:pt x="2152142" y="112064"/>
                  </a:lnTo>
                  <a:lnTo>
                    <a:pt x="2173071" y="103289"/>
                  </a:lnTo>
                  <a:lnTo>
                    <a:pt x="2188476" y="87706"/>
                  </a:lnTo>
                  <a:lnTo>
                    <a:pt x="2196909" y="67487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95948" y="3906981"/>
              <a:ext cx="336665" cy="31588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47517" y="3935982"/>
              <a:ext cx="233733" cy="21148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42754" y="3931220"/>
              <a:ext cx="243258" cy="22101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91792" y="3345872"/>
              <a:ext cx="336665" cy="31172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42434" y="3371805"/>
              <a:ext cx="233734" cy="21148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37672" y="3367043"/>
              <a:ext cx="243258" cy="22101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40431" y="3811385"/>
              <a:ext cx="332509" cy="31588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88868" y="3840696"/>
              <a:ext cx="233733" cy="21148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84106" y="3835934"/>
              <a:ext cx="243258" cy="22101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991792" y="4459777"/>
              <a:ext cx="336665" cy="31588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42434" y="4488898"/>
              <a:ext cx="233734" cy="21148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37672" y="4484136"/>
              <a:ext cx="243258" cy="22101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82490" y="4123112"/>
              <a:ext cx="332509" cy="31172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31351" y="4148606"/>
              <a:ext cx="233733" cy="21148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426589" y="4143843"/>
              <a:ext cx="243258" cy="22101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592782" y="3728258"/>
              <a:ext cx="332509" cy="31172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42773" y="3755870"/>
              <a:ext cx="233733" cy="21148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638010" y="3751107"/>
              <a:ext cx="243258" cy="22101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76403" y="4023359"/>
              <a:ext cx="336665" cy="31172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27704" y="4051632"/>
              <a:ext cx="233733" cy="21148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22941" y="4046870"/>
              <a:ext cx="243258" cy="22101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30883" y="3715789"/>
              <a:ext cx="336665" cy="31172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081745" y="3744492"/>
              <a:ext cx="233733" cy="21148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081745" y="3744492"/>
              <a:ext cx="234315" cy="212090"/>
            </a:xfrm>
            <a:custGeom>
              <a:avLst/>
              <a:gdLst/>
              <a:ahLst/>
              <a:cxnLst/>
              <a:rect l="l" t="t" r="r" b="b"/>
              <a:pathLst>
                <a:path w="234314" h="212089">
                  <a:moveTo>
                    <a:pt x="0" y="105743"/>
                  </a:moveTo>
                  <a:lnTo>
                    <a:pt x="9183" y="64583"/>
                  </a:lnTo>
                  <a:lnTo>
                    <a:pt x="34229" y="30971"/>
                  </a:lnTo>
                  <a:lnTo>
                    <a:pt x="71377" y="8309"/>
                  </a:lnTo>
                  <a:lnTo>
                    <a:pt x="116866" y="0"/>
                  </a:lnTo>
                  <a:lnTo>
                    <a:pt x="162356" y="8309"/>
                  </a:lnTo>
                  <a:lnTo>
                    <a:pt x="199504" y="30971"/>
                  </a:lnTo>
                  <a:lnTo>
                    <a:pt x="224549" y="64583"/>
                  </a:lnTo>
                  <a:lnTo>
                    <a:pt x="233733" y="105743"/>
                  </a:lnTo>
                  <a:lnTo>
                    <a:pt x="224549" y="146902"/>
                  </a:lnTo>
                  <a:lnTo>
                    <a:pt x="199504" y="180514"/>
                  </a:lnTo>
                  <a:lnTo>
                    <a:pt x="162356" y="203176"/>
                  </a:lnTo>
                  <a:lnTo>
                    <a:pt x="116866" y="211485"/>
                  </a:lnTo>
                  <a:lnTo>
                    <a:pt x="71377" y="203176"/>
                  </a:lnTo>
                  <a:lnTo>
                    <a:pt x="34229" y="180514"/>
                  </a:lnTo>
                  <a:lnTo>
                    <a:pt x="9183" y="146902"/>
                  </a:lnTo>
                  <a:lnTo>
                    <a:pt x="0" y="105743"/>
                  </a:lnTo>
                  <a:close/>
                </a:path>
              </a:pathLst>
            </a:custGeom>
            <a:ln w="9524">
              <a:solidFill>
                <a:srgbClr val="54B8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944388" y="4168832"/>
              <a:ext cx="336665" cy="31172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96852" y="4194356"/>
              <a:ext cx="233734" cy="21148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996852" y="4194356"/>
              <a:ext cx="234315" cy="212090"/>
            </a:xfrm>
            <a:custGeom>
              <a:avLst/>
              <a:gdLst/>
              <a:ahLst/>
              <a:cxnLst/>
              <a:rect l="l" t="t" r="r" b="b"/>
              <a:pathLst>
                <a:path w="234314" h="212089">
                  <a:moveTo>
                    <a:pt x="0" y="105743"/>
                  </a:moveTo>
                  <a:lnTo>
                    <a:pt x="9183" y="64583"/>
                  </a:lnTo>
                  <a:lnTo>
                    <a:pt x="34229" y="30971"/>
                  </a:lnTo>
                  <a:lnTo>
                    <a:pt x="71377" y="8309"/>
                  </a:lnTo>
                  <a:lnTo>
                    <a:pt x="116866" y="0"/>
                  </a:lnTo>
                  <a:lnTo>
                    <a:pt x="162356" y="8309"/>
                  </a:lnTo>
                  <a:lnTo>
                    <a:pt x="199504" y="30971"/>
                  </a:lnTo>
                  <a:lnTo>
                    <a:pt x="224549" y="64583"/>
                  </a:lnTo>
                  <a:lnTo>
                    <a:pt x="233733" y="105743"/>
                  </a:lnTo>
                  <a:lnTo>
                    <a:pt x="224549" y="146903"/>
                  </a:lnTo>
                  <a:lnTo>
                    <a:pt x="199504" y="180514"/>
                  </a:lnTo>
                  <a:lnTo>
                    <a:pt x="162356" y="203176"/>
                  </a:lnTo>
                  <a:lnTo>
                    <a:pt x="116866" y="211485"/>
                  </a:lnTo>
                  <a:lnTo>
                    <a:pt x="71377" y="203176"/>
                  </a:lnTo>
                  <a:lnTo>
                    <a:pt x="34229" y="180514"/>
                  </a:lnTo>
                  <a:lnTo>
                    <a:pt x="9183" y="146903"/>
                  </a:lnTo>
                  <a:lnTo>
                    <a:pt x="0" y="105743"/>
                  </a:lnTo>
                  <a:close/>
                </a:path>
              </a:pathLst>
            </a:custGeom>
            <a:ln w="9524">
              <a:solidFill>
                <a:srgbClr val="54B8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14505" y="4355869"/>
              <a:ext cx="336665" cy="31172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64877" y="4383157"/>
              <a:ext cx="233734" cy="21148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960114" y="4378395"/>
              <a:ext cx="243258" cy="22101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181302" y="3549533"/>
              <a:ext cx="332509" cy="31172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30587" y="3575237"/>
              <a:ext cx="233733" cy="21148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25824" y="3570475"/>
              <a:ext cx="243258" cy="22101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991792" y="4954384"/>
              <a:ext cx="336665" cy="31172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042438" y="4980411"/>
              <a:ext cx="233733" cy="21148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37675" y="4975649"/>
              <a:ext cx="243258" cy="22101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00105" y="2830484"/>
              <a:ext cx="336665" cy="31588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052599" y="2859380"/>
              <a:ext cx="233734" cy="21148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47836" y="2854618"/>
              <a:ext cx="243258" cy="221010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1712421" y="3196244"/>
            <a:ext cx="1654810" cy="1820545"/>
            <a:chOff x="1712421" y="3196244"/>
            <a:chExt cx="1654810" cy="1820545"/>
          </a:xfrm>
        </p:grpSpPr>
        <p:pic>
          <p:nvPicPr>
            <p:cNvPr id="98" name="object 9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812174" y="3981796"/>
              <a:ext cx="1492134" cy="32835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1973286" y="4119241"/>
              <a:ext cx="1172845" cy="6350"/>
            </a:xfrm>
            <a:custGeom>
              <a:avLst/>
              <a:gdLst/>
              <a:ahLst/>
              <a:cxnLst/>
              <a:rect l="l" t="t" r="r" b="b"/>
              <a:pathLst>
                <a:path w="1172845" h="6350">
                  <a:moveTo>
                    <a:pt x="1172424" y="0"/>
                  </a:moveTo>
                  <a:lnTo>
                    <a:pt x="0" y="6182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088562" y="4062091"/>
              <a:ext cx="114298" cy="11429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916137" y="4068273"/>
              <a:ext cx="114297" cy="11429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94065" y="3320934"/>
              <a:ext cx="320039" cy="980901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2552857" y="3457208"/>
              <a:ext cx="0" cy="662305"/>
            </a:xfrm>
            <a:custGeom>
              <a:avLst/>
              <a:gdLst/>
              <a:ahLst/>
              <a:cxnLst/>
              <a:rect l="l" t="t" r="r" b="b"/>
              <a:pathLst>
                <a:path h="662304">
                  <a:moveTo>
                    <a:pt x="0" y="66203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708" y="4062091"/>
              <a:ext cx="114300" cy="1143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707" y="3400058"/>
              <a:ext cx="114300" cy="1143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394065" y="3981796"/>
              <a:ext cx="320039" cy="98090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552857" y="4119241"/>
              <a:ext cx="0" cy="662305"/>
            </a:xfrm>
            <a:custGeom>
              <a:avLst/>
              <a:gdLst/>
              <a:ahLst/>
              <a:cxnLst/>
              <a:rect l="l" t="t" r="r" b="b"/>
              <a:pathLst>
                <a:path h="662304">
                  <a:moveTo>
                    <a:pt x="0" y="0"/>
                  </a:moveTo>
                  <a:lnTo>
                    <a:pt x="0" y="662032"/>
                  </a:lnTo>
                </a:path>
              </a:pathLst>
            </a:custGeom>
            <a:ln w="380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708" y="4062091"/>
              <a:ext cx="114300" cy="1143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707" y="4724124"/>
              <a:ext cx="114300" cy="1143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356657" y="3927764"/>
              <a:ext cx="390698" cy="37407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408453" y="3954711"/>
              <a:ext cx="288811" cy="273950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408453" y="3954711"/>
              <a:ext cx="288925" cy="274320"/>
            </a:xfrm>
            <a:custGeom>
              <a:avLst/>
              <a:gdLst/>
              <a:ahLst/>
              <a:cxnLst/>
              <a:rect l="l" t="t" r="r" b="b"/>
              <a:pathLst>
                <a:path w="288925" h="274320">
                  <a:moveTo>
                    <a:pt x="0" y="136975"/>
                  </a:moveTo>
                  <a:lnTo>
                    <a:pt x="7361" y="93680"/>
                  </a:lnTo>
                  <a:lnTo>
                    <a:pt x="27861" y="56079"/>
                  </a:lnTo>
                  <a:lnTo>
                    <a:pt x="59121" y="26428"/>
                  </a:lnTo>
                  <a:lnTo>
                    <a:pt x="98762" y="6983"/>
                  </a:lnTo>
                  <a:lnTo>
                    <a:pt x="144405" y="0"/>
                  </a:lnTo>
                  <a:lnTo>
                    <a:pt x="190049" y="6983"/>
                  </a:lnTo>
                  <a:lnTo>
                    <a:pt x="229690" y="26428"/>
                  </a:lnTo>
                  <a:lnTo>
                    <a:pt x="260950" y="56079"/>
                  </a:lnTo>
                  <a:lnTo>
                    <a:pt x="281450" y="93680"/>
                  </a:lnTo>
                  <a:lnTo>
                    <a:pt x="288812" y="136975"/>
                  </a:lnTo>
                  <a:lnTo>
                    <a:pt x="281450" y="180269"/>
                  </a:lnTo>
                  <a:lnTo>
                    <a:pt x="260950" y="217870"/>
                  </a:lnTo>
                  <a:lnTo>
                    <a:pt x="229690" y="247521"/>
                  </a:lnTo>
                  <a:lnTo>
                    <a:pt x="190049" y="266966"/>
                  </a:lnTo>
                  <a:lnTo>
                    <a:pt x="144405" y="273949"/>
                  </a:lnTo>
                  <a:lnTo>
                    <a:pt x="98762" y="266966"/>
                  </a:lnTo>
                  <a:lnTo>
                    <a:pt x="59121" y="247521"/>
                  </a:lnTo>
                  <a:lnTo>
                    <a:pt x="27861" y="217870"/>
                  </a:lnTo>
                  <a:lnTo>
                    <a:pt x="7361" y="180269"/>
                  </a:lnTo>
                  <a:lnTo>
                    <a:pt x="0" y="136975"/>
                  </a:lnTo>
                  <a:close/>
                </a:path>
              </a:pathLst>
            </a:custGeom>
            <a:ln w="9524">
              <a:solidFill>
                <a:srgbClr val="A8C3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352501" y="3196244"/>
              <a:ext cx="390698" cy="374072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975956" y="3927764"/>
              <a:ext cx="390698" cy="37407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352501" y="4642658"/>
              <a:ext cx="390698" cy="37407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12421" y="3923607"/>
              <a:ext cx="390698" cy="374072"/>
            </a:xfrm>
            <a:prstGeom prst="rect">
              <a:avLst/>
            </a:prstGeom>
          </p:spPr>
        </p:pic>
      </p:grpSp>
      <p:sp>
        <p:nvSpPr>
          <p:cNvPr id="117" name="object 117"/>
          <p:cNvSpPr txBox="1"/>
          <p:nvPr/>
        </p:nvSpPr>
        <p:spPr>
          <a:xfrm>
            <a:off x="1838231" y="5229945"/>
            <a:ext cx="6827520" cy="138557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91440" marR="2430145">
              <a:lnSpc>
                <a:spcPts val="1400"/>
              </a:lnSpc>
              <a:spcBef>
                <a:spcPts val="1300"/>
              </a:spcBef>
            </a:pPr>
            <a:r>
              <a:rPr sz="1200" spc="-5" dirty="0">
                <a:solidFill>
                  <a:srgbClr val="7F7F7F"/>
                </a:solidFill>
                <a:latin typeface="Courier New"/>
                <a:cs typeface="Courier New"/>
              </a:rPr>
              <a:t>//image smoothing example using 5-point stencil </a:t>
            </a:r>
            <a:r>
              <a:rPr sz="1200" spc="-7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for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iter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: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nSmooth</a:t>
            </a:r>
            <a:endParaRPr sz="12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620"/>
              </a:spcBef>
              <a:tabLst>
                <a:tab pos="2240280" algn="l"/>
              </a:tabLst>
            </a:pPr>
            <a:r>
              <a:rPr sz="1200" spc="-5" dirty="0">
                <a:latin typeface="Courier New"/>
                <a:cs typeface="Courier New"/>
              </a:rPr>
              <a:t>for (i,j)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in</a:t>
            </a:r>
            <a:r>
              <a:rPr sz="1200" dirty="0">
                <a:latin typeface="Courier New"/>
                <a:cs typeface="Courier New"/>
              </a:rPr>
              <a:t> (0:N-1,	</a:t>
            </a:r>
            <a:r>
              <a:rPr sz="1200" spc="-5" dirty="0">
                <a:latin typeface="Courier New"/>
                <a:cs typeface="Courier New"/>
              </a:rPr>
              <a:t>0:N-1)</a:t>
            </a:r>
            <a:endParaRPr sz="1200">
              <a:latin typeface="Courier New"/>
              <a:cs typeface="Courier New"/>
            </a:endParaRPr>
          </a:p>
          <a:p>
            <a:pPr marL="731520">
              <a:lnSpc>
                <a:spcPct val="100000"/>
              </a:lnSpc>
              <a:spcBef>
                <a:spcPts val="60"/>
              </a:spcBef>
            </a:pPr>
            <a:r>
              <a:rPr sz="1200" spc="-5" dirty="0">
                <a:latin typeface="Courier New"/>
                <a:cs typeface="Courier New"/>
              </a:rPr>
              <a:t>Imgnew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[i,j]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(Img[i-1,j]+Img[i+1,j]+Img[i,j-1]+Img[i,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j+1])/4</a:t>
            </a:r>
            <a:endParaRPr sz="1200">
              <a:latin typeface="Courier New"/>
              <a:cs typeface="Courier New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1200" dirty="0">
                <a:latin typeface="Courier New"/>
                <a:cs typeface="Courier New"/>
              </a:rPr>
              <a:t>Swap(Imgnew,Img)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Cell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Update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89688"/>
            <a:ext cx="7944484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Since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we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updating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 next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value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a cell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its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neighbors,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typically </a:t>
            </a:r>
            <a:r>
              <a:rPr sz="2000" spc="-44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we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need to keep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two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grids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around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1800" spc="6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Current</a:t>
            </a:r>
            <a:r>
              <a:rPr sz="18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Next</a:t>
            </a:r>
            <a:r>
              <a:rPr sz="18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Grid</a:t>
            </a:r>
            <a:endParaRPr sz="1800">
              <a:latin typeface="Calibri"/>
              <a:cs typeface="Calibri"/>
            </a:endParaRPr>
          </a:p>
          <a:p>
            <a:pPr marL="355600" marR="102235" indent="-342900">
              <a:lnSpc>
                <a:spcPct val="100800"/>
              </a:lnSpc>
              <a:spcBef>
                <a:spcPts val="3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They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techniques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implement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one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grid,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they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called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140" dirty="0">
                <a:solidFill>
                  <a:srgbClr val="215968"/>
                </a:solidFill>
                <a:latin typeface="Calibri"/>
                <a:cs typeface="Calibri"/>
              </a:rPr>
              <a:t>update-­‐ </a:t>
            </a:r>
            <a:r>
              <a:rPr sz="2000" spc="-434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125" dirty="0">
                <a:solidFill>
                  <a:srgbClr val="215968"/>
                </a:solidFill>
                <a:latin typeface="Calibri"/>
                <a:cs typeface="Calibri"/>
              </a:rPr>
              <a:t>in-­‐place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 methods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43358" y="3230525"/>
            <a:ext cx="5586095" cy="2472055"/>
            <a:chOff x="2343358" y="3230525"/>
            <a:chExt cx="5586095" cy="24720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3566" y="3973483"/>
              <a:ext cx="1180407" cy="2951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6897" y="4008116"/>
              <a:ext cx="1082040" cy="182880"/>
            </a:xfrm>
            <a:custGeom>
              <a:avLst/>
              <a:gdLst/>
              <a:ahLst/>
              <a:cxnLst/>
              <a:rect l="l" t="t" r="r" b="b"/>
              <a:pathLst>
                <a:path w="1082039" h="182879">
                  <a:moveTo>
                    <a:pt x="0" y="0"/>
                  </a:moveTo>
                  <a:lnTo>
                    <a:pt x="26792" y="28687"/>
                  </a:lnTo>
                  <a:lnTo>
                    <a:pt x="54867" y="56757"/>
                  </a:lnTo>
                  <a:lnTo>
                    <a:pt x="85506" y="83593"/>
                  </a:lnTo>
                  <a:lnTo>
                    <a:pt x="119990" y="108579"/>
                  </a:lnTo>
                  <a:lnTo>
                    <a:pt x="159601" y="131098"/>
                  </a:lnTo>
                  <a:lnTo>
                    <a:pt x="205622" y="150533"/>
                  </a:lnTo>
                  <a:lnTo>
                    <a:pt x="259334" y="166266"/>
                  </a:lnTo>
                  <a:lnTo>
                    <a:pt x="322019" y="177682"/>
                  </a:lnTo>
                  <a:lnTo>
                    <a:pt x="516749" y="182729"/>
                  </a:lnTo>
                  <a:lnTo>
                    <a:pt x="769398" y="170299"/>
                  </a:lnTo>
                  <a:lnTo>
                    <a:pt x="988248" y="153344"/>
                  </a:lnTo>
                  <a:lnTo>
                    <a:pt x="1081580" y="14481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0851" y="4135581"/>
              <a:ext cx="1097279" cy="9227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38495" y="4159459"/>
              <a:ext cx="1003935" cy="822325"/>
            </a:xfrm>
            <a:custGeom>
              <a:avLst/>
              <a:gdLst/>
              <a:ahLst/>
              <a:cxnLst/>
              <a:rect l="l" t="t" r="r" b="b"/>
              <a:pathLst>
                <a:path w="1003935" h="822325">
                  <a:moveTo>
                    <a:pt x="0" y="821697"/>
                  </a:moveTo>
                  <a:lnTo>
                    <a:pt x="47717" y="813078"/>
                  </a:lnTo>
                  <a:lnTo>
                    <a:pt x="95353" y="804103"/>
                  </a:lnTo>
                  <a:lnTo>
                    <a:pt x="142824" y="794414"/>
                  </a:lnTo>
                  <a:lnTo>
                    <a:pt x="190049" y="783655"/>
                  </a:lnTo>
                  <a:lnTo>
                    <a:pt x="236945" y="771470"/>
                  </a:lnTo>
                  <a:lnTo>
                    <a:pt x="283430" y="757502"/>
                  </a:lnTo>
                  <a:lnTo>
                    <a:pt x="329422" y="741394"/>
                  </a:lnTo>
                  <a:lnTo>
                    <a:pt x="374839" y="722789"/>
                  </a:lnTo>
                  <a:lnTo>
                    <a:pt x="419599" y="701331"/>
                  </a:lnTo>
                  <a:lnTo>
                    <a:pt x="463618" y="676664"/>
                  </a:lnTo>
                  <a:lnTo>
                    <a:pt x="506816" y="648430"/>
                  </a:lnTo>
                  <a:lnTo>
                    <a:pt x="549110" y="616273"/>
                  </a:lnTo>
                  <a:lnTo>
                    <a:pt x="690678" y="462205"/>
                  </a:lnTo>
                  <a:lnTo>
                    <a:pt x="839050" y="256780"/>
                  </a:lnTo>
                  <a:lnTo>
                    <a:pt x="956061" y="77034"/>
                  </a:lnTo>
                  <a:lnTo>
                    <a:pt x="100354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69284" y="3251445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5" h="2218690">
                  <a:moveTo>
                    <a:pt x="0" y="0"/>
                  </a:moveTo>
                  <a:lnTo>
                    <a:pt x="4259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6530" y="3251446"/>
              <a:ext cx="10795" cy="2218690"/>
            </a:xfrm>
            <a:custGeom>
              <a:avLst/>
              <a:gdLst/>
              <a:ahLst/>
              <a:cxnLst/>
              <a:rect l="l" t="t" r="r" b="b"/>
              <a:pathLst>
                <a:path w="10795" h="2218690">
                  <a:moveTo>
                    <a:pt x="0" y="0"/>
                  </a:moveTo>
                  <a:lnTo>
                    <a:pt x="10360" y="22185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9136" y="3251445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5" h="2218690">
                  <a:moveTo>
                    <a:pt x="0" y="0"/>
                  </a:moveTo>
                  <a:lnTo>
                    <a:pt x="4259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4062" y="3249973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4" h="2218690">
                  <a:moveTo>
                    <a:pt x="0" y="0"/>
                  </a:moveTo>
                  <a:lnTo>
                    <a:pt x="4260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1920" y="3359028"/>
              <a:ext cx="2077085" cy="1905"/>
            </a:xfrm>
            <a:custGeom>
              <a:avLst/>
              <a:gdLst/>
              <a:ahLst/>
              <a:cxnLst/>
              <a:rect l="l" t="t" r="r" b="b"/>
              <a:pathLst>
                <a:path w="2077085" h="1904">
                  <a:moveTo>
                    <a:pt x="0" y="0"/>
                  </a:moveTo>
                  <a:lnTo>
                    <a:pt x="2076753" y="18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83860" y="5022922"/>
              <a:ext cx="2075180" cy="1905"/>
            </a:xfrm>
            <a:custGeom>
              <a:avLst/>
              <a:gdLst/>
              <a:ahLst/>
              <a:cxnLst/>
              <a:rect l="l" t="t" r="r" b="b"/>
              <a:pathLst>
                <a:path w="2075179" h="1904">
                  <a:moveTo>
                    <a:pt x="0" y="0"/>
                  </a:moveTo>
                  <a:lnTo>
                    <a:pt x="2074813" y="18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1920" y="4468290"/>
              <a:ext cx="2074545" cy="1905"/>
            </a:xfrm>
            <a:custGeom>
              <a:avLst/>
              <a:gdLst/>
              <a:ahLst/>
              <a:cxnLst/>
              <a:rect l="l" t="t" r="r" b="b"/>
              <a:pathLst>
                <a:path w="2074545" h="1904">
                  <a:moveTo>
                    <a:pt x="0" y="0"/>
                  </a:moveTo>
                  <a:lnTo>
                    <a:pt x="2074433" y="18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81920" y="3913660"/>
              <a:ext cx="2077085" cy="1905"/>
            </a:xfrm>
            <a:custGeom>
              <a:avLst/>
              <a:gdLst/>
              <a:ahLst/>
              <a:cxnLst/>
              <a:rect l="l" t="t" r="r" b="b"/>
              <a:pathLst>
                <a:path w="2077085" h="1904">
                  <a:moveTo>
                    <a:pt x="0" y="0"/>
                  </a:moveTo>
                  <a:lnTo>
                    <a:pt x="2076753" y="18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8989" y="3468479"/>
              <a:ext cx="4445" cy="1999614"/>
            </a:xfrm>
            <a:custGeom>
              <a:avLst/>
              <a:gdLst/>
              <a:ahLst/>
              <a:cxnLst/>
              <a:rect l="l" t="t" r="r" b="b"/>
              <a:pathLst>
                <a:path w="4444" h="1999614">
                  <a:moveTo>
                    <a:pt x="0" y="0"/>
                  </a:moveTo>
                  <a:lnTo>
                    <a:pt x="4260" y="19996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358" y="3236874"/>
              <a:ext cx="251261" cy="2443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3358" y="3791506"/>
              <a:ext cx="251261" cy="2443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358" y="4346138"/>
              <a:ext cx="251261" cy="2443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5296" y="4900768"/>
              <a:ext cx="251261" cy="2443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8431" y="3237273"/>
              <a:ext cx="251261" cy="2443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8431" y="3791905"/>
              <a:ext cx="251261" cy="2443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8431" y="4346537"/>
              <a:ext cx="251261" cy="2443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0369" y="4901167"/>
              <a:ext cx="251261" cy="2443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3504" y="3238745"/>
              <a:ext cx="251261" cy="24430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93504" y="3793377"/>
              <a:ext cx="251261" cy="24430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3504" y="4348008"/>
              <a:ext cx="251261" cy="24430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5444" y="4902639"/>
              <a:ext cx="251261" cy="2443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81278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81278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81278" y="380607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81278" y="380607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81278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81278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83217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83217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56352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56352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56352" y="380607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56352" y="380607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56352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56352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58291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58291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89698" y="32514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89698" y="32514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89698" y="38060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89698" y="38060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89698" y="436070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89698" y="436070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91637" y="491533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2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2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91637" y="491533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64772" y="3251842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64772" y="3251842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64772" y="3806474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64772" y="3806474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64772" y="436110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64772" y="436110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2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2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66711" y="491573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66711" y="491573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86179" y="5577554"/>
              <a:ext cx="2083435" cy="2540"/>
            </a:xfrm>
            <a:custGeom>
              <a:avLst/>
              <a:gdLst/>
              <a:ahLst/>
              <a:cxnLst/>
              <a:rect l="l" t="t" r="r" b="b"/>
              <a:pathLst>
                <a:path w="2083435" h="2539">
                  <a:moveTo>
                    <a:pt x="0" y="0"/>
                  </a:moveTo>
                  <a:lnTo>
                    <a:pt x="2082853" y="226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7616" y="5455401"/>
              <a:ext cx="251261" cy="24430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2690" y="5455799"/>
              <a:ext cx="251261" cy="24430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7764" y="5457271"/>
              <a:ext cx="251261" cy="24430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083598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83598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083598" y="380607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083598" y="380607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83598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083598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083598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083598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085538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29" y="0"/>
                  </a:moveTo>
                  <a:lnTo>
                    <a:pt x="68972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2" y="210304"/>
                  </a:lnTo>
                  <a:lnTo>
                    <a:pt x="112929" y="218906"/>
                  </a:lnTo>
                  <a:lnTo>
                    <a:pt x="156888" y="210304"/>
                  </a:lnTo>
                  <a:lnTo>
                    <a:pt x="192784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4" y="32058"/>
                  </a:lnTo>
                  <a:lnTo>
                    <a:pt x="156888" y="8601"/>
                  </a:lnTo>
                  <a:lnTo>
                    <a:pt x="112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085538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658672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658672" y="325144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658672" y="380607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58672" y="380607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1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8672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658672" y="436070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58672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58672" y="491533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60613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29" y="0"/>
                  </a:moveTo>
                  <a:lnTo>
                    <a:pt x="68972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2" y="210304"/>
                  </a:lnTo>
                  <a:lnTo>
                    <a:pt x="112929" y="218906"/>
                  </a:lnTo>
                  <a:lnTo>
                    <a:pt x="156887" y="210304"/>
                  </a:lnTo>
                  <a:lnTo>
                    <a:pt x="192784" y="186847"/>
                  </a:lnTo>
                  <a:lnTo>
                    <a:pt x="216986" y="152057"/>
                  </a:lnTo>
                  <a:lnTo>
                    <a:pt x="225860" y="109453"/>
                  </a:lnTo>
                  <a:lnTo>
                    <a:pt x="216986" y="66849"/>
                  </a:lnTo>
                  <a:lnTo>
                    <a:pt x="192784" y="32058"/>
                  </a:lnTo>
                  <a:lnTo>
                    <a:pt x="156887" y="8601"/>
                  </a:lnTo>
                  <a:lnTo>
                    <a:pt x="112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660611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093958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093957" y="546997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69031" y="547036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29" y="0"/>
                  </a:moveTo>
                  <a:lnTo>
                    <a:pt x="68972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2" y="210304"/>
                  </a:lnTo>
                  <a:lnTo>
                    <a:pt x="112929" y="218906"/>
                  </a:lnTo>
                  <a:lnTo>
                    <a:pt x="156888" y="210304"/>
                  </a:lnTo>
                  <a:lnTo>
                    <a:pt x="192784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4" y="32057"/>
                  </a:lnTo>
                  <a:lnTo>
                    <a:pt x="156888" y="8601"/>
                  </a:lnTo>
                  <a:lnTo>
                    <a:pt x="112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669031" y="5470370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60" h="219075">
                  <a:moveTo>
                    <a:pt x="112930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1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0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439507" y="3740759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183888" y="0"/>
                  </a:moveTo>
                  <a:lnTo>
                    <a:pt x="135003" y="6309"/>
                  </a:lnTo>
                  <a:lnTo>
                    <a:pt x="91076" y="24116"/>
                  </a:lnTo>
                  <a:lnTo>
                    <a:pt x="53859" y="51736"/>
                  </a:lnTo>
                  <a:lnTo>
                    <a:pt x="25106" y="87486"/>
                  </a:lnTo>
                  <a:lnTo>
                    <a:pt x="6568" y="129682"/>
                  </a:lnTo>
                  <a:lnTo>
                    <a:pt x="0" y="176640"/>
                  </a:lnTo>
                  <a:lnTo>
                    <a:pt x="6568" y="223598"/>
                  </a:lnTo>
                  <a:lnTo>
                    <a:pt x="25106" y="265793"/>
                  </a:lnTo>
                  <a:lnTo>
                    <a:pt x="53859" y="301543"/>
                  </a:lnTo>
                  <a:lnTo>
                    <a:pt x="91076" y="329163"/>
                  </a:lnTo>
                  <a:lnTo>
                    <a:pt x="135003" y="346969"/>
                  </a:lnTo>
                  <a:lnTo>
                    <a:pt x="183888" y="353279"/>
                  </a:lnTo>
                  <a:lnTo>
                    <a:pt x="232772" y="346969"/>
                  </a:lnTo>
                  <a:lnTo>
                    <a:pt x="276700" y="329163"/>
                  </a:lnTo>
                  <a:lnTo>
                    <a:pt x="300576" y="311443"/>
                  </a:lnTo>
                  <a:lnTo>
                    <a:pt x="183887" y="311443"/>
                  </a:lnTo>
                  <a:lnTo>
                    <a:pt x="138987" y="304571"/>
                  </a:lnTo>
                  <a:lnTo>
                    <a:pt x="99993" y="285434"/>
                  </a:lnTo>
                  <a:lnTo>
                    <a:pt x="69242" y="256253"/>
                  </a:lnTo>
                  <a:lnTo>
                    <a:pt x="49076" y="219248"/>
                  </a:lnTo>
                  <a:lnTo>
                    <a:pt x="41835" y="176640"/>
                  </a:lnTo>
                  <a:lnTo>
                    <a:pt x="49076" y="134032"/>
                  </a:lnTo>
                  <a:lnTo>
                    <a:pt x="69242" y="97027"/>
                  </a:lnTo>
                  <a:lnTo>
                    <a:pt x="99993" y="67845"/>
                  </a:lnTo>
                  <a:lnTo>
                    <a:pt x="138987" y="48708"/>
                  </a:lnTo>
                  <a:lnTo>
                    <a:pt x="183887" y="41836"/>
                  </a:lnTo>
                  <a:lnTo>
                    <a:pt x="300576" y="41836"/>
                  </a:lnTo>
                  <a:lnTo>
                    <a:pt x="276700" y="24116"/>
                  </a:lnTo>
                  <a:lnTo>
                    <a:pt x="232772" y="6309"/>
                  </a:lnTo>
                  <a:lnTo>
                    <a:pt x="183888" y="0"/>
                  </a:lnTo>
                  <a:close/>
                </a:path>
                <a:path w="368300" h="353695">
                  <a:moveTo>
                    <a:pt x="300576" y="41836"/>
                  </a:moveTo>
                  <a:lnTo>
                    <a:pt x="183887" y="41836"/>
                  </a:lnTo>
                  <a:lnTo>
                    <a:pt x="228786" y="48708"/>
                  </a:lnTo>
                  <a:lnTo>
                    <a:pt x="267781" y="67845"/>
                  </a:lnTo>
                  <a:lnTo>
                    <a:pt x="298531" y="97027"/>
                  </a:lnTo>
                  <a:lnTo>
                    <a:pt x="318697" y="134032"/>
                  </a:lnTo>
                  <a:lnTo>
                    <a:pt x="325939" y="176640"/>
                  </a:lnTo>
                  <a:lnTo>
                    <a:pt x="318697" y="219248"/>
                  </a:lnTo>
                  <a:lnTo>
                    <a:pt x="298531" y="256253"/>
                  </a:lnTo>
                  <a:lnTo>
                    <a:pt x="267781" y="285434"/>
                  </a:lnTo>
                  <a:lnTo>
                    <a:pt x="228786" y="304571"/>
                  </a:lnTo>
                  <a:lnTo>
                    <a:pt x="183887" y="311443"/>
                  </a:lnTo>
                  <a:lnTo>
                    <a:pt x="300576" y="311443"/>
                  </a:lnTo>
                  <a:lnTo>
                    <a:pt x="313916" y="301543"/>
                  </a:lnTo>
                  <a:lnTo>
                    <a:pt x="342670" y="265793"/>
                  </a:lnTo>
                  <a:lnTo>
                    <a:pt x="361208" y="223598"/>
                  </a:lnTo>
                  <a:lnTo>
                    <a:pt x="367776" y="176640"/>
                  </a:lnTo>
                  <a:lnTo>
                    <a:pt x="361208" y="129682"/>
                  </a:lnTo>
                  <a:lnTo>
                    <a:pt x="342670" y="87486"/>
                  </a:lnTo>
                  <a:lnTo>
                    <a:pt x="313916" y="51736"/>
                  </a:lnTo>
                  <a:lnTo>
                    <a:pt x="300576" y="41836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39508" y="3740759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0" y="176639"/>
                  </a:moveTo>
                  <a:lnTo>
                    <a:pt x="6568" y="129682"/>
                  </a:lnTo>
                  <a:lnTo>
                    <a:pt x="25106" y="87486"/>
                  </a:lnTo>
                  <a:lnTo>
                    <a:pt x="53859" y="51736"/>
                  </a:lnTo>
                  <a:lnTo>
                    <a:pt x="91076" y="24116"/>
                  </a:lnTo>
                  <a:lnTo>
                    <a:pt x="135003" y="6309"/>
                  </a:lnTo>
                  <a:lnTo>
                    <a:pt x="183887" y="0"/>
                  </a:lnTo>
                  <a:lnTo>
                    <a:pt x="232772" y="6309"/>
                  </a:lnTo>
                  <a:lnTo>
                    <a:pt x="276699" y="24116"/>
                  </a:lnTo>
                  <a:lnTo>
                    <a:pt x="313916" y="51736"/>
                  </a:lnTo>
                  <a:lnTo>
                    <a:pt x="342669" y="87486"/>
                  </a:lnTo>
                  <a:lnTo>
                    <a:pt x="361207" y="129682"/>
                  </a:lnTo>
                  <a:lnTo>
                    <a:pt x="367775" y="176639"/>
                  </a:lnTo>
                  <a:lnTo>
                    <a:pt x="361207" y="223597"/>
                  </a:lnTo>
                  <a:lnTo>
                    <a:pt x="342669" y="265793"/>
                  </a:lnTo>
                  <a:lnTo>
                    <a:pt x="313916" y="301543"/>
                  </a:lnTo>
                  <a:lnTo>
                    <a:pt x="276699" y="329163"/>
                  </a:lnTo>
                  <a:lnTo>
                    <a:pt x="232772" y="346970"/>
                  </a:lnTo>
                  <a:lnTo>
                    <a:pt x="183887" y="353279"/>
                  </a:lnTo>
                  <a:lnTo>
                    <a:pt x="135003" y="346970"/>
                  </a:lnTo>
                  <a:lnTo>
                    <a:pt x="91076" y="329163"/>
                  </a:lnTo>
                  <a:lnTo>
                    <a:pt x="53859" y="301543"/>
                  </a:lnTo>
                  <a:lnTo>
                    <a:pt x="25106" y="265793"/>
                  </a:lnTo>
                  <a:lnTo>
                    <a:pt x="6568" y="223597"/>
                  </a:lnTo>
                  <a:lnTo>
                    <a:pt x="0" y="176639"/>
                  </a:lnTo>
                  <a:close/>
                </a:path>
                <a:path w="368300" h="353695">
                  <a:moveTo>
                    <a:pt x="41835" y="176639"/>
                  </a:moveTo>
                  <a:lnTo>
                    <a:pt x="49076" y="219248"/>
                  </a:lnTo>
                  <a:lnTo>
                    <a:pt x="69242" y="256253"/>
                  </a:lnTo>
                  <a:lnTo>
                    <a:pt x="99992" y="285434"/>
                  </a:lnTo>
                  <a:lnTo>
                    <a:pt x="138987" y="304571"/>
                  </a:lnTo>
                  <a:lnTo>
                    <a:pt x="183886" y="311443"/>
                  </a:lnTo>
                  <a:lnTo>
                    <a:pt x="228786" y="304571"/>
                  </a:lnTo>
                  <a:lnTo>
                    <a:pt x="267781" y="285434"/>
                  </a:lnTo>
                  <a:lnTo>
                    <a:pt x="298531" y="256253"/>
                  </a:lnTo>
                  <a:lnTo>
                    <a:pt x="318697" y="219248"/>
                  </a:lnTo>
                  <a:lnTo>
                    <a:pt x="325938" y="176639"/>
                  </a:lnTo>
                  <a:lnTo>
                    <a:pt x="318697" y="134031"/>
                  </a:lnTo>
                  <a:lnTo>
                    <a:pt x="298531" y="97026"/>
                  </a:lnTo>
                  <a:lnTo>
                    <a:pt x="267781" y="67845"/>
                  </a:lnTo>
                  <a:lnTo>
                    <a:pt x="228786" y="48708"/>
                  </a:lnTo>
                  <a:lnTo>
                    <a:pt x="183886" y="41835"/>
                  </a:lnTo>
                  <a:lnTo>
                    <a:pt x="138987" y="48708"/>
                  </a:lnTo>
                  <a:lnTo>
                    <a:pt x="99992" y="67845"/>
                  </a:lnTo>
                  <a:lnTo>
                    <a:pt x="69242" y="97026"/>
                  </a:lnTo>
                  <a:lnTo>
                    <a:pt x="49076" y="134031"/>
                  </a:lnTo>
                  <a:lnTo>
                    <a:pt x="41835" y="176639"/>
                  </a:lnTo>
                  <a:close/>
                </a:path>
              </a:pathLst>
            </a:custGeom>
            <a:ln w="25399">
              <a:solidFill>
                <a:srgbClr val="428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860174" y="4295391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183887" y="0"/>
                  </a:moveTo>
                  <a:lnTo>
                    <a:pt x="135002" y="6309"/>
                  </a:lnTo>
                  <a:lnTo>
                    <a:pt x="91075" y="24116"/>
                  </a:lnTo>
                  <a:lnTo>
                    <a:pt x="53859" y="51736"/>
                  </a:lnTo>
                  <a:lnTo>
                    <a:pt x="25105" y="87486"/>
                  </a:lnTo>
                  <a:lnTo>
                    <a:pt x="6568" y="129682"/>
                  </a:lnTo>
                  <a:lnTo>
                    <a:pt x="0" y="176640"/>
                  </a:lnTo>
                  <a:lnTo>
                    <a:pt x="6568" y="223598"/>
                  </a:lnTo>
                  <a:lnTo>
                    <a:pt x="25105" y="265793"/>
                  </a:lnTo>
                  <a:lnTo>
                    <a:pt x="53859" y="301543"/>
                  </a:lnTo>
                  <a:lnTo>
                    <a:pt x="91075" y="329163"/>
                  </a:lnTo>
                  <a:lnTo>
                    <a:pt x="135002" y="346969"/>
                  </a:lnTo>
                  <a:lnTo>
                    <a:pt x="183887" y="353279"/>
                  </a:lnTo>
                  <a:lnTo>
                    <a:pt x="232772" y="346969"/>
                  </a:lnTo>
                  <a:lnTo>
                    <a:pt x="276699" y="329163"/>
                  </a:lnTo>
                  <a:lnTo>
                    <a:pt x="300574" y="311444"/>
                  </a:lnTo>
                  <a:lnTo>
                    <a:pt x="183887" y="311444"/>
                  </a:lnTo>
                  <a:lnTo>
                    <a:pt x="138987" y="304572"/>
                  </a:lnTo>
                  <a:lnTo>
                    <a:pt x="99993" y="285435"/>
                  </a:lnTo>
                  <a:lnTo>
                    <a:pt x="69242" y="256253"/>
                  </a:lnTo>
                  <a:lnTo>
                    <a:pt x="49076" y="219248"/>
                  </a:lnTo>
                  <a:lnTo>
                    <a:pt x="41835" y="176640"/>
                  </a:lnTo>
                  <a:lnTo>
                    <a:pt x="49076" y="134032"/>
                  </a:lnTo>
                  <a:lnTo>
                    <a:pt x="69242" y="97027"/>
                  </a:lnTo>
                  <a:lnTo>
                    <a:pt x="99993" y="67845"/>
                  </a:lnTo>
                  <a:lnTo>
                    <a:pt x="138987" y="48708"/>
                  </a:lnTo>
                  <a:lnTo>
                    <a:pt x="183887" y="41836"/>
                  </a:lnTo>
                  <a:lnTo>
                    <a:pt x="300575" y="41836"/>
                  </a:lnTo>
                  <a:lnTo>
                    <a:pt x="276699" y="24116"/>
                  </a:lnTo>
                  <a:lnTo>
                    <a:pt x="232772" y="6309"/>
                  </a:lnTo>
                  <a:lnTo>
                    <a:pt x="183887" y="0"/>
                  </a:lnTo>
                  <a:close/>
                </a:path>
                <a:path w="368300" h="353695">
                  <a:moveTo>
                    <a:pt x="300575" y="41836"/>
                  </a:moveTo>
                  <a:lnTo>
                    <a:pt x="183887" y="41836"/>
                  </a:lnTo>
                  <a:lnTo>
                    <a:pt x="228786" y="48708"/>
                  </a:lnTo>
                  <a:lnTo>
                    <a:pt x="267781" y="67845"/>
                  </a:lnTo>
                  <a:lnTo>
                    <a:pt x="298531" y="97027"/>
                  </a:lnTo>
                  <a:lnTo>
                    <a:pt x="318697" y="134032"/>
                  </a:lnTo>
                  <a:lnTo>
                    <a:pt x="325939" y="176640"/>
                  </a:lnTo>
                  <a:lnTo>
                    <a:pt x="318697" y="219248"/>
                  </a:lnTo>
                  <a:lnTo>
                    <a:pt x="298531" y="256253"/>
                  </a:lnTo>
                  <a:lnTo>
                    <a:pt x="267781" y="285435"/>
                  </a:lnTo>
                  <a:lnTo>
                    <a:pt x="228786" y="304572"/>
                  </a:lnTo>
                  <a:lnTo>
                    <a:pt x="183887" y="311444"/>
                  </a:lnTo>
                  <a:lnTo>
                    <a:pt x="300574" y="311444"/>
                  </a:lnTo>
                  <a:lnTo>
                    <a:pt x="313916" y="301543"/>
                  </a:lnTo>
                  <a:lnTo>
                    <a:pt x="342669" y="265793"/>
                  </a:lnTo>
                  <a:lnTo>
                    <a:pt x="361206" y="223598"/>
                  </a:lnTo>
                  <a:lnTo>
                    <a:pt x="367775" y="176640"/>
                  </a:lnTo>
                  <a:lnTo>
                    <a:pt x="361206" y="129682"/>
                  </a:lnTo>
                  <a:lnTo>
                    <a:pt x="342669" y="87486"/>
                  </a:lnTo>
                  <a:lnTo>
                    <a:pt x="313916" y="51736"/>
                  </a:lnTo>
                  <a:lnTo>
                    <a:pt x="300575" y="41836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860174" y="4295391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0" y="176640"/>
                  </a:moveTo>
                  <a:lnTo>
                    <a:pt x="6568" y="129682"/>
                  </a:lnTo>
                  <a:lnTo>
                    <a:pt x="25106" y="87486"/>
                  </a:lnTo>
                  <a:lnTo>
                    <a:pt x="53859" y="51736"/>
                  </a:lnTo>
                  <a:lnTo>
                    <a:pt x="91076" y="24116"/>
                  </a:lnTo>
                  <a:lnTo>
                    <a:pt x="135003" y="6309"/>
                  </a:lnTo>
                  <a:lnTo>
                    <a:pt x="183888" y="0"/>
                  </a:lnTo>
                  <a:lnTo>
                    <a:pt x="232772" y="6309"/>
                  </a:lnTo>
                  <a:lnTo>
                    <a:pt x="276699" y="24116"/>
                  </a:lnTo>
                  <a:lnTo>
                    <a:pt x="313916" y="51736"/>
                  </a:lnTo>
                  <a:lnTo>
                    <a:pt x="342669" y="87486"/>
                  </a:lnTo>
                  <a:lnTo>
                    <a:pt x="361207" y="129682"/>
                  </a:lnTo>
                  <a:lnTo>
                    <a:pt x="367775" y="176640"/>
                  </a:lnTo>
                  <a:lnTo>
                    <a:pt x="361207" y="223597"/>
                  </a:lnTo>
                  <a:lnTo>
                    <a:pt x="342669" y="265793"/>
                  </a:lnTo>
                  <a:lnTo>
                    <a:pt x="313916" y="301543"/>
                  </a:lnTo>
                  <a:lnTo>
                    <a:pt x="276699" y="329163"/>
                  </a:lnTo>
                  <a:lnTo>
                    <a:pt x="232772" y="346970"/>
                  </a:lnTo>
                  <a:lnTo>
                    <a:pt x="183888" y="353279"/>
                  </a:lnTo>
                  <a:lnTo>
                    <a:pt x="135003" y="346970"/>
                  </a:lnTo>
                  <a:lnTo>
                    <a:pt x="91076" y="329163"/>
                  </a:lnTo>
                  <a:lnTo>
                    <a:pt x="53859" y="301543"/>
                  </a:lnTo>
                  <a:lnTo>
                    <a:pt x="25106" y="265793"/>
                  </a:lnTo>
                  <a:lnTo>
                    <a:pt x="6568" y="223597"/>
                  </a:lnTo>
                  <a:lnTo>
                    <a:pt x="0" y="176640"/>
                  </a:lnTo>
                  <a:close/>
                </a:path>
                <a:path w="368300" h="353695">
                  <a:moveTo>
                    <a:pt x="41835" y="176640"/>
                  </a:moveTo>
                  <a:lnTo>
                    <a:pt x="49076" y="219248"/>
                  </a:lnTo>
                  <a:lnTo>
                    <a:pt x="69242" y="256253"/>
                  </a:lnTo>
                  <a:lnTo>
                    <a:pt x="99992" y="285434"/>
                  </a:lnTo>
                  <a:lnTo>
                    <a:pt x="138987" y="304571"/>
                  </a:lnTo>
                  <a:lnTo>
                    <a:pt x="183887" y="311443"/>
                  </a:lnTo>
                  <a:lnTo>
                    <a:pt x="228786" y="304571"/>
                  </a:lnTo>
                  <a:lnTo>
                    <a:pt x="267781" y="285434"/>
                  </a:lnTo>
                  <a:lnTo>
                    <a:pt x="298531" y="256253"/>
                  </a:lnTo>
                  <a:lnTo>
                    <a:pt x="318697" y="219248"/>
                  </a:lnTo>
                  <a:lnTo>
                    <a:pt x="325938" y="176640"/>
                  </a:lnTo>
                  <a:lnTo>
                    <a:pt x="318697" y="134031"/>
                  </a:lnTo>
                  <a:lnTo>
                    <a:pt x="298531" y="97026"/>
                  </a:lnTo>
                  <a:lnTo>
                    <a:pt x="267781" y="67845"/>
                  </a:lnTo>
                  <a:lnTo>
                    <a:pt x="228786" y="48708"/>
                  </a:lnTo>
                  <a:lnTo>
                    <a:pt x="183887" y="41836"/>
                  </a:lnTo>
                  <a:lnTo>
                    <a:pt x="138987" y="48708"/>
                  </a:lnTo>
                  <a:lnTo>
                    <a:pt x="99992" y="67845"/>
                  </a:lnTo>
                  <a:lnTo>
                    <a:pt x="69242" y="97026"/>
                  </a:lnTo>
                  <a:lnTo>
                    <a:pt x="49076" y="134031"/>
                  </a:lnTo>
                  <a:lnTo>
                    <a:pt x="41835" y="176640"/>
                  </a:lnTo>
                  <a:close/>
                </a:path>
              </a:pathLst>
            </a:custGeom>
            <a:ln w="25399">
              <a:solidFill>
                <a:srgbClr val="428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018743" y="4291650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183887" y="0"/>
                  </a:moveTo>
                  <a:lnTo>
                    <a:pt x="135002" y="6309"/>
                  </a:lnTo>
                  <a:lnTo>
                    <a:pt x="91075" y="24116"/>
                  </a:lnTo>
                  <a:lnTo>
                    <a:pt x="53859" y="51736"/>
                  </a:lnTo>
                  <a:lnTo>
                    <a:pt x="25105" y="87486"/>
                  </a:lnTo>
                  <a:lnTo>
                    <a:pt x="6568" y="129682"/>
                  </a:lnTo>
                  <a:lnTo>
                    <a:pt x="0" y="176640"/>
                  </a:lnTo>
                  <a:lnTo>
                    <a:pt x="6568" y="223598"/>
                  </a:lnTo>
                  <a:lnTo>
                    <a:pt x="25105" y="265793"/>
                  </a:lnTo>
                  <a:lnTo>
                    <a:pt x="53859" y="301543"/>
                  </a:lnTo>
                  <a:lnTo>
                    <a:pt x="91075" y="329164"/>
                  </a:lnTo>
                  <a:lnTo>
                    <a:pt x="135002" y="346971"/>
                  </a:lnTo>
                  <a:lnTo>
                    <a:pt x="183887" y="353280"/>
                  </a:lnTo>
                  <a:lnTo>
                    <a:pt x="232772" y="346971"/>
                  </a:lnTo>
                  <a:lnTo>
                    <a:pt x="276699" y="329164"/>
                  </a:lnTo>
                  <a:lnTo>
                    <a:pt x="300575" y="311444"/>
                  </a:lnTo>
                  <a:lnTo>
                    <a:pt x="183885" y="311444"/>
                  </a:lnTo>
                  <a:lnTo>
                    <a:pt x="138986" y="304572"/>
                  </a:lnTo>
                  <a:lnTo>
                    <a:pt x="99992" y="285435"/>
                  </a:lnTo>
                  <a:lnTo>
                    <a:pt x="69242" y="256253"/>
                  </a:lnTo>
                  <a:lnTo>
                    <a:pt x="49076" y="219248"/>
                  </a:lnTo>
                  <a:lnTo>
                    <a:pt x="41835" y="176640"/>
                  </a:lnTo>
                  <a:lnTo>
                    <a:pt x="49076" y="134032"/>
                  </a:lnTo>
                  <a:lnTo>
                    <a:pt x="69242" y="97027"/>
                  </a:lnTo>
                  <a:lnTo>
                    <a:pt x="99992" y="67845"/>
                  </a:lnTo>
                  <a:lnTo>
                    <a:pt x="138986" y="48708"/>
                  </a:lnTo>
                  <a:lnTo>
                    <a:pt x="183885" y="41836"/>
                  </a:lnTo>
                  <a:lnTo>
                    <a:pt x="300575" y="41836"/>
                  </a:lnTo>
                  <a:lnTo>
                    <a:pt x="276699" y="24116"/>
                  </a:lnTo>
                  <a:lnTo>
                    <a:pt x="232772" y="6309"/>
                  </a:lnTo>
                  <a:lnTo>
                    <a:pt x="183887" y="0"/>
                  </a:lnTo>
                  <a:close/>
                </a:path>
                <a:path w="368300" h="353695">
                  <a:moveTo>
                    <a:pt x="300575" y="41836"/>
                  </a:moveTo>
                  <a:lnTo>
                    <a:pt x="183885" y="41836"/>
                  </a:lnTo>
                  <a:lnTo>
                    <a:pt x="228785" y="48708"/>
                  </a:lnTo>
                  <a:lnTo>
                    <a:pt x="267780" y="67845"/>
                  </a:lnTo>
                  <a:lnTo>
                    <a:pt x="298531" y="97027"/>
                  </a:lnTo>
                  <a:lnTo>
                    <a:pt x="318697" y="134032"/>
                  </a:lnTo>
                  <a:lnTo>
                    <a:pt x="325939" y="176640"/>
                  </a:lnTo>
                  <a:lnTo>
                    <a:pt x="318697" y="219248"/>
                  </a:lnTo>
                  <a:lnTo>
                    <a:pt x="298531" y="256253"/>
                  </a:lnTo>
                  <a:lnTo>
                    <a:pt x="267780" y="285435"/>
                  </a:lnTo>
                  <a:lnTo>
                    <a:pt x="228785" y="304572"/>
                  </a:lnTo>
                  <a:lnTo>
                    <a:pt x="183885" y="311444"/>
                  </a:lnTo>
                  <a:lnTo>
                    <a:pt x="300575" y="311444"/>
                  </a:lnTo>
                  <a:lnTo>
                    <a:pt x="313916" y="301543"/>
                  </a:lnTo>
                  <a:lnTo>
                    <a:pt x="342669" y="265793"/>
                  </a:lnTo>
                  <a:lnTo>
                    <a:pt x="361206" y="223598"/>
                  </a:lnTo>
                  <a:lnTo>
                    <a:pt x="367775" y="176640"/>
                  </a:lnTo>
                  <a:lnTo>
                    <a:pt x="361206" y="129682"/>
                  </a:lnTo>
                  <a:lnTo>
                    <a:pt x="342669" y="87486"/>
                  </a:lnTo>
                  <a:lnTo>
                    <a:pt x="313916" y="51736"/>
                  </a:lnTo>
                  <a:lnTo>
                    <a:pt x="300575" y="41836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018743" y="4291649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0" y="176640"/>
                  </a:moveTo>
                  <a:lnTo>
                    <a:pt x="6568" y="129682"/>
                  </a:lnTo>
                  <a:lnTo>
                    <a:pt x="25106" y="87486"/>
                  </a:lnTo>
                  <a:lnTo>
                    <a:pt x="53859" y="51736"/>
                  </a:lnTo>
                  <a:lnTo>
                    <a:pt x="91076" y="24116"/>
                  </a:lnTo>
                  <a:lnTo>
                    <a:pt x="135003" y="6309"/>
                  </a:lnTo>
                  <a:lnTo>
                    <a:pt x="183888" y="0"/>
                  </a:lnTo>
                  <a:lnTo>
                    <a:pt x="232772" y="6309"/>
                  </a:lnTo>
                  <a:lnTo>
                    <a:pt x="276699" y="24116"/>
                  </a:lnTo>
                  <a:lnTo>
                    <a:pt x="313916" y="51736"/>
                  </a:lnTo>
                  <a:lnTo>
                    <a:pt x="342669" y="87486"/>
                  </a:lnTo>
                  <a:lnTo>
                    <a:pt x="361207" y="129682"/>
                  </a:lnTo>
                  <a:lnTo>
                    <a:pt x="367775" y="176640"/>
                  </a:lnTo>
                  <a:lnTo>
                    <a:pt x="361207" y="223597"/>
                  </a:lnTo>
                  <a:lnTo>
                    <a:pt x="342669" y="265793"/>
                  </a:lnTo>
                  <a:lnTo>
                    <a:pt x="313916" y="301543"/>
                  </a:lnTo>
                  <a:lnTo>
                    <a:pt x="276699" y="329163"/>
                  </a:lnTo>
                  <a:lnTo>
                    <a:pt x="232772" y="346970"/>
                  </a:lnTo>
                  <a:lnTo>
                    <a:pt x="183888" y="353279"/>
                  </a:lnTo>
                  <a:lnTo>
                    <a:pt x="135003" y="346970"/>
                  </a:lnTo>
                  <a:lnTo>
                    <a:pt x="91076" y="329163"/>
                  </a:lnTo>
                  <a:lnTo>
                    <a:pt x="53859" y="301543"/>
                  </a:lnTo>
                  <a:lnTo>
                    <a:pt x="25106" y="265793"/>
                  </a:lnTo>
                  <a:lnTo>
                    <a:pt x="6568" y="223597"/>
                  </a:lnTo>
                  <a:lnTo>
                    <a:pt x="0" y="176640"/>
                  </a:lnTo>
                  <a:close/>
                </a:path>
                <a:path w="368300" h="353695">
                  <a:moveTo>
                    <a:pt x="41835" y="176640"/>
                  </a:moveTo>
                  <a:lnTo>
                    <a:pt x="49076" y="219248"/>
                  </a:lnTo>
                  <a:lnTo>
                    <a:pt x="69242" y="256253"/>
                  </a:lnTo>
                  <a:lnTo>
                    <a:pt x="99992" y="285434"/>
                  </a:lnTo>
                  <a:lnTo>
                    <a:pt x="138987" y="304571"/>
                  </a:lnTo>
                  <a:lnTo>
                    <a:pt x="183886" y="311443"/>
                  </a:lnTo>
                  <a:lnTo>
                    <a:pt x="228786" y="304571"/>
                  </a:lnTo>
                  <a:lnTo>
                    <a:pt x="267781" y="285434"/>
                  </a:lnTo>
                  <a:lnTo>
                    <a:pt x="298531" y="256253"/>
                  </a:lnTo>
                  <a:lnTo>
                    <a:pt x="318697" y="219248"/>
                  </a:lnTo>
                  <a:lnTo>
                    <a:pt x="325938" y="176640"/>
                  </a:lnTo>
                  <a:lnTo>
                    <a:pt x="318697" y="134031"/>
                  </a:lnTo>
                  <a:lnTo>
                    <a:pt x="298531" y="97026"/>
                  </a:lnTo>
                  <a:lnTo>
                    <a:pt x="267781" y="67845"/>
                  </a:lnTo>
                  <a:lnTo>
                    <a:pt x="228786" y="48708"/>
                  </a:lnTo>
                  <a:lnTo>
                    <a:pt x="183886" y="41836"/>
                  </a:lnTo>
                  <a:lnTo>
                    <a:pt x="138987" y="48708"/>
                  </a:lnTo>
                  <a:lnTo>
                    <a:pt x="99992" y="67845"/>
                  </a:lnTo>
                  <a:lnTo>
                    <a:pt x="69242" y="97026"/>
                  </a:lnTo>
                  <a:lnTo>
                    <a:pt x="49076" y="134031"/>
                  </a:lnTo>
                  <a:lnTo>
                    <a:pt x="41835" y="176640"/>
                  </a:lnTo>
                  <a:close/>
                </a:path>
              </a:pathLst>
            </a:custGeom>
            <a:ln w="25399">
              <a:solidFill>
                <a:srgbClr val="428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439507" y="4846283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183888" y="0"/>
                  </a:moveTo>
                  <a:lnTo>
                    <a:pt x="135003" y="6309"/>
                  </a:lnTo>
                  <a:lnTo>
                    <a:pt x="91076" y="24116"/>
                  </a:lnTo>
                  <a:lnTo>
                    <a:pt x="53859" y="51736"/>
                  </a:lnTo>
                  <a:lnTo>
                    <a:pt x="25106" y="87486"/>
                  </a:lnTo>
                  <a:lnTo>
                    <a:pt x="6568" y="129681"/>
                  </a:lnTo>
                  <a:lnTo>
                    <a:pt x="0" y="176639"/>
                  </a:lnTo>
                  <a:lnTo>
                    <a:pt x="6568" y="223597"/>
                  </a:lnTo>
                  <a:lnTo>
                    <a:pt x="25106" y="265793"/>
                  </a:lnTo>
                  <a:lnTo>
                    <a:pt x="53859" y="301543"/>
                  </a:lnTo>
                  <a:lnTo>
                    <a:pt x="91076" y="329163"/>
                  </a:lnTo>
                  <a:lnTo>
                    <a:pt x="135003" y="346969"/>
                  </a:lnTo>
                  <a:lnTo>
                    <a:pt x="183888" y="353279"/>
                  </a:lnTo>
                  <a:lnTo>
                    <a:pt x="232772" y="346969"/>
                  </a:lnTo>
                  <a:lnTo>
                    <a:pt x="276700" y="329163"/>
                  </a:lnTo>
                  <a:lnTo>
                    <a:pt x="300576" y="311443"/>
                  </a:lnTo>
                  <a:lnTo>
                    <a:pt x="183887" y="311443"/>
                  </a:lnTo>
                  <a:lnTo>
                    <a:pt x="138987" y="304570"/>
                  </a:lnTo>
                  <a:lnTo>
                    <a:pt x="99993" y="285433"/>
                  </a:lnTo>
                  <a:lnTo>
                    <a:pt x="69242" y="256252"/>
                  </a:lnTo>
                  <a:lnTo>
                    <a:pt x="49076" y="219247"/>
                  </a:lnTo>
                  <a:lnTo>
                    <a:pt x="41835" y="176639"/>
                  </a:lnTo>
                  <a:lnTo>
                    <a:pt x="49076" y="134030"/>
                  </a:lnTo>
                  <a:lnTo>
                    <a:pt x="69242" y="97025"/>
                  </a:lnTo>
                  <a:lnTo>
                    <a:pt x="99993" y="67844"/>
                  </a:lnTo>
                  <a:lnTo>
                    <a:pt x="138987" y="48707"/>
                  </a:lnTo>
                  <a:lnTo>
                    <a:pt x="183887" y="41835"/>
                  </a:lnTo>
                  <a:lnTo>
                    <a:pt x="300575" y="41835"/>
                  </a:lnTo>
                  <a:lnTo>
                    <a:pt x="276700" y="24116"/>
                  </a:lnTo>
                  <a:lnTo>
                    <a:pt x="232772" y="6309"/>
                  </a:lnTo>
                  <a:lnTo>
                    <a:pt x="183888" y="0"/>
                  </a:lnTo>
                  <a:close/>
                </a:path>
                <a:path w="368300" h="353695">
                  <a:moveTo>
                    <a:pt x="300575" y="41835"/>
                  </a:moveTo>
                  <a:lnTo>
                    <a:pt x="183887" y="41835"/>
                  </a:lnTo>
                  <a:lnTo>
                    <a:pt x="228786" y="48707"/>
                  </a:lnTo>
                  <a:lnTo>
                    <a:pt x="267781" y="67844"/>
                  </a:lnTo>
                  <a:lnTo>
                    <a:pt x="298531" y="97025"/>
                  </a:lnTo>
                  <a:lnTo>
                    <a:pt x="318697" y="134030"/>
                  </a:lnTo>
                  <a:lnTo>
                    <a:pt x="325939" y="176639"/>
                  </a:lnTo>
                  <a:lnTo>
                    <a:pt x="318697" y="219247"/>
                  </a:lnTo>
                  <a:lnTo>
                    <a:pt x="298531" y="256252"/>
                  </a:lnTo>
                  <a:lnTo>
                    <a:pt x="267781" y="285433"/>
                  </a:lnTo>
                  <a:lnTo>
                    <a:pt x="228786" y="304570"/>
                  </a:lnTo>
                  <a:lnTo>
                    <a:pt x="183887" y="311443"/>
                  </a:lnTo>
                  <a:lnTo>
                    <a:pt x="300576" y="311443"/>
                  </a:lnTo>
                  <a:lnTo>
                    <a:pt x="313916" y="301543"/>
                  </a:lnTo>
                  <a:lnTo>
                    <a:pt x="342670" y="265793"/>
                  </a:lnTo>
                  <a:lnTo>
                    <a:pt x="361208" y="223597"/>
                  </a:lnTo>
                  <a:lnTo>
                    <a:pt x="367776" y="176639"/>
                  </a:lnTo>
                  <a:lnTo>
                    <a:pt x="361208" y="129681"/>
                  </a:lnTo>
                  <a:lnTo>
                    <a:pt x="342670" y="87486"/>
                  </a:lnTo>
                  <a:lnTo>
                    <a:pt x="313916" y="51736"/>
                  </a:lnTo>
                  <a:lnTo>
                    <a:pt x="300575" y="41835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439508" y="4846283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0" y="176639"/>
                  </a:moveTo>
                  <a:lnTo>
                    <a:pt x="6568" y="129682"/>
                  </a:lnTo>
                  <a:lnTo>
                    <a:pt x="25106" y="87486"/>
                  </a:lnTo>
                  <a:lnTo>
                    <a:pt x="53859" y="51736"/>
                  </a:lnTo>
                  <a:lnTo>
                    <a:pt x="91076" y="24116"/>
                  </a:lnTo>
                  <a:lnTo>
                    <a:pt x="135003" y="6309"/>
                  </a:lnTo>
                  <a:lnTo>
                    <a:pt x="183887" y="0"/>
                  </a:lnTo>
                  <a:lnTo>
                    <a:pt x="232772" y="6309"/>
                  </a:lnTo>
                  <a:lnTo>
                    <a:pt x="276699" y="24116"/>
                  </a:lnTo>
                  <a:lnTo>
                    <a:pt x="313916" y="51736"/>
                  </a:lnTo>
                  <a:lnTo>
                    <a:pt x="342669" y="87486"/>
                  </a:lnTo>
                  <a:lnTo>
                    <a:pt x="361207" y="129682"/>
                  </a:lnTo>
                  <a:lnTo>
                    <a:pt x="367775" y="176639"/>
                  </a:lnTo>
                  <a:lnTo>
                    <a:pt x="361207" y="223597"/>
                  </a:lnTo>
                  <a:lnTo>
                    <a:pt x="342669" y="265793"/>
                  </a:lnTo>
                  <a:lnTo>
                    <a:pt x="313916" y="301543"/>
                  </a:lnTo>
                  <a:lnTo>
                    <a:pt x="276699" y="329163"/>
                  </a:lnTo>
                  <a:lnTo>
                    <a:pt x="232772" y="346970"/>
                  </a:lnTo>
                  <a:lnTo>
                    <a:pt x="183887" y="353279"/>
                  </a:lnTo>
                  <a:lnTo>
                    <a:pt x="135003" y="346970"/>
                  </a:lnTo>
                  <a:lnTo>
                    <a:pt x="91076" y="329163"/>
                  </a:lnTo>
                  <a:lnTo>
                    <a:pt x="53859" y="301543"/>
                  </a:lnTo>
                  <a:lnTo>
                    <a:pt x="25106" y="265793"/>
                  </a:lnTo>
                  <a:lnTo>
                    <a:pt x="6568" y="223597"/>
                  </a:lnTo>
                  <a:lnTo>
                    <a:pt x="0" y="176639"/>
                  </a:lnTo>
                  <a:close/>
                </a:path>
                <a:path w="368300" h="353695">
                  <a:moveTo>
                    <a:pt x="41835" y="176639"/>
                  </a:moveTo>
                  <a:lnTo>
                    <a:pt x="49076" y="219248"/>
                  </a:lnTo>
                  <a:lnTo>
                    <a:pt x="69242" y="256253"/>
                  </a:lnTo>
                  <a:lnTo>
                    <a:pt x="99992" y="285434"/>
                  </a:lnTo>
                  <a:lnTo>
                    <a:pt x="138987" y="304571"/>
                  </a:lnTo>
                  <a:lnTo>
                    <a:pt x="183886" y="311443"/>
                  </a:lnTo>
                  <a:lnTo>
                    <a:pt x="228786" y="304571"/>
                  </a:lnTo>
                  <a:lnTo>
                    <a:pt x="267781" y="285434"/>
                  </a:lnTo>
                  <a:lnTo>
                    <a:pt x="298531" y="256253"/>
                  </a:lnTo>
                  <a:lnTo>
                    <a:pt x="318697" y="219248"/>
                  </a:lnTo>
                  <a:lnTo>
                    <a:pt x="325938" y="176639"/>
                  </a:lnTo>
                  <a:lnTo>
                    <a:pt x="318697" y="134031"/>
                  </a:lnTo>
                  <a:lnTo>
                    <a:pt x="298531" y="97026"/>
                  </a:lnTo>
                  <a:lnTo>
                    <a:pt x="267781" y="67845"/>
                  </a:lnTo>
                  <a:lnTo>
                    <a:pt x="228786" y="48708"/>
                  </a:lnTo>
                  <a:lnTo>
                    <a:pt x="183886" y="41836"/>
                  </a:lnTo>
                  <a:lnTo>
                    <a:pt x="138987" y="48708"/>
                  </a:lnTo>
                  <a:lnTo>
                    <a:pt x="99992" y="67845"/>
                  </a:lnTo>
                  <a:lnTo>
                    <a:pt x="69242" y="97026"/>
                  </a:lnTo>
                  <a:lnTo>
                    <a:pt x="49076" y="134031"/>
                  </a:lnTo>
                  <a:lnTo>
                    <a:pt x="41835" y="176639"/>
                  </a:lnTo>
                  <a:close/>
                </a:path>
              </a:pathLst>
            </a:custGeom>
            <a:ln w="25399">
              <a:solidFill>
                <a:srgbClr val="428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791040" y="3251047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5" h="2218690">
                  <a:moveTo>
                    <a:pt x="0" y="0"/>
                  </a:moveTo>
                  <a:lnTo>
                    <a:pt x="4260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218287" y="3251049"/>
              <a:ext cx="10795" cy="2218690"/>
            </a:xfrm>
            <a:custGeom>
              <a:avLst/>
              <a:gdLst/>
              <a:ahLst/>
              <a:cxnLst/>
              <a:rect l="l" t="t" r="r" b="b"/>
              <a:pathLst>
                <a:path w="10795" h="2218690">
                  <a:moveTo>
                    <a:pt x="0" y="0"/>
                  </a:moveTo>
                  <a:lnTo>
                    <a:pt x="10361" y="22185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640894" y="3251047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5" h="2218690">
                  <a:moveTo>
                    <a:pt x="0" y="0"/>
                  </a:moveTo>
                  <a:lnTo>
                    <a:pt x="4260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065820" y="3249575"/>
              <a:ext cx="4445" cy="2218690"/>
            </a:xfrm>
            <a:custGeom>
              <a:avLst/>
              <a:gdLst/>
              <a:ahLst/>
              <a:cxnLst/>
              <a:rect l="l" t="t" r="r" b="b"/>
              <a:pathLst>
                <a:path w="4445" h="2218690">
                  <a:moveTo>
                    <a:pt x="0" y="0"/>
                  </a:moveTo>
                  <a:lnTo>
                    <a:pt x="4259" y="221852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603678" y="3358630"/>
              <a:ext cx="2077085" cy="1905"/>
            </a:xfrm>
            <a:custGeom>
              <a:avLst/>
              <a:gdLst/>
              <a:ahLst/>
              <a:cxnLst/>
              <a:rect l="l" t="t" r="r" b="b"/>
              <a:pathLst>
                <a:path w="2077084" h="1904">
                  <a:moveTo>
                    <a:pt x="0" y="0"/>
                  </a:moveTo>
                  <a:lnTo>
                    <a:pt x="2076753" y="18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605617" y="5022526"/>
              <a:ext cx="2075180" cy="1905"/>
            </a:xfrm>
            <a:custGeom>
              <a:avLst/>
              <a:gdLst/>
              <a:ahLst/>
              <a:cxnLst/>
              <a:rect l="l" t="t" r="r" b="b"/>
              <a:pathLst>
                <a:path w="2075179" h="1904">
                  <a:moveTo>
                    <a:pt x="0" y="0"/>
                  </a:moveTo>
                  <a:lnTo>
                    <a:pt x="2074812" y="18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603678" y="4467894"/>
              <a:ext cx="2074545" cy="1905"/>
            </a:xfrm>
            <a:custGeom>
              <a:avLst/>
              <a:gdLst/>
              <a:ahLst/>
              <a:cxnLst/>
              <a:rect l="l" t="t" r="r" b="b"/>
              <a:pathLst>
                <a:path w="2074545" h="1904">
                  <a:moveTo>
                    <a:pt x="0" y="0"/>
                  </a:moveTo>
                  <a:lnTo>
                    <a:pt x="2074433" y="18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603678" y="3913262"/>
              <a:ext cx="2077085" cy="1905"/>
            </a:xfrm>
            <a:custGeom>
              <a:avLst/>
              <a:gdLst/>
              <a:ahLst/>
              <a:cxnLst/>
              <a:rect l="l" t="t" r="r" b="b"/>
              <a:pathLst>
                <a:path w="2077084" h="1904">
                  <a:moveTo>
                    <a:pt x="0" y="0"/>
                  </a:moveTo>
                  <a:lnTo>
                    <a:pt x="2076753" y="18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90747" y="3468082"/>
              <a:ext cx="4445" cy="2000250"/>
            </a:xfrm>
            <a:custGeom>
              <a:avLst/>
              <a:gdLst/>
              <a:ahLst/>
              <a:cxnLst/>
              <a:rect l="l" t="t" r="r" b="b"/>
              <a:pathLst>
                <a:path w="4445" h="2000250">
                  <a:moveTo>
                    <a:pt x="0" y="0"/>
                  </a:moveTo>
                  <a:lnTo>
                    <a:pt x="4259" y="19996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5114" y="3236477"/>
              <a:ext cx="251261" cy="24430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5114" y="3791108"/>
              <a:ext cx="251261" cy="244305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5114" y="4345740"/>
              <a:ext cx="251261" cy="244305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7054" y="4900371"/>
              <a:ext cx="251261" cy="24430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0188" y="3236875"/>
              <a:ext cx="251261" cy="24430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0188" y="3791507"/>
              <a:ext cx="251261" cy="24430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0188" y="4346139"/>
              <a:ext cx="251261" cy="24430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2128" y="4900771"/>
              <a:ext cx="251261" cy="24430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260" y="3238347"/>
              <a:ext cx="251262" cy="24430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5260" y="3792979"/>
              <a:ext cx="251262" cy="24430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260" y="4347611"/>
              <a:ext cx="251262" cy="24430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7200" y="4902243"/>
              <a:ext cx="251262" cy="24430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7103035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6" y="186847"/>
                  </a:lnTo>
                  <a:lnTo>
                    <a:pt x="216988" y="152057"/>
                  </a:lnTo>
                  <a:lnTo>
                    <a:pt x="225863" y="109453"/>
                  </a:lnTo>
                  <a:lnTo>
                    <a:pt x="216988" y="66849"/>
                  </a:lnTo>
                  <a:lnTo>
                    <a:pt x="192786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103035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103035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6" y="186847"/>
                  </a:lnTo>
                  <a:lnTo>
                    <a:pt x="216988" y="152057"/>
                  </a:lnTo>
                  <a:lnTo>
                    <a:pt x="225863" y="109453"/>
                  </a:lnTo>
                  <a:lnTo>
                    <a:pt x="216988" y="66849"/>
                  </a:lnTo>
                  <a:lnTo>
                    <a:pt x="192786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103035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103035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6" y="186848"/>
                  </a:lnTo>
                  <a:lnTo>
                    <a:pt x="216988" y="152057"/>
                  </a:lnTo>
                  <a:lnTo>
                    <a:pt x="225863" y="109453"/>
                  </a:lnTo>
                  <a:lnTo>
                    <a:pt x="216988" y="66849"/>
                  </a:lnTo>
                  <a:lnTo>
                    <a:pt x="192786" y="32058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103035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104974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2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2" y="218906"/>
                  </a:lnTo>
                  <a:lnTo>
                    <a:pt x="156889" y="210304"/>
                  </a:lnTo>
                  <a:lnTo>
                    <a:pt x="192786" y="186847"/>
                  </a:lnTo>
                  <a:lnTo>
                    <a:pt x="216988" y="152056"/>
                  </a:lnTo>
                  <a:lnTo>
                    <a:pt x="225863" y="109452"/>
                  </a:lnTo>
                  <a:lnTo>
                    <a:pt x="216988" y="66848"/>
                  </a:lnTo>
                  <a:lnTo>
                    <a:pt x="192786" y="32057"/>
                  </a:lnTo>
                  <a:lnTo>
                    <a:pt x="156889" y="8601"/>
                  </a:lnTo>
                  <a:lnTo>
                    <a:pt x="1129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104974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678110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678110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678110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678110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678110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678110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680048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80047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111456" y="325104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111455" y="325104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111456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111455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111456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111455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113394" y="491494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113394" y="491494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686528" y="325144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686528" y="3251446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686528" y="380607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686528" y="3806078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686528" y="4360710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686528" y="4360710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688468" y="4915340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9" y="210304"/>
                  </a:lnTo>
                  <a:lnTo>
                    <a:pt x="192786" y="186847"/>
                  </a:lnTo>
                  <a:lnTo>
                    <a:pt x="216988" y="152056"/>
                  </a:lnTo>
                  <a:lnTo>
                    <a:pt x="225863" y="109452"/>
                  </a:lnTo>
                  <a:lnTo>
                    <a:pt x="216988" y="66848"/>
                  </a:lnTo>
                  <a:lnTo>
                    <a:pt x="192786" y="32057"/>
                  </a:lnTo>
                  <a:lnTo>
                    <a:pt x="156889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688469" y="4915340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607936" y="5577158"/>
              <a:ext cx="2083435" cy="2540"/>
            </a:xfrm>
            <a:custGeom>
              <a:avLst/>
              <a:gdLst/>
              <a:ahLst/>
              <a:cxnLst/>
              <a:rect l="l" t="t" r="r" b="b"/>
              <a:pathLst>
                <a:path w="2083434" h="2539">
                  <a:moveTo>
                    <a:pt x="0" y="0"/>
                  </a:moveTo>
                  <a:lnTo>
                    <a:pt x="2082853" y="226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9374" y="5455004"/>
              <a:ext cx="251261" cy="244305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4448" y="5455403"/>
              <a:ext cx="251261" cy="244305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9521" y="5456875"/>
              <a:ext cx="251262" cy="244305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7105355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105354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105355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105354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105355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105354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105355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105354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107294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107294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680430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680430" y="3251047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680430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680430" y="3805679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7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6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6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7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680430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9"/>
                  </a:lnTo>
                  <a:lnTo>
                    <a:pt x="0" y="109453"/>
                  </a:lnTo>
                  <a:lnTo>
                    <a:pt x="8874" y="152057"/>
                  </a:lnTo>
                  <a:lnTo>
                    <a:pt x="33076" y="186848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8"/>
                  </a:lnTo>
                  <a:lnTo>
                    <a:pt x="216987" y="152057"/>
                  </a:lnTo>
                  <a:lnTo>
                    <a:pt x="225861" y="109453"/>
                  </a:lnTo>
                  <a:lnTo>
                    <a:pt x="216987" y="66849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680430" y="4360311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680430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680430" y="4914943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6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682369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7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682369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115714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2" y="0"/>
                  </a:moveTo>
                  <a:lnTo>
                    <a:pt x="68973" y="8601"/>
                  </a:lnTo>
                  <a:lnTo>
                    <a:pt x="33076" y="32057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2" y="218906"/>
                  </a:lnTo>
                  <a:lnTo>
                    <a:pt x="156889" y="210304"/>
                  </a:lnTo>
                  <a:lnTo>
                    <a:pt x="192786" y="186847"/>
                  </a:lnTo>
                  <a:lnTo>
                    <a:pt x="216988" y="152056"/>
                  </a:lnTo>
                  <a:lnTo>
                    <a:pt x="225863" y="109452"/>
                  </a:lnTo>
                  <a:lnTo>
                    <a:pt x="216988" y="66848"/>
                  </a:lnTo>
                  <a:lnTo>
                    <a:pt x="192786" y="32057"/>
                  </a:lnTo>
                  <a:lnTo>
                    <a:pt x="156889" y="8601"/>
                  </a:lnTo>
                  <a:lnTo>
                    <a:pt x="1129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115716" y="5469575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2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2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690788" y="5469972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0" y="0"/>
                  </a:moveTo>
                  <a:lnTo>
                    <a:pt x="68973" y="8601"/>
                  </a:lnTo>
                  <a:lnTo>
                    <a:pt x="33076" y="32058"/>
                  </a:lnTo>
                  <a:lnTo>
                    <a:pt x="8874" y="66848"/>
                  </a:lnTo>
                  <a:lnTo>
                    <a:pt x="0" y="109452"/>
                  </a:lnTo>
                  <a:lnTo>
                    <a:pt x="8874" y="152056"/>
                  </a:lnTo>
                  <a:lnTo>
                    <a:pt x="33076" y="186847"/>
                  </a:lnTo>
                  <a:lnTo>
                    <a:pt x="68973" y="210304"/>
                  </a:lnTo>
                  <a:lnTo>
                    <a:pt x="112930" y="218906"/>
                  </a:lnTo>
                  <a:lnTo>
                    <a:pt x="156888" y="210304"/>
                  </a:lnTo>
                  <a:lnTo>
                    <a:pt x="192785" y="186847"/>
                  </a:lnTo>
                  <a:lnTo>
                    <a:pt x="216987" y="152056"/>
                  </a:lnTo>
                  <a:lnTo>
                    <a:pt x="225861" y="109452"/>
                  </a:lnTo>
                  <a:lnTo>
                    <a:pt x="216987" y="66848"/>
                  </a:lnTo>
                  <a:lnTo>
                    <a:pt x="192785" y="32058"/>
                  </a:lnTo>
                  <a:lnTo>
                    <a:pt x="156888" y="8601"/>
                  </a:lnTo>
                  <a:lnTo>
                    <a:pt x="112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690788" y="5469972"/>
              <a:ext cx="226060" cy="219075"/>
            </a:xfrm>
            <a:custGeom>
              <a:avLst/>
              <a:gdLst/>
              <a:ahLst/>
              <a:cxnLst/>
              <a:rect l="l" t="t" r="r" b="b"/>
              <a:pathLst>
                <a:path w="226059" h="219075">
                  <a:moveTo>
                    <a:pt x="112931" y="0"/>
                  </a:moveTo>
                  <a:lnTo>
                    <a:pt x="156888" y="8601"/>
                  </a:lnTo>
                  <a:lnTo>
                    <a:pt x="192785" y="32058"/>
                  </a:lnTo>
                  <a:lnTo>
                    <a:pt x="216987" y="66848"/>
                  </a:lnTo>
                  <a:lnTo>
                    <a:pt x="225862" y="109453"/>
                  </a:lnTo>
                  <a:lnTo>
                    <a:pt x="216987" y="152057"/>
                  </a:lnTo>
                  <a:lnTo>
                    <a:pt x="192785" y="186847"/>
                  </a:lnTo>
                  <a:lnTo>
                    <a:pt x="156888" y="210304"/>
                  </a:lnTo>
                  <a:lnTo>
                    <a:pt x="112931" y="218905"/>
                  </a:lnTo>
                  <a:lnTo>
                    <a:pt x="68973" y="210304"/>
                  </a:lnTo>
                  <a:lnTo>
                    <a:pt x="33076" y="186847"/>
                  </a:lnTo>
                  <a:lnTo>
                    <a:pt x="8874" y="152057"/>
                  </a:lnTo>
                  <a:lnTo>
                    <a:pt x="0" y="109453"/>
                  </a:lnTo>
                  <a:lnTo>
                    <a:pt x="8874" y="66848"/>
                  </a:lnTo>
                  <a:lnTo>
                    <a:pt x="33076" y="32058"/>
                  </a:lnTo>
                  <a:lnTo>
                    <a:pt x="68973" y="8601"/>
                  </a:lnTo>
                  <a:lnTo>
                    <a:pt x="112931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461266" y="4294995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183888" y="0"/>
                  </a:moveTo>
                  <a:lnTo>
                    <a:pt x="135003" y="6309"/>
                  </a:lnTo>
                  <a:lnTo>
                    <a:pt x="91076" y="24116"/>
                  </a:lnTo>
                  <a:lnTo>
                    <a:pt x="53859" y="51736"/>
                  </a:lnTo>
                  <a:lnTo>
                    <a:pt x="25106" y="87486"/>
                  </a:lnTo>
                  <a:lnTo>
                    <a:pt x="6568" y="129681"/>
                  </a:lnTo>
                  <a:lnTo>
                    <a:pt x="0" y="176639"/>
                  </a:lnTo>
                  <a:lnTo>
                    <a:pt x="6568" y="223597"/>
                  </a:lnTo>
                  <a:lnTo>
                    <a:pt x="25106" y="265793"/>
                  </a:lnTo>
                  <a:lnTo>
                    <a:pt x="53859" y="301543"/>
                  </a:lnTo>
                  <a:lnTo>
                    <a:pt x="91076" y="329163"/>
                  </a:lnTo>
                  <a:lnTo>
                    <a:pt x="135003" y="346969"/>
                  </a:lnTo>
                  <a:lnTo>
                    <a:pt x="183888" y="353279"/>
                  </a:lnTo>
                  <a:lnTo>
                    <a:pt x="232772" y="346969"/>
                  </a:lnTo>
                  <a:lnTo>
                    <a:pt x="276699" y="329163"/>
                  </a:lnTo>
                  <a:lnTo>
                    <a:pt x="300576" y="311443"/>
                  </a:lnTo>
                  <a:lnTo>
                    <a:pt x="183887" y="311443"/>
                  </a:lnTo>
                  <a:lnTo>
                    <a:pt x="138987" y="304570"/>
                  </a:lnTo>
                  <a:lnTo>
                    <a:pt x="99993" y="285433"/>
                  </a:lnTo>
                  <a:lnTo>
                    <a:pt x="69242" y="256252"/>
                  </a:lnTo>
                  <a:lnTo>
                    <a:pt x="49076" y="219247"/>
                  </a:lnTo>
                  <a:lnTo>
                    <a:pt x="41835" y="176639"/>
                  </a:lnTo>
                  <a:lnTo>
                    <a:pt x="49076" y="134030"/>
                  </a:lnTo>
                  <a:lnTo>
                    <a:pt x="69242" y="97025"/>
                  </a:lnTo>
                  <a:lnTo>
                    <a:pt x="99993" y="67844"/>
                  </a:lnTo>
                  <a:lnTo>
                    <a:pt x="138987" y="48707"/>
                  </a:lnTo>
                  <a:lnTo>
                    <a:pt x="183887" y="41835"/>
                  </a:lnTo>
                  <a:lnTo>
                    <a:pt x="300574" y="41835"/>
                  </a:lnTo>
                  <a:lnTo>
                    <a:pt x="276699" y="24116"/>
                  </a:lnTo>
                  <a:lnTo>
                    <a:pt x="232772" y="6309"/>
                  </a:lnTo>
                  <a:lnTo>
                    <a:pt x="183888" y="0"/>
                  </a:lnTo>
                  <a:close/>
                </a:path>
                <a:path w="368300" h="353695">
                  <a:moveTo>
                    <a:pt x="300574" y="41835"/>
                  </a:moveTo>
                  <a:lnTo>
                    <a:pt x="183887" y="41835"/>
                  </a:lnTo>
                  <a:lnTo>
                    <a:pt x="228786" y="48707"/>
                  </a:lnTo>
                  <a:lnTo>
                    <a:pt x="267781" y="67844"/>
                  </a:lnTo>
                  <a:lnTo>
                    <a:pt x="298531" y="97025"/>
                  </a:lnTo>
                  <a:lnTo>
                    <a:pt x="318697" y="134030"/>
                  </a:lnTo>
                  <a:lnTo>
                    <a:pt x="325939" y="176639"/>
                  </a:lnTo>
                  <a:lnTo>
                    <a:pt x="318697" y="219247"/>
                  </a:lnTo>
                  <a:lnTo>
                    <a:pt x="298531" y="256252"/>
                  </a:lnTo>
                  <a:lnTo>
                    <a:pt x="267781" y="285433"/>
                  </a:lnTo>
                  <a:lnTo>
                    <a:pt x="228786" y="304570"/>
                  </a:lnTo>
                  <a:lnTo>
                    <a:pt x="183887" y="311443"/>
                  </a:lnTo>
                  <a:lnTo>
                    <a:pt x="300576" y="311443"/>
                  </a:lnTo>
                  <a:lnTo>
                    <a:pt x="313916" y="301543"/>
                  </a:lnTo>
                  <a:lnTo>
                    <a:pt x="342669" y="265793"/>
                  </a:lnTo>
                  <a:lnTo>
                    <a:pt x="361206" y="223597"/>
                  </a:lnTo>
                  <a:lnTo>
                    <a:pt x="367775" y="176639"/>
                  </a:lnTo>
                  <a:lnTo>
                    <a:pt x="361206" y="129681"/>
                  </a:lnTo>
                  <a:lnTo>
                    <a:pt x="342669" y="87486"/>
                  </a:lnTo>
                  <a:lnTo>
                    <a:pt x="313916" y="51736"/>
                  </a:lnTo>
                  <a:lnTo>
                    <a:pt x="300574" y="41835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461266" y="4294995"/>
              <a:ext cx="368300" cy="353695"/>
            </a:xfrm>
            <a:custGeom>
              <a:avLst/>
              <a:gdLst/>
              <a:ahLst/>
              <a:cxnLst/>
              <a:rect l="l" t="t" r="r" b="b"/>
              <a:pathLst>
                <a:path w="368300" h="353695">
                  <a:moveTo>
                    <a:pt x="0" y="176639"/>
                  </a:moveTo>
                  <a:lnTo>
                    <a:pt x="6568" y="129682"/>
                  </a:lnTo>
                  <a:lnTo>
                    <a:pt x="25106" y="87486"/>
                  </a:lnTo>
                  <a:lnTo>
                    <a:pt x="53859" y="51736"/>
                  </a:lnTo>
                  <a:lnTo>
                    <a:pt x="91076" y="24116"/>
                  </a:lnTo>
                  <a:lnTo>
                    <a:pt x="135003" y="6309"/>
                  </a:lnTo>
                  <a:lnTo>
                    <a:pt x="183887" y="0"/>
                  </a:lnTo>
                  <a:lnTo>
                    <a:pt x="232772" y="6309"/>
                  </a:lnTo>
                  <a:lnTo>
                    <a:pt x="276699" y="24116"/>
                  </a:lnTo>
                  <a:lnTo>
                    <a:pt x="313916" y="51736"/>
                  </a:lnTo>
                  <a:lnTo>
                    <a:pt x="342669" y="87486"/>
                  </a:lnTo>
                  <a:lnTo>
                    <a:pt x="361207" y="129682"/>
                  </a:lnTo>
                  <a:lnTo>
                    <a:pt x="367775" y="176639"/>
                  </a:lnTo>
                  <a:lnTo>
                    <a:pt x="361207" y="223597"/>
                  </a:lnTo>
                  <a:lnTo>
                    <a:pt x="342669" y="265793"/>
                  </a:lnTo>
                  <a:lnTo>
                    <a:pt x="313916" y="301543"/>
                  </a:lnTo>
                  <a:lnTo>
                    <a:pt x="276699" y="329163"/>
                  </a:lnTo>
                  <a:lnTo>
                    <a:pt x="232772" y="346970"/>
                  </a:lnTo>
                  <a:lnTo>
                    <a:pt x="183887" y="353279"/>
                  </a:lnTo>
                  <a:lnTo>
                    <a:pt x="135003" y="346970"/>
                  </a:lnTo>
                  <a:lnTo>
                    <a:pt x="91076" y="329163"/>
                  </a:lnTo>
                  <a:lnTo>
                    <a:pt x="53859" y="301543"/>
                  </a:lnTo>
                  <a:lnTo>
                    <a:pt x="25106" y="265793"/>
                  </a:lnTo>
                  <a:lnTo>
                    <a:pt x="6568" y="223597"/>
                  </a:lnTo>
                  <a:lnTo>
                    <a:pt x="0" y="176639"/>
                  </a:lnTo>
                  <a:close/>
                </a:path>
                <a:path w="368300" h="353695">
                  <a:moveTo>
                    <a:pt x="41834" y="176639"/>
                  </a:moveTo>
                  <a:lnTo>
                    <a:pt x="49076" y="219248"/>
                  </a:lnTo>
                  <a:lnTo>
                    <a:pt x="69242" y="256253"/>
                  </a:lnTo>
                  <a:lnTo>
                    <a:pt x="99992" y="285434"/>
                  </a:lnTo>
                  <a:lnTo>
                    <a:pt x="138987" y="304571"/>
                  </a:lnTo>
                  <a:lnTo>
                    <a:pt x="183887" y="311443"/>
                  </a:lnTo>
                  <a:lnTo>
                    <a:pt x="228786" y="304571"/>
                  </a:lnTo>
                  <a:lnTo>
                    <a:pt x="267780" y="285434"/>
                  </a:lnTo>
                  <a:lnTo>
                    <a:pt x="298531" y="256253"/>
                  </a:lnTo>
                  <a:lnTo>
                    <a:pt x="318697" y="219248"/>
                  </a:lnTo>
                  <a:lnTo>
                    <a:pt x="325938" y="176639"/>
                  </a:lnTo>
                  <a:lnTo>
                    <a:pt x="318697" y="134031"/>
                  </a:lnTo>
                  <a:lnTo>
                    <a:pt x="298531" y="97026"/>
                  </a:lnTo>
                  <a:lnTo>
                    <a:pt x="267780" y="67845"/>
                  </a:lnTo>
                  <a:lnTo>
                    <a:pt x="228786" y="48708"/>
                  </a:lnTo>
                  <a:lnTo>
                    <a:pt x="183887" y="41836"/>
                  </a:lnTo>
                  <a:lnTo>
                    <a:pt x="138987" y="48708"/>
                  </a:lnTo>
                  <a:lnTo>
                    <a:pt x="99992" y="67845"/>
                  </a:lnTo>
                  <a:lnTo>
                    <a:pt x="69242" y="97026"/>
                  </a:lnTo>
                  <a:lnTo>
                    <a:pt x="49076" y="134031"/>
                  </a:lnTo>
                  <a:lnTo>
                    <a:pt x="41834" y="176639"/>
                  </a:lnTo>
                  <a:close/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6116" y="3998421"/>
              <a:ext cx="2414846" cy="706581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4311400" y="4044673"/>
              <a:ext cx="2109470" cy="405130"/>
            </a:xfrm>
            <a:custGeom>
              <a:avLst/>
              <a:gdLst/>
              <a:ahLst/>
              <a:cxnLst/>
              <a:rect l="l" t="t" r="r" b="b"/>
              <a:pathLst>
                <a:path w="2109470" h="405129">
                  <a:moveTo>
                    <a:pt x="0" y="300037"/>
                  </a:moveTo>
                  <a:lnTo>
                    <a:pt x="268287" y="182562"/>
                  </a:lnTo>
                  <a:lnTo>
                    <a:pt x="401637" y="129381"/>
                  </a:lnTo>
                  <a:lnTo>
                    <a:pt x="535781" y="82549"/>
                  </a:lnTo>
                  <a:lnTo>
                    <a:pt x="669924" y="43656"/>
                  </a:lnTo>
                  <a:lnTo>
                    <a:pt x="804068" y="15874"/>
                  </a:lnTo>
                  <a:lnTo>
                    <a:pt x="937418" y="0"/>
                  </a:lnTo>
                  <a:lnTo>
                    <a:pt x="1071562" y="0"/>
                  </a:lnTo>
                  <a:lnTo>
                    <a:pt x="1142206" y="7937"/>
                  </a:lnTo>
                  <a:lnTo>
                    <a:pt x="1219993" y="23812"/>
                  </a:lnTo>
                  <a:lnTo>
                    <a:pt x="1303337" y="46831"/>
                  </a:lnTo>
                  <a:lnTo>
                    <a:pt x="1389856" y="74612"/>
                  </a:lnTo>
                  <a:lnTo>
                    <a:pt x="1567656" y="142874"/>
                  </a:lnTo>
                  <a:lnTo>
                    <a:pt x="1740693" y="219074"/>
                  </a:lnTo>
                  <a:lnTo>
                    <a:pt x="1822449" y="257968"/>
                  </a:lnTo>
                  <a:lnTo>
                    <a:pt x="1897856" y="294481"/>
                  </a:lnTo>
                  <a:lnTo>
                    <a:pt x="1966118" y="329406"/>
                  </a:lnTo>
                  <a:lnTo>
                    <a:pt x="2025649" y="359568"/>
                  </a:lnTo>
                  <a:lnTo>
                    <a:pt x="2074068" y="385762"/>
                  </a:lnTo>
                  <a:lnTo>
                    <a:pt x="2108897" y="40479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326025" y="4362777"/>
              <a:ext cx="128270" cy="105410"/>
            </a:xfrm>
            <a:custGeom>
              <a:avLst/>
              <a:gdLst/>
              <a:ahLst/>
              <a:cxnLst/>
              <a:rect l="l" t="t" r="r" b="b"/>
              <a:pathLst>
                <a:path w="128270" h="105410">
                  <a:moveTo>
                    <a:pt x="54814" y="0"/>
                  </a:moveTo>
                  <a:lnTo>
                    <a:pt x="0" y="100299"/>
                  </a:lnTo>
                  <a:lnTo>
                    <a:pt x="127706" y="104964"/>
                  </a:lnTo>
                  <a:lnTo>
                    <a:pt x="54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8301" y="4148050"/>
              <a:ext cx="1675014" cy="523701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3084457" y="4172544"/>
              <a:ext cx="1584960" cy="421005"/>
            </a:xfrm>
            <a:custGeom>
              <a:avLst/>
              <a:gdLst/>
              <a:ahLst/>
              <a:cxnLst/>
              <a:rect l="l" t="t" r="r" b="b"/>
              <a:pathLst>
                <a:path w="1584960" h="421004">
                  <a:moveTo>
                    <a:pt x="0" y="420552"/>
                  </a:moveTo>
                  <a:lnTo>
                    <a:pt x="53192" y="417449"/>
                  </a:lnTo>
                  <a:lnTo>
                    <a:pt x="106339" y="414282"/>
                  </a:lnTo>
                  <a:lnTo>
                    <a:pt x="159395" y="410987"/>
                  </a:lnTo>
                  <a:lnTo>
                    <a:pt x="212314" y="407498"/>
                  </a:lnTo>
                  <a:lnTo>
                    <a:pt x="265050" y="403753"/>
                  </a:lnTo>
                  <a:lnTo>
                    <a:pt x="317558" y="399687"/>
                  </a:lnTo>
                  <a:lnTo>
                    <a:pt x="369792" y="395236"/>
                  </a:lnTo>
                  <a:lnTo>
                    <a:pt x="421707" y="390335"/>
                  </a:lnTo>
                  <a:lnTo>
                    <a:pt x="473256" y="384921"/>
                  </a:lnTo>
                  <a:lnTo>
                    <a:pt x="524395" y="378929"/>
                  </a:lnTo>
                  <a:lnTo>
                    <a:pt x="575077" y="372295"/>
                  </a:lnTo>
                  <a:lnTo>
                    <a:pt x="625258" y="364955"/>
                  </a:lnTo>
                  <a:lnTo>
                    <a:pt x="674890" y="356844"/>
                  </a:lnTo>
                  <a:lnTo>
                    <a:pt x="723930" y="347899"/>
                  </a:lnTo>
                  <a:lnTo>
                    <a:pt x="772330" y="338055"/>
                  </a:lnTo>
                  <a:lnTo>
                    <a:pt x="820046" y="327248"/>
                  </a:lnTo>
                  <a:lnTo>
                    <a:pt x="867032" y="315414"/>
                  </a:lnTo>
                  <a:lnTo>
                    <a:pt x="1090563" y="236561"/>
                  </a:lnTo>
                  <a:lnTo>
                    <a:pt x="1324839" y="131422"/>
                  </a:lnTo>
                  <a:lnTo>
                    <a:pt x="1509597" y="39426"/>
                  </a:lnTo>
                  <a:lnTo>
                    <a:pt x="1584575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3067730" y="5970153"/>
            <a:ext cx="63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Grid(</a:t>
            </a:r>
            <a:r>
              <a:rPr sz="1800" i="1" spc="-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8" name="object 188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189" name="object 1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87" name="object 187"/>
          <p:cNvSpPr txBox="1"/>
          <p:nvPr/>
        </p:nvSpPr>
        <p:spPr>
          <a:xfrm>
            <a:off x="6057986" y="5970153"/>
            <a:ext cx="824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rid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600" i="1" dirty="0">
                <a:latin typeface="Calibri"/>
                <a:cs typeface="Calibri"/>
              </a:rPr>
              <a:t>t+</a:t>
            </a:r>
            <a:r>
              <a:rPr sz="1600" i="1" spc="-5" dirty="0">
                <a:latin typeface="Calibri"/>
                <a:cs typeface="Calibri"/>
              </a:rPr>
              <a:t>1</a:t>
            </a:r>
            <a:r>
              <a:rPr sz="1600" i="1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Parallel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Implementation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89688"/>
            <a:ext cx="7526655" cy="1920782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74930" indent="-342900">
              <a:lnSpc>
                <a:spcPts val="28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Partition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structured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grid,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assigning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each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partition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to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 </a:t>
            </a:r>
            <a:r>
              <a:rPr sz="2400" spc="-52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unique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process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1499"/>
              </a:lnSpc>
              <a:spcBef>
                <a:spcPts val="4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Diﬀerent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partitioning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methods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according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to the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215968"/>
                </a:solidFill>
                <a:latin typeface="Calibri"/>
                <a:cs typeface="Calibri"/>
              </a:rPr>
              <a:t>processor </a:t>
            </a:r>
            <a:r>
              <a:rPr sz="2400" b="1" i="1" spc="-52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215968"/>
                </a:solidFill>
                <a:latin typeface="Calibri"/>
                <a:cs typeface="Calibri"/>
              </a:rPr>
              <a:t>geometry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 dirty="0">
              <a:latin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AF4FA2-76D4-20BD-5465-252DE101C0AC}"/>
              </a:ext>
            </a:extLst>
          </p:cNvPr>
          <p:cNvGrpSpPr/>
          <p:nvPr/>
        </p:nvGrpSpPr>
        <p:grpSpPr>
          <a:xfrm>
            <a:off x="1504603" y="3753196"/>
            <a:ext cx="2186247" cy="2157152"/>
            <a:chOff x="1504603" y="3753196"/>
            <a:chExt cx="2186247" cy="215715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7396" y="3753196"/>
              <a:ext cx="623454" cy="21571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603" y="3753196"/>
              <a:ext cx="623454" cy="21571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56255" y="3779179"/>
              <a:ext cx="520700" cy="2057400"/>
            </a:xfrm>
            <a:custGeom>
              <a:avLst/>
              <a:gdLst/>
              <a:ahLst/>
              <a:cxnLst/>
              <a:rect l="l" t="t" r="r" b="b"/>
              <a:pathLst>
                <a:path w="520700" h="2057400">
                  <a:moveTo>
                    <a:pt x="5207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520700" y="2057400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8305" y="3753196"/>
              <a:ext cx="619298" cy="21571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76955" y="3779179"/>
              <a:ext cx="520700" cy="2057400"/>
            </a:xfrm>
            <a:custGeom>
              <a:avLst/>
              <a:gdLst/>
              <a:ahLst/>
              <a:cxnLst/>
              <a:rect l="l" t="t" r="r" b="b"/>
              <a:pathLst>
                <a:path w="520700" h="2057400">
                  <a:moveTo>
                    <a:pt x="5207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520700" y="2057400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7851" y="3753196"/>
              <a:ext cx="619298" cy="2157152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51492" y="3774417"/>
          <a:ext cx="2082800" cy="2057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  <a:solidFill>
                      <a:srgbClr val="DEE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597655" y="3779179"/>
            <a:ext cx="520700" cy="2057400"/>
          </a:xfrm>
          <a:custGeom>
            <a:avLst/>
            <a:gdLst/>
            <a:ahLst/>
            <a:cxnLst/>
            <a:rect l="l" t="t" r="r" b="b"/>
            <a:pathLst>
              <a:path w="520700" h="2057400">
                <a:moveTo>
                  <a:pt x="520700" y="0"/>
                </a:moveTo>
                <a:lnTo>
                  <a:pt x="0" y="0"/>
                </a:lnTo>
                <a:lnTo>
                  <a:pt x="0" y="2057400"/>
                </a:lnTo>
                <a:lnTo>
                  <a:pt x="520700" y="2057400"/>
                </a:lnTo>
                <a:lnTo>
                  <a:pt x="520700" y="0"/>
                </a:lnTo>
                <a:close/>
              </a:path>
            </a:pathLst>
          </a:custGeom>
          <a:solidFill>
            <a:srgbClr val="C5D7E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314305" y="3753196"/>
            <a:ext cx="2161540" cy="2182495"/>
            <a:chOff x="4314305" y="3753196"/>
            <a:chExt cx="2161540" cy="21824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4305" y="5311832"/>
              <a:ext cx="2161308" cy="6234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66263" y="53412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398" y="520699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66263" y="53412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4305" y="3753196"/>
              <a:ext cx="2161308" cy="61929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66263" y="37791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398" y="520700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66263" y="37791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4305" y="4272742"/>
              <a:ext cx="2161308" cy="6192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66263" y="42998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398" y="520700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66263" y="42998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4305" y="4792286"/>
              <a:ext cx="2161308" cy="62345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66263" y="48205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398" y="520699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66263" y="482057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057504" y="3753196"/>
            <a:ext cx="2161540" cy="2182495"/>
            <a:chOff x="7057504" y="3753196"/>
            <a:chExt cx="2161540" cy="2182495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84126" y="4792286"/>
              <a:ext cx="1134687" cy="11429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34854" y="4820579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09" h="1041400">
                  <a:moveTo>
                    <a:pt x="1032008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1032008" y="1041399"/>
                  </a:lnTo>
                  <a:lnTo>
                    <a:pt x="1032008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57504" y="3753196"/>
              <a:ext cx="1126374" cy="113884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09462" y="3779179"/>
              <a:ext cx="1025525" cy="1041400"/>
            </a:xfrm>
            <a:custGeom>
              <a:avLst/>
              <a:gdLst/>
              <a:ahLst/>
              <a:cxnLst/>
              <a:rect l="l" t="t" r="r" b="b"/>
              <a:pathLst>
                <a:path w="1025525" h="1041400">
                  <a:moveTo>
                    <a:pt x="1025391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1025391" y="1041400"/>
                  </a:lnTo>
                  <a:lnTo>
                    <a:pt x="1025391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4126" y="3753196"/>
              <a:ext cx="1134687" cy="113884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34854" y="3779179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09" h="1041400">
                  <a:moveTo>
                    <a:pt x="1032008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1032008" y="1041400"/>
                  </a:lnTo>
                  <a:lnTo>
                    <a:pt x="1032008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57504" y="4792286"/>
              <a:ext cx="1126374" cy="1142999"/>
            </a:xfrm>
            <a:prstGeom prst="rect">
              <a:avLst/>
            </a:prstGeom>
          </p:spPr>
        </p:pic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104699" y="3774417"/>
          <a:ext cx="2057400" cy="2082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12700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12700">
                      <a:solidFill>
                        <a:srgbClr val="5B92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12700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12700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7109462" y="4820579"/>
            <a:ext cx="1025525" cy="1041400"/>
          </a:xfrm>
          <a:custGeom>
            <a:avLst/>
            <a:gdLst/>
            <a:ahLst/>
            <a:cxnLst/>
            <a:rect l="l" t="t" r="r" b="b"/>
            <a:pathLst>
              <a:path w="1025525" h="1041400">
                <a:moveTo>
                  <a:pt x="1025391" y="0"/>
                </a:moveTo>
                <a:lnTo>
                  <a:pt x="0" y="0"/>
                </a:lnTo>
                <a:lnTo>
                  <a:pt x="0" y="1041399"/>
                </a:lnTo>
                <a:lnTo>
                  <a:pt x="1025391" y="1041399"/>
                </a:lnTo>
                <a:lnTo>
                  <a:pt x="1025391" y="0"/>
                </a:lnTo>
                <a:close/>
              </a:path>
            </a:pathLst>
          </a:custGeom>
          <a:solidFill>
            <a:srgbClr val="D6C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04D549-2383-12C3-6558-A8AC4624FA30}"/>
              </a:ext>
            </a:extLst>
          </p:cNvPr>
          <p:cNvSpPr txBox="1"/>
          <p:nvPr/>
        </p:nvSpPr>
        <p:spPr>
          <a:xfrm>
            <a:off x="2089325" y="5951088"/>
            <a:ext cx="111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/>
                <a:cs typeface="Calibri"/>
              </a:rPr>
              <a:t>1</a:t>
            </a:r>
            <a:r>
              <a:rPr lang="en-US" sz="1800" spc="40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X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4</a:t>
            </a:r>
            <a:endParaRPr lang="en-ET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C2EDEC-ED16-9199-0B50-2DBE6FFED07F}"/>
              </a:ext>
            </a:extLst>
          </p:cNvPr>
          <p:cNvSpPr txBox="1"/>
          <p:nvPr/>
        </p:nvSpPr>
        <p:spPr>
          <a:xfrm>
            <a:off x="4836681" y="5993910"/>
            <a:ext cx="111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405" dirty="0">
                <a:latin typeface="Calibri"/>
                <a:cs typeface="Calibri"/>
              </a:rPr>
              <a:t>4</a:t>
            </a:r>
            <a:r>
              <a:rPr lang="en-US" sz="1800" spc="40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X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1</a:t>
            </a:r>
            <a:endParaRPr lang="en-ET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4314FD-39EC-9E13-73EF-287170BF19BF}"/>
              </a:ext>
            </a:extLst>
          </p:cNvPr>
          <p:cNvSpPr txBox="1"/>
          <p:nvPr/>
        </p:nvSpPr>
        <p:spPr>
          <a:xfrm>
            <a:off x="7620691" y="5952473"/>
            <a:ext cx="111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405" dirty="0">
                <a:latin typeface="Calibri"/>
                <a:cs typeface="Calibri"/>
              </a:rPr>
              <a:t>2</a:t>
            </a:r>
            <a:r>
              <a:rPr lang="en-US" sz="1800" spc="40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X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2</a:t>
            </a:r>
            <a:endParaRPr lang="en-E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5" grpId="0" animBg="1"/>
      <p:bldP spid="39" grpId="0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Data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Dependences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6696"/>
            <a:ext cx="7479665" cy="12547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Each process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has its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own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data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partition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Do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need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any data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points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neighboring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processes?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2000" spc="-17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Yes,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how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did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we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do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it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in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Game of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Life?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4520" y="3295996"/>
            <a:ext cx="2876550" cy="2668905"/>
            <a:chOff x="1874520" y="3295996"/>
            <a:chExt cx="2876550" cy="26689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3295996"/>
              <a:ext cx="793865" cy="739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23716" y="332196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716" y="33219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20" y="3936076"/>
              <a:ext cx="793865" cy="7398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23716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716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8632" y="3295996"/>
              <a:ext cx="793865" cy="739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18320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8320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8632" y="3936076"/>
              <a:ext cx="793865" cy="7398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18320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18320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2745" y="3295996"/>
              <a:ext cx="793865" cy="7398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12927" y="332196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12927" y="33219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62745" y="3936076"/>
              <a:ext cx="793865" cy="7398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12927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2927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6857" y="3295996"/>
              <a:ext cx="793865" cy="7398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07532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07532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6857" y="3936076"/>
              <a:ext cx="793865" cy="73983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07532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7532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4520" y="4584468"/>
              <a:ext cx="793865" cy="7398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23717" y="46105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23717" y="46105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74520" y="5224548"/>
              <a:ext cx="793865" cy="73983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23717" y="52513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23717" y="52513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68632" y="4584468"/>
              <a:ext cx="793865" cy="7398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18322" y="4610503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18322" y="4610503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68632" y="5224548"/>
              <a:ext cx="793865" cy="7398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618322" y="525133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18322" y="525133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62745" y="4576156"/>
              <a:ext cx="793865" cy="73983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312927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12927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2745" y="5216236"/>
              <a:ext cx="793865" cy="74398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312927" y="52444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12927" y="52444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56857" y="4576156"/>
              <a:ext cx="793865" cy="73983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007532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07532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56857" y="5216236"/>
              <a:ext cx="793865" cy="74398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007532" y="5244469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07532" y="5244470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068327" y="3396604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P0	P1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05477" y="3396604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66142" y="3396604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068327" y="4120505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P4	P5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05477" y="4120505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66142" y="4120505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68327" y="4857105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P8	P9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405477" y="48571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77121" y="48571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68327" y="5581005"/>
            <a:ext cx="1696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795" algn="l"/>
                <a:tab pos="1371600" algn="l"/>
              </a:tabLst>
            </a:pPr>
            <a:r>
              <a:rPr sz="1600" dirty="0">
                <a:latin typeface="Calibri"/>
                <a:cs typeface="Calibri"/>
              </a:rPr>
              <a:t>P12	P13	P14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99080" y="55810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279371" y="3979736"/>
            <a:ext cx="4294505" cy="1454150"/>
            <a:chOff x="3279371" y="3979736"/>
            <a:chExt cx="4294505" cy="1454150"/>
          </a:xfrm>
        </p:grpSpPr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22323" y="4048297"/>
              <a:ext cx="1367443" cy="134250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72009" y="4076041"/>
              <a:ext cx="1266499" cy="124141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43048" y="3979736"/>
              <a:ext cx="1530659" cy="14535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79371" y="4584468"/>
              <a:ext cx="760614" cy="71073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329861" y="4612104"/>
              <a:ext cx="660400" cy="609600"/>
            </a:xfrm>
            <a:custGeom>
              <a:avLst/>
              <a:gdLst/>
              <a:ahLst/>
              <a:cxnLst/>
              <a:rect l="l" t="t" r="r" b="b"/>
              <a:pathLst>
                <a:path w="660400" h="609600">
                  <a:moveTo>
                    <a:pt x="660400" y="0"/>
                  </a:moveTo>
                  <a:lnTo>
                    <a:pt x="0" y="0"/>
                  </a:lnTo>
                  <a:lnTo>
                    <a:pt x="0" y="609081"/>
                  </a:lnTo>
                  <a:lnTo>
                    <a:pt x="660400" y="609081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FCCB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329861" y="4612104"/>
              <a:ext cx="660400" cy="609600"/>
            </a:xfrm>
            <a:custGeom>
              <a:avLst/>
              <a:gdLst/>
              <a:ahLst/>
              <a:cxnLst/>
              <a:rect l="l" t="t" r="r" b="b"/>
              <a:pathLst>
                <a:path w="660400" h="609600">
                  <a:moveTo>
                    <a:pt x="0" y="0"/>
                  </a:moveTo>
                  <a:lnTo>
                    <a:pt x="660399" y="0"/>
                  </a:lnTo>
                  <a:lnTo>
                    <a:pt x="660399" y="609081"/>
                  </a:lnTo>
                  <a:lnTo>
                    <a:pt x="0" y="6090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23606" y="4064924"/>
              <a:ext cx="2169621" cy="60267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973326" y="4101431"/>
              <a:ext cx="2070100" cy="487680"/>
            </a:xfrm>
            <a:custGeom>
              <a:avLst/>
              <a:gdLst/>
              <a:ahLst/>
              <a:cxnLst/>
              <a:rect l="l" t="t" r="r" b="b"/>
              <a:pathLst>
                <a:path w="2070100" h="487679">
                  <a:moveTo>
                    <a:pt x="0" y="487277"/>
                  </a:moveTo>
                  <a:lnTo>
                    <a:pt x="206972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61014" y="5174672"/>
              <a:ext cx="2177934" cy="2286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007531" y="5212718"/>
              <a:ext cx="2086610" cy="114300"/>
            </a:xfrm>
            <a:custGeom>
              <a:avLst/>
              <a:gdLst/>
              <a:ahLst/>
              <a:cxnLst/>
              <a:rect l="l" t="t" r="r" b="b"/>
              <a:pathLst>
                <a:path w="2086610" h="114300">
                  <a:moveTo>
                    <a:pt x="0" y="0"/>
                  </a:moveTo>
                  <a:lnTo>
                    <a:pt x="2086316" y="11405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Data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Dependences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00788"/>
            <a:ext cx="8002270" cy="1483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2800"/>
              </a:lnSpc>
              <a:spcBef>
                <a:spcPts val="260"/>
              </a:spcBef>
              <a:buClr>
                <a:srgbClr val="215968"/>
              </a:buClr>
              <a:buFont typeface="Arial MT"/>
              <a:buChar char="•"/>
              <a:tabLst>
                <a:tab pos="424180" algn="l"/>
                <a:tab pos="424815" algn="l"/>
              </a:tabLst>
            </a:pPr>
            <a:r>
              <a:rPr dirty="0"/>
              <a:t>	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order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to update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red,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need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green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points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(local)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and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blue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points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other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processes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(remote)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Too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expensive to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communication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individual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array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values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one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at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“Ghost”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cells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hold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a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copies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105" dirty="0">
                <a:solidFill>
                  <a:srgbClr val="31859C"/>
                </a:solidFill>
                <a:latin typeface="Calibri"/>
                <a:cs typeface="Calibri"/>
              </a:rPr>
              <a:t>oﬀ-­‐process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values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4520" y="3295996"/>
            <a:ext cx="2876550" cy="2668905"/>
            <a:chOff x="1874520" y="3295996"/>
            <a:chExt cx="2876550" cy="26689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3295996"/>
              <a:ext cx="793865" cy="739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23716" y="332196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716" y="33219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20" y="3936076"/>
              <a:ext cx="793865" cy="7398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23716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716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8632" y="3295996"/>
              <a:ext cx="793865" cy="739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18320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8320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8632" y="3936076"/>
              <a:ext cx="793865" cy="7398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18320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18320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2745" y="3295996"/>
              <a:ext cx="793865" cy="7398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12927" y="332196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12927" y="33219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62745" y="3936076"/>
              <a:ext cx="793865" cy="7398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12927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2927" y="39628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6857" y="3295996"/>
              <a:ext cx="793865" cy="7398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07532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07532" y="33219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6857" y="3936076"/>
              <a:ext cx="793865" cy="73983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07532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07532" y="39628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4520" y="4584468"/>
              <a:ext cx="793865" cy="7398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23717" y="46105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23717" y="46105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74520" y="5224548"/>
              <a:ext cx="793865" cy="73983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23717" y="52513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23717" y="52513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68632" y="4584468"/>
              <a:ext cx="793865" cy="7398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18322" y="4610503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18322" y="4610503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68632" y="5224548"/>
              <a:ext cx="793865" cy="7398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618322" y="5251336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18322" y="525133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62745" y="4576156"/>
              <a:ext cx="793865" cy="73983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312927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12927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2745" y="5216236"/>
              <a:ext cx="793865" cy="74398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312927" y="52444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12927" y="52444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56857" y="4576156"/>
              <a:ext cx="793865" cy="73983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007532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07532" y="46036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56857" y="5216236"/>
              <a:ext cx="793865" cy="74398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007532" y="5244469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07532" y="5244470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068327" y="3396604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P0	P1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05477" y="3396604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66142" y="3396604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068327" y="4120505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P4	P5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05477" y="4120505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66142" y="4120505"/>
            <a:ext cx="233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68327" y="4857105"/>
            <a:ext cx="856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</a:tabLst>
            </a:pPr>
            <a:r>
              <a:rPr sz="1600" dirty="0">
                <a:latin typeface="Calibri"/>
                <a:cs typeface="Calibri"/>
              </a:rPr>
              <a:t>P8	P9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405477" y="48571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77121" y="48571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68327" y="5581005"/>
            <a:ext cx="1696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795" algn="l"/>
                <a:tab pos="1371600" algn="l"/>
              </a:tabLst>
            </a:pPr>
            <a:r>
              <a:rPr sz="1600" dirty="0">
                <a:latin typeface="Calibri"/>
                <a:cs typeface="Calibri"/>
              </a:rPr>
              <a:t>P12	P13	P14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99080" y="5581005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P15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58599" y="3595932"/>
            <a:ext cx="190799" cy="18693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58599" y="4005203"/>
            <a:ext cx="190799" cy="18693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58599" y="4414475"/>
            <a:ext cx="190799" cy="18693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58599" y="4823745"/>
            <a:ext cx="190799" cy="18693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660020" y="5233017"/>
            <a:ext cx="190799" cy="18693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79726" y="3596227"/>
            <a:ext cx="190799" cy="18693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79726" y="4005498"/>
            <a:ext cx="190799" cy="18693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79726" y="4414768"/>
            <a:ext cx="190799" cy="18693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79726" y="4824040"/>
            <a:ext cx="190799" cy="18693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081147" y="5233311"/>
            <a:ext cx="190799" cy="18693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500853" y="3597312"/>
            <a:ext cx="190799" cy="18693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500853" y="4006584"/>
            <a:ext cx="190799" cy="18693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500853" y="4415854"/>
            <a:ext cx="190799" cy="186933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500853" y="4825126"/>
            <a:ext cx="190799" cy="18693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02274" y="5234397"/>
            <a:ext cx="190799" cy="186933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6940848" y="3610012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9" y="49328"/>
                </a:lnTo>
                <a:lnTo>
                  <a:pt x="0" y="80766"/>
                </a:lnTo>
                <a:lnTo>
                  <a:pt x="6499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0401" y="3598693"/>
            <a:ext cx="190800" cy="18693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70401" y="4007963"/>
            <a:ext cx="190800" cy="18693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0401" y="4417235"/>
            <a:ext cx="190800" cy="18693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0401" y="4826506"/>
            <a:ext cx="190800" cy="18693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1821" y="5235776"/>
            <a:ext cx="190799" cy="18693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61721" y="5642288"/>
            <a:ext cx="190797" cy="18693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82848" y="5642583"/>
            <a:ext cx="190798" cy="18693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03975" y="5643667"/>
            <a:ext cx="190797" cy="186933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6943969" y="5656367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50508" y="6347"/>
                </a:lnTo>
                <a:lnTo>
                  <a:pt x="24221" y="23656"/>
                </a:lnTo>
                <a:lnTo>
                  <a:pt x="6498" y="49329"/>
                </a:lnTo>
                <a:lnTo>
                  <a:pt x="0" y="80768"/>
                </a:lnTo>
                <a:lnTo>
                  <a:pt x="6498" y="112206"/>
                </a:lnTo>
                <a:lnTo>
                  <a:pt x="24221" y="137878"/>
                </a:lnTo>
                <a:lnTo>
                  <a:pt x="50508" y="155188"/>
                </a:lnTo>
                <a:lnTo>
                  <a:pt x="82698" y="161535"/>
                </a:lnTo>
                <a:lnTo>
                  <a:pt x="114889" y="155188"/>
                </a:lnTo>
                <a:lnTo>
                  <a:pt x="141176" y="137878"/>
                </a:lnTo>
                <a:lnTo>
                  <a:pt x="158899" y="112206"/>
                </a:lnTo>
                <a:lnTo>
                  <a:pt x="165398" y="80768"/>
                </a:lnTo>
                <a:lnTo>
                  <a:pt x="158899" y="49329"/>
                </a:lnTo>
                <a:lnTo>
                  <a:pt x="141176" y="23656"/>
                </a:lnTo>
                <a:lnTo>
                  <a:pt x="114889" y="6347"/>
                </a:lnTo>
                <a:lnTo>
                  <a:pt x="82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365096" y="5656662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50508" y="6347"/>
                </a:lnTo>
                <a:lnTo>
                  <a:pt x="24221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1" y="137877"/>
                </a:lnTo>
                <a:lnTo>
                  <a:pt x="50508" y="155186"/>
                </a:lnTo>
                <a:lnTo>
                  <a:pt x="82698" y="161533"/>
                </a:lnTo>
                <a:lnTo>
                  <a:pt x="114888" y="155186"/>
                </a:lnTo>
                <a:lnTo>
                  <a:pt x="141175" y="137877"/>
                </a:lnTo>
                <a:lnTo>
                  <a:pt x="158898" y="112204"/>
                </a:lnTo>
                <a:lnTo>
                  <a:pt x="165397" y="80766"/>
                </a:lnTo>
                <a:lnTo>
                  <a:pt x="158898" y="49328"/>
                </a:lnTo>
                <a:lnTo>
                  <a:pt x="141175" y="23656"/>
                </a:lnTo>
                <a:lnTo>
                  <a:pt x="114888" y="6347"/>
                </a:lnTo>
                <a:lnTo>
                  <a:pt x="82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0" name="object 9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3523" y="5645048"/>
            <a:ext cx="190797" cy="186933"/>
          </a:xfrm>
          <a:prstGeom prst="rect">
            <a:avLst/>
          </a:prstGeom>
        </p:spPr>
      </p:pic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5817649" y="3751411"/>
          <a:ext cx="1986280" cy="1924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" name="object 92"/>
          <p:cNvGrpSpPr/>
          <p:nvPr/>
        </p:nvGrpSpPr>
        <p:grpSpPr>
          <a:xfrm>
            <a:off x="3063239" y="3597312"/>
            <a:ext cx="4824730" cy="2233930"/>
            <a:chOff x="3063239" y="3597312"/>
            <a:chExt cx="4824730" cy="2233930"/>
          </a:xfrm>
        </p:grpSpPr>
        <p:sp>
          <p:nvSpPr>
            <p:cNvPr id="93" name="object 93"/>
            <p:cNvSpPr/>
            <p:nvPr/>
          </p:nvSpPr>
          <p:spPr>
            <a:xfrm>
              <a:off x="7357508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357508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357508" y="483782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57508" y="483782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357508" y="442855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57508" y="442855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57508" y="4019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357508" y="4019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36381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936381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936381" y="483782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936381" y="483782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36381" y="442855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936381" y="442855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936381" y="4019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36381" y="4019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363395" y="524739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363394" y="524739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361975" y="483811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361975" y="483811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361975" y="442884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361975" y="442884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361975" y="401957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361975" y="401957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942268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1" y="6346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42268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940848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940848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940848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940848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40848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940848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357229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357229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355809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355808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355809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355808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355809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355808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936102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936102" y="52470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934682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934681" y="48378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934682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934681" y="442855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934682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934681" y="401928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839820" y="5735756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865803" y="3772927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22323" y="4048297"/>
              <a:ext cx="1367443" cy="1342505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72009" y="4076041"/>
              <a:ext cx="1266499" cy="1241411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5836700" y="3689399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2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754000" y="377016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934682" y="361001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934681" y="361001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355809" y="361001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355808" y="361001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940848" y="361001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361975" y="361030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361975" y="361030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937801" y="565636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937801" y="565636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358928" y="565636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358928" y="565636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943969" y="56563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365096" y="565666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06486" y="3653443"/>
              <a:ext cx="1616825" cy="814647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4156768" y="3689401"/>
              <a:ext cx="1515110" cy="701675"/>
            </a:xfrm>
            <a:custGeom>
              <a:avLst/>
              <a:gdLst/>
              <a:ahLst/>
              <a:cxnLst/>
              <a:rect l="l" t="t" r="r" b="b"/>
              <a:pathLst>
                <a:path w="1515110" h="701675">
                  <a:moveTo>
                    <a:pt x="0" y="701573"/>
                  </a:moveTo>
                  <a:lnTo>
                    <a:pt x="1514533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62745" y="4576156"/>
              <a:ext cx="760614" cy="710738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3312927" y="4603636"/>
              <a:ext cx="660400" cy="609600"/>
            </a:xfrm>
            <a:custGeom>
              <a:avLst/>
              <a:gdLst/>
              <a:ahLst/>
              <a:cxnLst/>
              <a:rect l="l" t="t" r="r" b="b"/>
              <a:pathLst>
                <a:path w="660400" h="609600">
                  <a:moveTo>
                    <a:pt x="660400" y="0"/>
                  </a:moveTo>
                  <a:lnTo>
                    <a:pt x="0" y="0"/>
                  </a:lnTo>
                  <a:lnTo>
                    <a:pt x="0" y="609081"/>
                  </a:lnTo>
                  <a:lnTo>
                    <a:pt x="660400" y="609081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FCCB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312927" y="4603636"/>
              <a:ext cx="660400" cy="609600"/>
            </a:xfrm>
            <a:custGeom>
              <a:avLst/>
              <a:gdLst/>
              <a:ahLst/>
              <a:cxnLst/>
              <a:rect l="l" t="t" r="r" b="b"/>
              <a:pathLst>
                <a:path w="660400" h="609600">
                  <a:moveTo>
                    <a:pt x="0" y="0"/>
                  </a:moveTo>
                  <a:lnTo>
                    <a:pt x="660399" y="0"/>
                  </a:lnTo>
                  <a:lnTo>
                    <a:pt x="660399" y="609081"/>
                  </a:lnTo>
                  <a:lnTo>
                    <a:pt x="0" y="6090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63239" y="4364181"/>
              <a:ext cx="1142999" cy="1163781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3115368" y="4390974"/>
              <a:ext cx="1041400" cy="1063625"/>
            </a:xfrm>
            <a:custGeom>
              <a:avLst/>
              <a:gdLst/>
              <a:ahLst/>
              <a:cxnLst/>
              <a:rect l="l" t="t" r="r" b="b"/>
              <a:pathLst>
                <a:path w="1041400" h="1063625">
                  <a:moveTo>
                    <a:pt x="1041400" y="0"/>
                  </a:moveTo>
                  <a:lnTo>
                    <a:pt x="0" y="0"/>
                  </a:lnTo>
                  <a:lnTo>
                    <a:pt x="0" y="1063517"/>
                  </a:lnTo>
                  <a:lnTo>
                    <a:pt x="1041400" y="1063517"/>
                  </a:lnTo>
                  <a:lnTo>
                    <a:pt x="1041400" y="0"/>
                  </a:lnTo>
                  <a:close/>
                </a:path>
              </a:pathLst>
            </a:custGeom>
            <a:solidFill>
              <a:srgbClr val="C3E4ED">
                <a:alpha val="3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115368" y="4390974"/>
              <a:ext cx="1041400" cy="1063625"/>
            </a:xfrm>
            <a:custGeom>
              <a:avLst/>
              <a:gdLst/>
              <a:ahLst/>
              <a:cxnLst/>
              <a:rect l="l" t="t" r="r" b="b"/>
              <a:pathLst>
                <a:path w="1041400" h="1063625">
                  <a:moveTo>
                    <a:pt x="0" y="0"/>
                  </a:moveTo>
                  <a:lnTo>
                    <a:pt x="1041399" y="0"/>
                  </a:lnTo>
                  <a:lnTo>
                    <a:pt x="1041399" y="1063517"/>
                  </a:lnTo>
                  <a:lnTo>
                    <a:pt x="0" y="106351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61014" y="5378333"/>
              <a:ext cx="1762297" cy="436418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4009232" y="5415845"/>
              <a:ext cx="1665605" cy="320040"/>
            </a:xfrm>
            <a:custGeom>
              <a:avLst/>
              <a:gdLst/>
              <a:ahLst/>
              <a:cxnLst/>
              <a:rect l="l" t="t" r="r" b="b"/>
              <a:pathLst>
                <a:path w="1665604" h="320039">
                  <a:moveTo>
                    <a:pt x="0" y="0"/>
                  </a:moveTo>
                  <a:lnTo>
                    <a:pt x="1665188" y="31990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0" name="object 170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171" name="object 1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Ghost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Cells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(Halos)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53124" y="1207096"/>
            <a:ext cx="8072755" cy="97599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Ghost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cells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allocated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information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needed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r>
              <a:rPr sz="20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other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processes</a:t>
            </a:r>
            <a:endParaRPr sz="2000">
              <a:latin typeface="Calibri"/>
              <a:cs typeface="Calibri"/>
            </a:endParaRPr>
          </a:p>
          <a:p>
            <a:pPr marL="781050" lvl="1" indent="-286385">
              <a:lnSpc>
                <a:spcPct val="100000"/>
              </a:lnSpc>
              <a:spcBef>
                <a:spcPts val="384"/>
              </a:spcBef>
              <a:buFont typeface="Courier New"/>
              <a:buChar char="o"/>
              <a:tabLst>
                <a:tab pos="781050" algn="l"/>
              </a:tabLst>
            </a:pP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Thus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each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processor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allocates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(N+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2*ghosts)</a:t>
            </a:r>
            <a:r>
              <a:rPr sz="1600" spc="-114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575" spc="7" baseline="26455" dirty="0">
                <a:solidFill>
                  <a:srgbClr val="3C97AC"/>
                </a:solidFill>
                <a:latin typeface="Calibri"/>
                <a:cs typeface="Calibri"/>
              </a:rPr>
              <a:t>d</a:t>
            </a:r>
            <a:r>
              <a:rPr sz="1575" spc="30" baseline="26455" dirty="0">
                <a:solidFill>
                  <a:srgbClr val="3C97A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space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accommodate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ghost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region</a:t>
            </a:r>
            <a:endParaRPr sz="1600">
              <a:latin typeface="Calibri"/>
              <a:cs typeface="Calibri"/>
            </a:endParaRPr>
          </a:p>
          <a:p>
            <a:pPr marL="781050" lvl="1" indent="-286385">
              <a:lnSpc>
                <a:spcPct val="100000"/>
              </a:lnSpc>
              <a:spcBef>
                <a:spcPts val="380"/>
              </a:spcBef>
              <a:buFont typeface="Courier New"/>
              <a:buChar char="o"/>
              <a:tabLst>
                <a:tab pos="781050" algn="l"/>
              </a:tabLst>
            </a:pP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Depth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ghost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region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depends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on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the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numerical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method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used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96742" y="3054927"/>
            <a:ext cx="3113405" cy="3028950"/>
            <a:chOff x="4896742" y="3054927"/>
            <a:chExt cx="3113405" cy="30289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9032" y="3956857"/>
              <a:ext cx="1367443" cy="13425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0112" y="3984221"/>
              <a:ext cx="1266499" cy="12414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20112" y="3984221"/>
              <a:ext cx="1266825" cy="1241425"/>
            </a:xfrm>
            <a:custGeom>
              <a:avLst/>
              <a:gdLst/>
              <a:ahLst/>
              <a:cxnLst/>
              <a:rect l="l" t="t" r="r" b="b"/>
              <a:pathLst>
                <a:path w="1266825" h="1241425">
                  <a:moveTo>
                    <a:pt x="0" y="0"/>
                  </a:moveTo>
                  <a:lnTo>
                    <a:pt x="1266499" y="0"/>
                  </a:lnTo>
                  <a:lnTo>
                    <a:pt x="1266499" y="1241411"/>
                  </a:lnTo>
                  <a:lnTo>
                    <a:pt x="0" y="1241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9A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76261" y="5223826"/>
              <a:ext cx="2743200" cy="4445"/>
            </a:xfrm>
            <a:custGeom>
              <a:avLst/>
              <a:gdLst/>
              <a:ahLst/>
              <a:cxnLst/>
              <a:rect l="l" t="t" r="r" b="b"/>
              <a:pathLst>
                <a:path w="2743200" h="4445">
                  <a:moveTo>
                    <a:pt x="0" y="0"/>
                  </a:moveTo>
                  <a:lnTo>
                    <a:pt x="2742602" y="413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74841" y="4814556"/>
              <a:ext cx="2755900" cy="4445"/>
            </a:xfrm>
            <a:custGeom>
              <a:avLst/>
              <a:gdLst/>
              <a:ahLst/>
              <a:cxnLst/>
              <a:rect l="l" t="t" r="r" b="b"/>
              <a:pathLst>
                <a:path w="2755900" h="4445">
                  <a:moveTo>
                    <a:pt x="0" y="0"/>
                  </a:moveTo>
                  <a:lnTo>
                    <a:pt x="2755660" y="413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74841" y="4405283"/>
              <a:ext cx="2755900" cy="4445"/>
            </a:xfrm>
            <a:custGeom>
              <a:avLst/>
              <a:gdLst/>
              <a:ahLst/>
              <a:cxnLst/>
              <a:rect l="l" t="t" r="r" b="b"/>
              <a:pathLst>
                <a:path w="2755900" h="4445">
                  <a:moveTo>
                    <a:pt x="0" y="0"/>
                  </a:moveTo>
                  <a:lnTo>
                    <a:pt x="2755660" y="413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74841" y="3996013"/>
              <a:ext cx="2755900" cy="4445"/>
            </a:xfrm>
            <a:custGeom>
              <a:avLst/>
              <a:gdLst/>
              <a:ahLst/>
              <a:cxnLst/>
              <a:rect l="l" t="t" r="r" b="b"/>
              <a:pathLst>
                <a:path w="2755900" h="4445">
                  <a:moveTo>
                    <a:pt x="0" y="0"/>
                  </a:moveTo>
                  <a:lnTo>
                    <a:pt x="2755660" y="413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77426" y="3255053"/>
              <a:ext cx="12700" cy="2654935"/>
            </a:xfrm>
            <a:custGeom>
              <a:avLst/>
              <a:gdLst/>
              <a:ahLst/>
              <a:cxnLst/>
              <a:rect l="l" t="t" r="r" b="b"/>
              <a:pathLst>
                <a:path w="12700" h="2654935">
                  <a:moveTo>
                    <a:pt x="0" y="0"/>
                  </a:moveTo>
                  <a:lnTo>
                    <a:pt x="12233" y="265441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6299" y="3254758"/>
              <a:ext cx="12700" cy="2654935"/>
            </a:xfrm>
            <a:custGeom>
              <a:avLst/>
              <a:gdLst/>
              <a:ahLst/>
              <a:cxnLst/>
              <a:rect l="l" t="t" r="r" b="b"/>
              <a:pathLst>
                <a:path w="12700" h="2654935">
                  <a:moveTo>
                    <a:pt x="0" y="0"/>
                  </a:moveTo>
                  <a:lnTo>
                    <a:pt x="12233" y="265441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29007" y="3254758"/>
              <a:ext cx="12700" cy="2654935"/>
            </a:xfrm>
            <a:custGeom>
              <a:avLst/>
              <a:gdLst/>
              <a:ahLst/>
              <a:cxnLst/>
              <a:rect l="l" t="t" r="r" b="b"/>
              <a:pathLst>
                <a:path w="12700" h="2654935">
                  <a:moveTo>
                    <a:pt x="0" y="0"/>
                  </a:moveTo>
                  <a:lnTo>
                    <a:pt x="12232" y="265441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07880" y="3253672"/>
              <a:ext cx="12700" cy="2654935"/>
            </a:xfrm>
            <a:custGeom>
              <a:avLst/>
              <a:gdLst/>
              <a:ahLst/>
              <a:cxnLst/>
              <a:rect l="l" t="t" r="r" b="b"/>
              <a:pathLst>
                <a:path w="12700" h="2654935">
                  <a:moveTo>
                    <a:pt x="0" y="0"/>
                  </a:moveTo>
                  <a:lnTo>
                    <a:pt x="12232" y="265441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37411" y="5633391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07665" y="3918004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4291" y="3587033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95864" y="3915243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0464" y="3902543"/>
              <a:ext cx="190799" cy="18693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0464" y="4311814"/>
              <a:ext cx="190799" cy="1869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0464" y="4721086"/>
              <a:ext cx="190799" cy="1869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1884" y="5130357"/>
              <a:ext cx="190799" cy="1869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1591" y="3493566"/>
              <a:ext cx="190799" cy="18693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1591" y="3902838"/>
              <a:ext cx="190799" cy="1869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1591" y="4312109"/>
              <a:ext cx="190799" cy="1869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1591" y="4721380"/>
              <a:ext cx="190799" cy="1869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3011" y="5130651"/>
              <a:ext cx="190799" cy="18693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2716" y="3494653"/>
              <a:ext cx="190799" cy="18693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2716" y="3903924"/>
              <a:ext cx="190799" cy="1869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2716" y="4313195"/>
              <a:ext cx="190799" cy="1869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2716" y="4722465"/>
              <a:ext cx="190799" cy="1869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4138" y="5131738"/>
              <a:ext cx="190799" cy="18693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576544" y="35073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5"/>
                  </a:lnTo>
                  <a:lnTo>
                    <a:pt x="114891" y="6346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76544" y="35073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76544" y="39166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76544" y="39166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76544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76544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76544" y="473516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9"/>
                  </a:lnTo>
                  <a:lnTo>
                    <a:pt x="0" y="80768"/>
                  </a:lnTo>
                  <a:lnTo>
                    <a:pt x="6499" y="112206"/>
                  </a:lnTo>
                  <a:lnTo>
                    <a:pt x="24222" y="137878"/>
                  </a:lnTo>
                  <a:lnTo>
                    <a:pt x="50510" y="155188"/>
                  </a:lnTo>
                  <a:lnTo>
                    <a:pt x="82701" y="161535"/>
                  </a:lnTo>
                  <a:lnTo>
                    <a:pt x="114891" y="155188"/>
                  </a:lnTo>
                  <a:lnTo>
                    <a:pt x="141178" y="137878"/>
                  </a:lnTo>
                  <a:lnTo>
                    <a:pt x="158901" y="112206"/>
                  </a:lnTo>
                  <a:lnTo>
                    <a:pt x="165400" y="80768"/>
                  </a:lnTo>
                  <a:lnTo>
                    <a:pt x="158901" y="49329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76544" y="473516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77965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77964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97672" y="35073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97671" y="35073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97672" y="39166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97671" y="39166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97672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97671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97672" y="473516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9"/>
                  </a:lnTo>
                  <a:lnTo>
                    <a:pt x="0" y="80768"/>
                  </a:lnTo>
                  <a:lnTo>
                    <a:pt x="6499" y="112206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97671" y="473516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99093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99094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82711" y="350735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82710" y="350735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82711" y="391662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9"/>
                  </a:lnTo>
                  <a:lnTo>
                    <a:pt x="0" y="80768"/>
                  </a:lnTo>
                  <a:lnTo>
                    <a:pt x="6498" y="112206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82710" y="391662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82711" y="43258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82710" y="43258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82711" y="473516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82710" y="47351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84131" y="51444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84132" y="51444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03837" y="35076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03839" y="35076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003837" y="391691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03839" y="391691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03837" y="432618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10" y="155188"/>
                  </a:lnTo>
                  <a:lnTo>
                    <a:pt x="82701" y="161535"/>
                  </a:lnTo>
                  <a:lnTo>
                    <a:pt x="114891" y="155188"/>
                  </a:lnTo>
                  <a:lnTo>
                    <a:pt x="141178" y="137878"/>
                  </a:lnTo>
                  <a:lnTo>
                    <a:pt x="158901" y="112205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003839" y="432618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003837" y="473545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03839" y="473545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05259" y="51447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05258" y="51447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2265" y="3905303"/>
              <a:ext cx="190799" cy="18693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2265" y="4314574"/>
              <a:ext cx="190799" cy="18693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2265" y="4723846"/>
              <a:ext cx="190799" cy="18693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3684" y="5133117"/>
              <a:ext cx="190799" cy="18693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4712" y="5539923"/>
              <a:ext cx="190798" cy="18693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5839" y="5541010"/>
              <a:ext cx="190797" cy="18693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578243" y="39166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78243" y="39166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578243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9"/>
                  </a:lnTo>
                  <a:lnTo>
                    <a:pt x="0" y="80768"/>
                  </a:lnTo>
                  <a:lnTo>
                    <a:pt x="6499" y="112206"/>
                  </a:lnTo>
                  <a:lnTo>
                    <a:pt x="24222" y="137878"/>
                  </a:lnTo>
                  <a:lnTo>
                    <a:pt x="50510" y="155188"/>
                  </a:lnTo>
                  <a:lnTo>
                    <a:pt x="82701" y="161535"/>
                  </a:lnTo>
                  <a:lnTo>
                    <a:pt x="114891" y="155188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578243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578243" y="47351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578243" y="47351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578243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578243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579664" y="55537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579663" y="55537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999371" y="39166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999371" y="39166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999371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9"/>
                  </a:lnTo>
                  <a:lnTo>
                    <a:pt x="0" y="80768"/>
                  </a:lnTo>
                  <a:lnTo>
                    <a:pt x="6499" y="112206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999371" y="432589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999371" y="47351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99371" y="47351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999371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999371" y="51444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000792" y="55537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000792" y="55537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585832" y="555370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585832" y="555370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006959" y="55540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006959" y="55540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737415" y="5988850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4714" y="5895383"/>
              <a:ext cx="190798" cy="186933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45841" y="5896469"/>
              <a:ext cx="190797" cy="18693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3135" y="5896467"/>
              <a:ext cx="190797" cy="18693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4261" y="5896763"/>
              <a:ext cx="190797" cy="18693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725181" y="3172906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5">
                  <a:moveTo>
                    <a:pt x="0" y="0"/>
                  </a:moveTo>
                  <a:lnTo>
                    <a:pt x="1434944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2480" y="3079439"/>
              <a:ext cx="190797" cy="18693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3607" y="3080524"/>
              <a:ext cx="190798" cy="18693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900" y="3080523"/>
              <a:ext cx="190797" cy="186933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2027" y="3080818"/>
              <a:ext cx="190797" cy="186933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4992141" y="3915246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6742" y="3902546"/>
              <a:ext cx="190797" cy="18693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6742" y="4311816"/>
              <a:ext cx="190797" cy="18693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6742" y="4721087"/>
              <a:ext cx="190797" cy="18693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8163" y="5130359"/>
              <a:ext cx="190798" cy="186933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7913201" y="3919384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7802" y="3906684"/>
              <a:ext cx="190797" cy="186933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7802" y="4315955"/>
              <a:ext cx="190797" cy="186933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7802" y="4725225"/>
              <a:ext cx="190797" cy="18693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9223" y="5134497"/>
              <a:ext cx="190797" cy="18693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3883" y="3054927"/>
              <a:ext cx="477981" cy="698269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7218415" y="3093518"/>
              <a:ext cx="373380" cy="579120"/>
            </a:xfrm>
            <a:custGeom>
              <a:avLst/>
              <a:gdLst/>
              <a:ahLst/>
              <a:cxnLst/>
              <a:rect l="l" t="t" r="r" b="b"/>
              <a:pathLst>
                <a:path w="373379" h="579120">
                  <a:moveTo>
                    <a:pt x="0" y="0"/>
                  </a:moveTo>
                  <a:lnTo>
                    <a:pt x="72666" y="2445"/>
                  </a:lnTo>
                  <a:lnTo>
                    <a:pt x="132005" y="9112"/>
                  </a:lnTo>
                  <a:lnTo>
                    <a:pt x="172014" y="19002"/>
                  </a:lnTo>
                  <a:lnTo>
                    <a:pt x="186684" y="31112"/>
                  </a:lnTo>
                  <a:lnTo>
                    <a:pt x="186684" y="265888"/>
                  </a:lnTo>
                  <a:lnTo>
                    <a:pt x="201355" y="277999"/>
                  </a:lnTo>
                  <a:lnTo>
                    <a:pt x="241363" y="287889"/>
                  </a:lnTo>
                  <a:lnTo>
                    <a:pt x="300703" y="294557"/>
                  </a:lnTo>
                  <a:lnTo>
                    <a:pt x="373370" y="297002"/>
                  </a:lnTo>
                  <a:lnTo>
                    <a:pt x="300703" y="299447"/>
                  </a:lnTo>
                  <a:lnTo>
                    <a:pt x="241363" y="306114"/>
                  </a:lnTo>
                  <a:lnTo>
                    <a:pt x="201355" y="316004"/>
                  </a:lnTo>
                  <a:lnTo>
                    <a:pt x="186684" y="328114"/>
                  </a:lnTo>
                  <a:lnTo>
                    <a:pt x="186684" y="547499"/>
                  </a:lnTo>
                  <a:lnTo>
                    <a:pt x="172014" y="559610"/>
                  </a:lnTo>
                  <a:lnTo>
                    <a:pt x="132005" y="569499"/>
                  </a:lnTo>
                  <a:lnTo>
                    <a:pt x="72666" y="576167"/>
                  </a:lnTo>
                  <a:lnTo>
                    <a:pt x="0" y="57861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1977186" y="3121429"/>
            <a:ext cx="2304415" cy="2620645"/>
            <a:chOff x="1977186" y="3121429"/>
            <a:chExt cx="2304415" cy="2620645"/>
          </a:xfrm>
        </p:grpSpPr>
        <p:pic>
          <p:nvPicPr>
            <p:cNvPr id="127" name="object 1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43942" y="3956857"/>
              <a:ext cx="1367443" cy="134250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3714" y="3984221"/>
              <a:ext cx="1266499" cy="124141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2493714" y="3984221"/>
              <a:ext cx="1266825" cy="1241425"/>
            </a:xfrm>
            <a:custGeom>
              <a:avLst/>
              <a:gdLst/>
              <a:ahLst/>
              <a:cxnLst/>
              <a:rect l="l" t="t" r="r" b="b"/>
              <a:pathLst>
                <a:path w="1266825" h="1241425">
                  <a:moveTo>
                    <a:pt x="0" y="0"/>
                  </a:moveTo>
                  <a:lnTo>
                    <a:pt x="1266499" y="0"/>
                  </a:lnTo>
                  <a:lnTo>
                    <a:pt x="1266499" y="1241411"/>
                  </a:lnTo>
                  <a:lnTo>
                    <a:pt x="0" y="1241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9A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8313" y="3916438"/>
              <a:ext cx="190799" cy="186933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8313" y="4325708"/>
              <a:ext cx="190799" cy="186933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8313" y="4734980"/>
              <a:ext cx="190799" cy="186933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9734" y="5144251"/>
              <a:ext cx="190799" cy="186933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9440" y="3917524"/>
              <a:ext cx="190799" cy="18693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9440" y="4326794"/>
              <a:ext cx="190799" cy="18693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9440" y="4736066"/>
              <a:ext cx="190799" cy="186933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0861" y="5145337"/>
              <a:ext cx="190799" cy="186933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3253267" y="39302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53267" y="39302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253267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253267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253267" y="47487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53267" y="47487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54688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254688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674395" y="39302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674395" y="39302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674395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674395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674395" y="47487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674395" y="474876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675816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675816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259433" y="39302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259434" y="39302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259433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5"/>
                  </a:lnTo>
                  <a:lnTo>
                    <a:pt x="114891" y="6346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259434" y="433949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259433" y="474876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8"/>
                  </a:lnTo>
                  <a:lnTo>
                    <a:pt x="158901" y="112205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259434" y="474876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260854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260854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680561" y="393051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680561" y="393051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680561" y="433978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680561" y="433978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680561" y="474905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680561" y="474905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681982" y="515833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681982" y="515833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254966" y="39302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54966" y="39302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54966" y="43394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54966" y="43394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54966" y="4748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254966" y="4748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254966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254966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676094" y="393022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676094" y="393022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676094" y="43394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676094" y="43394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676094" y="4748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676094" y="4748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676094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8"/>
                  </a:lnTo>
                  <a:lnTo>
                    <a:pt x="82699" y="161535"/>
                  </a:lnTo>
                  <a:lnTo>
                    <a:pt x="114890" y="155188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676094" y="515803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184389" y="3931603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988" y="3918903"/>
              <a:ext cx="190799" cy="186933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988" y="4328173"/>
              <a:ext cx="190799" cy="186933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988" y="4737446"/>
              <a:ext cx="190799" cy="186933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0408" y="5146717"/>
              <a:ext cx="190799" cy="186933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2072587" y="3928844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5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7186" y="3916142"/>
              <a:ext cx="190799" cy="186933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7186" y="4325414"/>
              <a:ext cx="190799" cy="186933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7186" y="4734686"/>
              <a:ext cx="190799" cy="186933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8606" y="5143957"/>
              <a:ext cx="190799" cy="186933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2155286" y="400961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155286" y="441888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155286" y="4828154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156707" y="5237424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1596" y="3121429"/>
              <a:ext cx="1487977" cy="428105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2443253" y="3161725"/>
              <a:ext cx="1364615" cy="320675"/>
            </a:xfrm>
            <a:custGeom>
              <a:avLst/>
              <a:gdLst/>
              <a:ahLst/>
              <a:cxnLst/>
              <a:rect l="l" t="t" r="r" b="b"/>
              <a:pathLst>
                <a:path w="1364614" h="320675">
                  <a:moveTo>
                    <a:pt x="0" y="320131"/>
                  </a:moveTo>
                  <a:lnTo>
                    <a:pt x="2096" y="257827"/>
                  </a:lnTo>
                  <a:lnTo>
                    <a:pt x="7813" y="206948"/>
                  </a:lnTo>
                  <a:lnTo>
                    <a:pt x="16293" y="172644"/>
                  </a:lnTo>
                  <a:lnTo>
                    <a:pt x="26677" y="160066"/>
                  </a:lnTo>
                  <a:lnTo>
                    <a:pt x="673710" y="160066"/>
                  </a:lnTo>
                  <a:lnTo>
                    <a:pt x="684094" y="147487"/>
                  </a:lnTo>
                  <a:lnTo>
                    <a:pt x="692574" y="113183"/>
                  </a:lnTo>
                  <a:lnTo>
                    <a:pt x="698291" y="62304"/>
                  </a:lnTo>
                  <a:lnTo>
                    <a:pt x="700387" y="0"/>
                  </a:lnTo>
                  <a:lnTo>
                    <a:pt x="702484" y="62304"/>
                  </a:lnTo>
                  <a:lnTo>
                    <a:pt x="708201" y="113183"/>
                  </a:lnTo>
                  <a:lnTo>
                    <a:pt x="716680" y="147487"/>
                  </a:lnTo>
                  <a:lnTo>
                    <a:pt x="727064" y="160066"/>
                  </a:lnTo>
                  <a:lnTo>
                    <a:pt x="1337802" y="160066"/>
                  </a:lnTo>
                  <a:lnTo>
                    <a:pt x="1348186" y="172644"/>
                  </a:lnTo>
                  <a:lnTo>
                    <a:pt x="1356666" y="206948"/>
                  </a:lnTo>
                  <a:lnTo>
                    <a:pt x="1362383" y="257827"/>
                  </a:lnTo>
                  <a:lnTo>
                    <a:pt x="1364479" y="32013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411015" y="3600634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8313" y="3507167"/>
              <a:ext cx="190799" cy="186933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9440" y="3508253"/>
              <a:ext cx="190799" cy="186933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3253267" y="35209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253267" y="35209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674395" y="35209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674395" y="352095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259433" y="352095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259434" y="352095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680561" y="35212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680561" y="35212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414135" y="5646990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1435" y="5553523"/>
              <a:ext cx="190797" cy="186933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2562" y="5554609"/>
              <a:ext cx="190798" cy="186933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3256387" y="55673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256387" y="55673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677516" y="55673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677515" y="556731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262555" y="556730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5"/>
                  </a:lnTo>
                  <a:lnTo>
                    <a:pt x="114889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262555" y="556730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683681" y="55676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6"/>
                  </a:lnTo>
                  <a:lnTo>
                    <a:pt x="114889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683682" y="55676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493714" y="3681399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914841" y="3682485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342135" y="3682485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757096" y="3682485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" name="object 228"/>
          <p:cNvSpPr txBox="1"/>
          <p:nvPr/>
        </p:nvSpPr>
        <p:spPr>
          <a:xfrm>
            <a:off x="2521993" y="2770997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Ghost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0" name="object 230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231" name="object 2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29" name="object 229"/>
          <p:cNvSpPr txBox="1"/>
          <p:nvPr/>
        </p:nvSpPr>
        <p:spPr>
          <a:xfrm>
            <a:off x="7709075" y="2945960"/>
            <a:ext cx="51562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Gh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st  cells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Gh</a:t>
            </a:r>
            <a:r>
              <a:rPr sz="4000" spc="-5" dirty="0">
                <a:solidFill>
                  <a:srgbClr val="FFFFFF"/>
                </a:solidFill>
              </a:rPr>
              <a:t>os</a:t>
            </a:r>
            <a:r>
              <a:rPr sz="4000" dirty="0">
                <a:solidFill>
                  <a:srgbClr val="FFFFFF"/>
                </a:solidFill>
              </a:rPr>
              <a:t>t Cell Exchange</a:t>
            </a:r>
            <a:r>
              <a:rPr sz="4000" spc="-819" dirty="0">
                <a:solidFill>
                  <a:srgbClr val="FFFFFF"/>
                </a:solidFill>
              </a:rPr>
              <a:t>-­‐</a:t>
            </a:r>
            <a:r>
              <a:rPr sz="4000" dirty="0">
                <a:solidFill>
                  <a:srgbClr val="FFFFFF"/>
                </a:solidFill>
              </a:rPr>
              <a:t> R</a:t>
            </a:r>
            <a:r>
              <a:rPr sz="4000" spc="-5" dirty="0">
                <a:solidFill>
                  <a:srgbClr val="FFFFFF"/>
                </a:solidFill>
              </a:rPr>
              <a:t>e</a:t>
            </a:r>
            <a:r>
              <a:rPr sz="4000" dirty="0">
                <a:solidFill>
                  <a:srgbClr val="FFFFFF"/>
                </a:solidFill>
              </a:rPr>
              <a:t>ceive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226282"/>
            <a:ext cx="7555230" cy="10248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Need to update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ghosts every iteration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so that a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process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has the </a:t>
            </a:r>
            <a:r>
              <a:rPr sz="2200" spc="-484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latest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values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This is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done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message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exchange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between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processes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7186" y="3605344"/>
            <a:ext cx="5639888" cy="2246269"/>
            <a:chOff x="1977186" y="3605344"/>
            <a:chExt cx="5639888" cy="224626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3942" y="4064923"/>
              <a:ext cx="1367443" cy="13425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3714" y="4094292"/>
              <a:ext cx="1266499" cy="12414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8313" y="4026509"/>
              <a:ext cx="1461768" cy="14161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84389" y="4041674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8988" y="4028974"/>
              <a:ext cx="190799" cy="1869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8988" y="4438244"/>
              <a:ext cx="190799" cy="1869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8988" y="4847516"/>
              <a:ext cx="190799" cy="1869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0408" y="5256787"/>
              <a:ext cx="190799" cy="18693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72587" y="4038915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5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7186" y="4026213"/>
              <a:ext cx="190799" cy="1869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7186" y="4435485"/>
              <a:ext cx="190799" cy="1869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7186" y="4844757"/>
              <a:ext cx="190799" cy="186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78606" y="5254027"/>
              <a:ext cx="190799" cy="18693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55286" y="411968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55286" y="4528953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55286" y="4938224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56707" y="5347496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14135" y="5757060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435" y="5663592"/>
              <a:ext cx="190797" cy="1869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2562" y="5664680"/>
              <a:ext cx="190798" cy="18693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256387" y="567738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56387" y="567738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77516" y="567738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77515" y="567738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62555" y="567738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6"/>
                  </a:lnTo>
                  <a:lnTo>
                    <a:pt x="114889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62555" y="567738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83681" y="56776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6"/>
                  </a:lnTo>
                  <a:lnTo>
                    <a:pt x="114889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83682" y="56776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11015" y="3710705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8313" y="3617238"/>
              <a:ext cx="190799" cy="1869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9440" y="3618324"/>
              <a:ext cx="190799" cy="18693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53267" y="36310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9"/>
                  </a:lnTo>
                  <a:lnTo>
                    <a:pt x="0" y="80768"/>
                  </a:lnTo>
                  <a:lnTo>
                    <a:pt x="6498" y="112206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53267" y="36310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74395" y="36310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9"/>
                  </a:lnTo>
                  <a:lnTo>
                    <a:pt x="0" y="80768"/>
                  </a:lnTo>
                  <a:lnTo>
                    <a:pt x="6498" y="112206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74395" y="363102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59433" y="363102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9"/>
                  </a:lnTo>
                  <a:lnTo>
                    <a:pt x="0" y="80768"/>
                  </a:lnTo>
                  <a:lnTo>
                    <a:pt x="6499" y="112206"/>
                  </a:lnTo>
                  <a:lnTo>
                    <a:pt x="24222" y="137878"/>
                  </a:lnTo>
                  <a:lnTo>
                    <a:pt x="50510" y="155188"/>
                  </a:lnTo>
                  <a:lnTo>
                    <a:pt x="82701" y="161535"/>
                  </a:lnTo>
                  <a:lnTo>
                    <a:pt x="114891" y="155188"/>
                  </a:lnTo>
                  <a:lnTo>
                    <a:pt x="141178" y="137878"/>
                  </a:lnTo>
                  <a:lnTo>
                    <a:pt x="158901" y="112206"/>
                  </a:lnTo>
                  <a:lnTo>
                    <a:pt x="165400" y="80768"/>
                  </a:lnTo>
                  <a:lnTo>
                    <a:pt x="158901" y="49329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59434" y="363102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80561" y="363131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80561" y="363131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3714" y="379147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14841" y="379255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42135" y="379255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57096" y="379255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48792" y="3894513"/>
              <a:ext cx="698269" cy="173320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897283" y="3922073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4"/>
                  </a:lnTo>
                  <a:lnTo>
                    <a:pt x="597575" y="1634064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97283" y="3922073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0" y="0"/>
                  </a:moveTo>
                  <a:lnTo>
                    <a:pt x="597575" y="0"/>
                  </a:lnTo>
                  <a:lnTo>
                    <a:pt x="597575" y="1634064"/>
                  </a:lnTo>
                  <a:lnTo>
                    <a:pt x="0" y="16340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77345" y="4056611"/>
              <a:ext cx="1367443" cy="134250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581" y="4082397"/>
              <a:ext cx="1266499" cy="124141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34180" y="4014614"/>
              <a:ext cx="1461768" cy="14161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520255" y="4029781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4855" y="4017079"/>
              <a:ext cx="190799" cy="18693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4855" y="4426351"/>
              <a:ext cx="190799" cy="18693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4855" y="4835622"/>
              <a:ext cx="190799" cy="18693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6275" y="5244894"/>
              <a:ext cx="190799" cy="18693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408453" y="4027021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3053" y="4014320"/>
              <a:ext cx="190799" cy="18693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3053" y="4423591"/>
              <a:ext cx="190799" cy="18693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3053" y="4832862"/>
              <a:ext cx="190799" cy="18693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4473" y="5242133"/>
              <a:ext cx="190799" cy="18693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491152" y="4107788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91152" y="4517058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491152" y="492633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92573" y="533560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750002" y="5745167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7301" y="5651699"/>
              <a:ext cx="190798" cy="18693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8428" y="5652786"/>
              <a:ext cx="190798" cy="18693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592253" y="56654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8"/>
                  </a:lnTo>
                  <a:lnTo>
                    <a:pt x="158901" y="112205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592254" y="56654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13383" y="56654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13382" y="56654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598422" y="56654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598421" y="56654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19549" y="566577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19548" y="566577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46881" y="3698810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34180" y="3605344"/>
              <a:ext cx="190799" cy="18693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5307" y="3606430"/>
              <a:ext cx="190799" cy="186933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589134" y="36191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589134" y="36191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010261" y="36191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010262" y="361913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595299" y="361912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595299" y="3619129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16428" y="36194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16428" y="361942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829580" y="3779577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250708" y="3780662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678001" y="3780662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92962" y="3780662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2243" y="3894513"/>
              <a:ext cx="698269" cy="1733203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533912" y="3922072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5"/>
                  </a:lnTo>
                  <a:lnTo>
                    <a:pt x="597575" y="1634065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533911" y="3922072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0" y="0"/>
                  </a:moveTo>
                  <a:lnTo>
                    <a:pt x="597575" y="0"/>
                  </a:lnTo>
                  <a:lnTo>
                    <a:pt x="597575" y="1634065"/>
                  </a:lnTo>
                  <a:lnTo>
                    <a:pt x="0" y="163406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2976956" y="6207225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i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076154" y="6264375"/>
            <a:ext cx="38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i+1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5EE4C6A-8ECB-2B96-455B-64F824439FD3}"/>
              </a:ext>
            </a:extLst>
          </p:cNvPr>
          <p:cNvGrpSpPr/>
          <p:nvPr/>
        </p:nvGrpSpPr>
        <p:grpSpPr>
          <a:xfrm>
            <a:off x="4015046" y="3144173"/>
            <a:ext cx="1787525" cy="912726"/>
            <a:chOff x="4015046" y="3144173"/>
            <a:chExt cx="1787525" cy="912726"/>
          </a:xfrm>
        </p:grpSpPr>
        <p:sp>
          <p:nvSpPr>
            <p:cNvPr id="99" name="object 99"/>
            <p:cNvSpPr txBox="1"/>
            <p:nvPr/>
          </p:nvSpPr>
          <p:spPr>
            <a:xfrm>
              <a:off x="4513870" y="3144173"/>
              <a:ext cx="878840" cy="269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rgbClr val="0000FF"/>
                  </a:solidFill>
                  <a:latin typeface="Courier New"/>
                  <a:cs typeface="Courier New"/>
                </a:rPr>
                <a:t>Receive</a:t>
              </a:r>
              <a:endParaRPr sz="1600">
                <a:latin typeface="Courier New"/>
                <a:cs typeface="Courier New"/>
              </a:endParaRPr>
            </a:p>
          </p:txBody>
        </p:sp>
        <p:grpSp>
          <p:nvGrpSpPr>
            <p:cNvPr id="100" name="object 100"/>
            <p:cNvGrpSpPr/>
            <p:nvPr/>
          </p:nvGrpSpPr>
          <p:grpSpPr>
            <a:xfrm>
              <a:off x="4015046" y="3412374"/>
              <a:ext cx="1787525" cy="644525"/>
              <a:chOff x="4015046" y="3412374"/>
              <a:chExt cx="1787525" cy="644525"/>
            </a:xfrm>
          </p:grpSpPr>
          <p:pic>
            <p:nvPicPr>
              <p:cNvPr id="101" name="object 101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4015046" y="3412374"/>
                <a:ext cx="1787236" cy="644236"/>
              </a:xfrm>
              <a:prstGeom prst="rect">
                <a:avLst/>
              </a:prstGeom>
            </p:spPr>
          </p:pic>
          <p:sp>
            <p:nvSpPr>
              <p:cNvPr id="102" name="object 102"/>
              <p:cNvSpPr/>
              <p:nvPr/>
            </p:nvSpPr>
            <p:spPr>
              <a:xfrm>
                <a:off x="4063663" y="3441149"/>
                <a:ext cx="932815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932814" h="542289">
                    <a:moveTo>
                      <a:pt x="932804" y="0"/>
                    </a:moveTo>
                    <a:lnTo>
                      <a:pt x="797339" y="1"/>
                    </a:lnTo>
                    <a:lnTo>
                      <a:pt x="743471" y="1376"/>
                    </a:lnTo>
                    <a:lnTo>
                      <a:pt x="690476" y="5446"/>
                    </a:lnTo>
                    <a:lnTo>
                      <a:pt x="638502" y="12129"/>
                    </a:lnTo>
                    <a:lnTo>
                      <a:pt x="587700" y="21339"/>
                    </a:lnTo>
                    <a:lnTo>
                      <a:pt x="538219" y="32996"/>
                    </a:lnTo>
                    <a:lnTo>
                      <a:pt x="490207" y="47015"/>
                    </a:lnTo>
                    <a:lnTo>
                      <a:pt x="443814" y="63313"/>
                    </a:lnTo>
                    <a:lnTo>
                      <a:pt x="399190" y="81807"/>
                    </a:lnTo>
                    <a:lnTo>
                      <a:pt x="356483" y="102414"/>
                    </a:lnTo>
                    <a:lnTo>
                      <a:pt x="315843" y="125051"/>
                    </a:lnTo>
                    <a:lnTo>
                      <a:pt x="277420" y="149635"/>
                    </a:lnTo>
                    <a:lnTo>
                      <a:pt x="241362" y="176082"/>
                    </a:lnTo>
                    <a:lnTo>
                      <a:pt x="207819" y="204309"/>
                    </a:lnTo>
                    <a:lnTo>
                      <a:pt x="176940" y="234233"/>
                    </a:lnTo>
                    <a:lnTo>
                      <a:pt x="148875" y="265772"/>
                    </a:lnTo>
                    <a:lnTo>
                      <a:pt x="123772" y="298841"/>
                    </a:lnTo>
                    <a:lnTo>
                      <a:pt x="101781" y="333357"/>
                    </a:lnTo>
                    <a:lnTo>
                      <a:pt x="83052" y="369238"/>
                    </a:lnTo>
                    <a:lnTo>
                      <a:pt x="67734" y="406401"/>
                    </a:lnTo>
                    <a:lnTo>
                      <a:pt x="0" y="406401"/>
                    </a:lnTo>
                    <a:lnTo>
                      <a:pt x="111539" y="541867"/>
                    </a:lnTo>
                    <a:lnTo>
                      <a:pt x="270932" y="406401"/>
                    </a:lnTo>
                    <a:lnTo>
                      <a:pt x="203200" y="406401"/>
                    </a:lnTo>
                    <a:lnTo>
                      <a:pt x="218518" y="369238"/>
                    </a:lnTo>
                    <a:lnTo>
                      <a:pt x="237248" y="333357"/>
                    </a:lnTo>
                    <a:lnTo>
                      <a:pt x="259238" y="298840"/>
                    </a:lnTo>
                    <a:lnTo>
                      <a:pt x="284341" y="265771"/>
                    </a:lnTo>
                    <a:lnTo>
                      <a:pt x="312406" y="234232"/>
                    </a:lnTo>
                    <a:lnTo>
                      <a:pt x="343285" y="204308"/>
                    </a:lnTo>
                    <a:lnTo>
                      <a:pt x="376828" y="176081"/>
                    </a:lnTo>
                    <a:lnTo>
                      <a:pt x="412886" y="149634"/>
                    </a:lnTo>
                    <a:lnTo>
                      <a:pt x="451310" y="125050"/>
                    </a:lnTo>
                    <a:lnTo>
                      <a:pt x="491949" y="102413"/>
                    </a:lnTo>
                    <a:lnTo>
                      <a:pt x="534656" y="81806"/>
                    </a:lnTo>
                    <a:lnTo>
                      <a:pt x="579280" y="63312"/>
                    </a:lnTo>
                    <a:lnTo>
                      <a:pt x="625673" y="47014"/>
                    </a:lnTo>
                    <a:lnTo>
                      <a:pt x="673685" y="32995"/>
                    </a:lnTo>
                    <a:lnTo>
                      <a:pt x="723166" y="21338"/>
                    </a:lnTo>
                    <a:lnTo>
                      <a:pt x="773968" y="12127"/>
                    </a:lnTo>
                    <a:lnTo>
                      <a:pt x="825942" y="5445"/>
                    </a:lnTo>
                    <a:lnTo>
                      <a:pt x="878937" y="1375"/>
                    </a:lnTo>
                    <a:lnTo>
                      <a:pt x="932804" y="0"/>
                    </a:lnTo>
                    <a:close/>
                  </a:path>
                </a:pathLst>
              </a:custGeom>
              <a:solidFill>
                <a:srgbClr val="A74A4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03"/>
              <p:cNvSpPr/>
              <p:nvPr/>
            </p:nvSpPr>
            <p:spPr>
              <a:xfrm>
                <a:off x="4928735" y="3441151"/>
                <a:ext cx="82169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821689" h="542289">
                    <a:moveTo>
                      <a:pt x="67734" y="0"/>
                    </a:moveTo>
                    <a:lnTo>
                      <a:pt x="50778" y="137"/>
                    </a:lnTo>
                    <a:lnTo>
                      <a:pt x="33832" y="548"/>
                    </a:lnTo>
                    <a:lnTo>
                      <a:pt x="16904" y="1233"/>
                    </a:lnTo>
                    <a:lnTo>
                      <a:pt x="0" y="2193"/>
                    </a:lnTo>
                    <a:lnTo>
                      <a:pt x="54836" y="7197"/>
                    </a:lnTo>
                    <a:lnTo>
                      <a:pt x="108302" y="14937"/>
                    </a:lnTo>
                    <a:lnTo>
                      <a:pt x="160264" y="25309"/>
                    </a:lnTo>
                    <a:lnTo>
                      <a:pt x="210589" y="38206"/>
                    </a:lnTo>
                    <a:lnTo>
                      <a:pt x="259141" y="53524"/>
                    </a:lnTo>
                    <a:lnTo>
                      <a:pt x="305788" y="71157"/>
                    </a:lnTo>
                    <a:lnTo>
                      <a:pt x="350395" y="91001"/>
                    </a:lnTo>
                    <a:lnTo>
                      <a:pt x="392829" y="112948"/>
                    </a:lnTo>
                    <a:lnTo>
                      <a:pt x="432955" y="136896"/>
                    </a:lnTo>
                    <a:lnTo>
                      <a:pt x="470641" y="162737"/>
                    </a:lnTo>
                    <a:lnTo>
                      <a:pt x="505752" y="190366"/>
                    </a:lnTo>
                    <a:lnTo>
                      <a:pt x="538154" y="219679"/>
                    </a:lnTo>
                    <a:lnTo>
                      <a:pt x="567714" y="250570"/>
                    </a:lnTo>
                    <a:lnTo>
                      <a:pt x="594297" y="282934"/>
                    </a:lnTo>
                    <a:lnTo>
                      <a:pt x="617770" y="316665"/>
                    </a:lnTo>
                    <a:lnTo>
                      <a:pt x="637999" y="351658"/>
                    </a:lnTo>
                    <a:lnTo>
                      <a:pt x="654850" y="387807"/>
                    </a:lnTo>
                    <a:lnTo>
                      <a:pt x="668190" y="425008"/>
                    </a:lnTo>
                    <a:lnTo>
                      <a:pt x="677884" y="463156"/>
                    </a:lnTo>
                    <a:lnTo>
                      <a:pt x="683798" y="502143"/>
                    </a:lnTo>
                    <a:lnTo>
                      <a:pt x="685800" y="541867"/>
                    </a:lnTo>
                    <a:lnTo>
                      <a:pt x="821267" y="541865"/>
                    </a:lnTo>
                    <a:lnTo>
                      <a:pt x="819200" y="501425"/>
                    </a:lnTo>
                    <a:lnTo>
                      <a:pt x="813096" y="461792"/>
                    </a:lnTo>
                    <a:lnTo>
                      <a:pt x="803102" y="423072"/>
                    </a:lnTo>
                    <a:lnTo>
                      <a:pt x="789363" y="385367"/>
                    </a:lnTo>
                    <a:lnTo>
                      <a:pt x="772024" y="348785"/>
                    </a:lnTo>
                    <a:lnTo>
                      <a:pt x="751231" y="313428"/>
                    </a:lnTo>
                    <a:lnTo>
                      <a:pt x="727131" y="279403"/>
                    </a:lnTo>
                    <a:lnTo>
                      <a:pt x="699868" y="246814"/>
                    </a:lnTo>
                    <a:lnTo>
                      <a:pt x="669588" y="215765"/>
                    </a:lnTo>
                    <a:lnTo>
                      <a:pt x="636438" y="186362"/>
                    </a:lnTo>
                    <a:lnTo>
                      <a:pt x="600562" y="158708"/>
                    </a:lnTo>
                    <a:lnTo>
                      <a:pt x="562107" y="132910"/>
                    </a:lnTo>
                    <a:lnTo>
                      <a:pt x="521218" y="109072"/>
                    </a:lnTo>
                    <a:lnTo>
                      <a:pt x="478040" y="87297"/>
                    </a:lnTo>
                    <a:lnTo>
                      <a:pt x="432721" y="67693"/>
                    </a:lnTo>
                    <a:lnTo>
                      <a:pt x="385404" y="50362"/>
                    </a:lnTo>
                    <a:lnTo>
                      <a:pt x="336237" y="35410"/>
                    </a:lnTo>
                    <a:lnTo>
                      <a:pt x="285364" y="22942"/>
                    </a:lnTo>
                    <a:lnTo>
                      <a:pt x="232932" y="13062"/>
                    </a:lnTo>
                    <a:lnTo>
                      <a:pt x="179085" y="5875"/>
                    </a:lnTo>
                    <a:lnTo>
                      <a:pt x="123971" y="1486"/>
                    </a:lnTo>
                    <a:lnTo>
                      <a:pt x="67734" y="0"/>
                    </a:lnTo>
                    <a:close/>
                  </a:path>
                </a:pathLst>
              </a:custGeom>
              <a:solidFill>
                <a:srgbClr val="8C3D3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04"/>
              <p:cNvSpPr/>
              <p:nvPr/>
            </p:nvSpPr>
            <p:spPr>
              <a:xfrm>
                <a:off x="4063663" y="3441150"/>
                <a:ext cx="168656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1686560" h="542289">
                    <a:moveTo>
                      <a:pt x="865071" y="2194"/>
                    </a:moveTo>
                    <a:lnTo>
                      <a:pt x="919908" y="7198"/>
                    </a:lnTo>
                    <a:lnTo>
                      <a:pt x="973374" y="14938"/>
                    </a:lnTo>
                    <a:lnTo>
                      <a:pt x="1025336" y="25310"/>
                    </a:lnTo>
                    <a:lnTo>
                      <a:pt x="1075660" y="38207"/>
                    </a:lnTo>
                    <a:lnTo>
                      <a:pt x="1124212" y="53525"/>
                    </a:lnTo>
                    <a:lnTo>
                      <a:pt x="1170859" y="71159"/>
                    </a:lnTo>
                    <a:lnTo>
                      <a:pt x="1215466" y="91002"/>
                    </a:lnTo>
                    <a:lnTo>
                      <a:pt x="1257900" y="112950"/>
                    </a:lnTo>
                    <a:lnTo>
                      <a:pt x="1298027" y="136897"/>
                    </a:lnTo>
                    <a:lnTo>
                      <a:pt x="1335712" y="162738"/>
                    </a:lnTo>
                    <a:lnTo>
                      <a:pt x="1370823" y="190367"/>
                    </a:lnTo>
                    <a:lnTo>
                      <a:pt x="1403226" y="219680"/>
                    </a:lnTo>
                    <a:lnTo>
                      <a:pt x="1432785" y="250571"/>
                    </a:lnTo>
                    <a:lnTo>
                      <a:pt x="1459368" y="282935"/>
                    </a:lnTo>
                    <a:lnTo>
                      <a:pt x="1482842" y="316666"/>
                    </a:lnTo>
                    <a:lnTo>
                      <a:pt x="1503071" y="351659"/>
                    </a:lnTo>
                    <a:lnTo>
                      <a:pt x="1519922" y="387808"/>
                    </a:lnTo>
                    <a:lnTo>
                      <a:pt x="1533261" y="425009"/>
                    </a:lnTo>
                    <a:lnTo>
                      <a:pt x="1542955" y="463156"/>
                    </a:lnTo>
                    <a:lnTo>
                      <a:pt x="1548870" y="502144"/>
                    </a:lnTo>
                    <a:lnTo>
                      <a:pt x="1550871" y="541867"/>
                    </a:lnTo>
                    <a:lnTo>
                      <a:pt x="1686338" y="541867"/>
                    </a:lnTo>
                    <a:lnTo>
                      <a:pt x="1684271" y="501427"/>
                    </a:lnTo>
                    <a:lnTo>
                      <a:pt x="1678168" y="461794"/>
                    </a:lnTo>
                    <a:lnTo>
                      <a:pt x="1668174" y="423073"/>
                    </a:lnTo>
                    <a:lnTo>
                      <a:pt x="1654434" y="385369"/>
                    </a:lnTo>
                    <a:lnTo>
                      <a:pt x="1637095" y="348786"/>
                    </a:lnTo>
                    <a:lnTo>
                      <a:pt x="1616303" y="313429"/>
                    </a:lnTo>
                    <a:lnTo>
                      <a:pt x="1592202" y="279404"/>
                    </a:lnTo>
                    <a:lnTo>
                      <a:pt x="1564939" y="246815"/>
                    </a:lnTo>
                    <a:lnTo>
                      <a:pt x="1534660" y="215766"/>
                    </a:lnTo>
                    <a:lnTo>
                      <a:pt x="1501509" y="186362"/>
                    </a:lnTo>
                    <a:lnTo>
                      <a:pt x="1465633" y="158709"/>
                    </a:lnTo>
                    <a:lnTo>
                      <a:pt x="1427178" y="132911"/>
                    </a:lnTo>
                    <a:lnTo>
                      <a:pt x="1386289" y="109072"/>
                    </a:lnTo>
                    <a:lnTo>
                      <a:pt x="1343112" y="87298"/>
                    </a:lnTo>
                    <a:lnTo>
                      <a:pt x="1297792" y="67693"/>
                    </a:lnTo>
                    <a:lnTo>
                      <a:pt x="1250476" y="50362"/>
                    </a:lnTo>
                    <a:lnTo>
                      <a:pt x="1201308" y="35410"/>
                    </a:lnTo>
                    <a:lnTo>
                      <a:pt x="1150436" y="22942"/>
                    </a:lnTo>
                    <a:lnTo>
                      <a:pt x="1098003" y="13062"/>
                    </a:lnTo>
                    <a:lnTo>
                      <a:pt x="1044157" y="5875"/>
                    </a:lnTo>
                    <a:lnTo>
                      <a:pt x="989042" y="1486"/>
                    </a:lnTo>
                    <a:lnTo>
                      <a:pt x="932805" y="0"/>
                    </a:lnTo>
                    <a:lnTo>
                      <a:pt x="797338" y="0"/>
                    </a:lnTo>
                    <a:lnTo>
                      <a:pt x="743471" y="1375"/>
                    </a:lnTo>
                    <a:lnTo>
                      <a:pt x="690475" y="5445"/>
                    </a:lnTo>
                    <a:lnTo>
                      <a:pt x="638502" y="12128"/>
                    </a:lnTo>
                    <a:lnTo>
                      <a:pt x="587700" y="21339"/>
                    </a:lnTo>
                    <a:lnTo>
                      <a:pt x="538219" y="32995"/>
                    </a:lnTo>
                    <a:lnTo>
                      <a:pt x="490207" y="47014"/>
                    </a:lnTo>
                    <a:lnTo>
                      <a:pt x="443814" y="63312"/>
                    </a:lnTo>
                    <a:lnTo>
                      <a:pt x="399190" y="81806"/>
                    </a:lnTo>
                    <a:lnTo>
                      <a:pt x="356483" y="102414"/>
                    </a:lnTo>
                    <a:lnTo>
                      <a:pt x="315843" y="125050"/>
                    </a:lnTo>
                    <a:lnTo>
                      <a:pt x="277420" y="149634"/>
                    </a:lnTo>
                    <a:lnTo>
                      <a:pt x="241362" y="176081"/>
                    </a:lnTo>
                    <a:lnTo>
                      <a:pt x="207819" y="204308"/>
                    </a:lnTo>
                    <a:lnTo>
                      <a:pt x="176940" y="234232"/>
                    </a:lnTo>
                    <a:lnTo>
                      <a:pt x="148875" y="265771"/>
                    </a:lnTo>
                    <a:lnTo>
                      <a:pt x="123772" y="298840"/>
                    </a:lnTo>
                    <a:lnTo>
                      <a:pt x="101781" y="333357"/>
                    </a:lnTo>
                    <a:lnTo>
                      <a:pt x="83052" y="369238"/>
                    </a:lnTo>
                    <a:lnTo>
                      <a:pt x="67733" y="406400"/>
                    </a:lnTo>
                    <a:lnTo>
                      <a:pt x="0" y="406400"/>
                    </a:lnTo>
                    <a:lnTo>
                      <a:pt x="111538" y="541867"/>
                    </a:lnTo>
                    <a:lnTo>
                      <a:pt x="270932" y="406400"/>
                    </a:lnTo>
                    <a:lnTo>
                      <a:pt x="203199" y="406400"/>
                    </a:lnTo>
                    <a:lnTo>
                      <a:pt x="218518" y="369237"/>
                    </a:lnTo>
                    <a:lnTo>
                      <a:pt x="237247" y="333356"/>
                    </a:lnTo>
                    <a:lnTo>
                      <a:pt x="259238" y="298839"/>
                    </a:lnTo>
                    <a:lnTo>
                      <a:pt x="284340" y="265770"/>
                    </a:lnTo>
                    <a:lnTo>
                      <a:pt x="312406" y="234232"/>
                    </a:lnTo>
                    <a:lnTo>
                      <a:pt x="343285" y="204308"/>
                    </a:lnTo>
                    <a:lnTo>
                      <a:pt x="376828" y="176081"/>
                    </a:lnTo>
                    <a:lnTo>
                      <a:pt x="412886" y="149634"/>
                    </a:lnTo>
                    <a:lnTo>
                      <a:pt x="451309" y="125050"/>
                    </a:lnTo>
                    <a:lnTo>
                      <a:pt x="491949" y="102413"/>
                    </a:lnTo>
                    <a:lnTo>
                      <a:pt x="534656" y="81806"/>
                    </a:lnTo>
                    <a:lnTo>
                      <a:pt x="579280" y="63312"/>
                    </a:lnTo>
                    <a:lnTo>
                      <a:pt x="625673" y="47014"/>
                    </a:lnTo>
                    <a:lnTo>
                      <a:pt x="673685" y="32995"/>
                    </a:lnTo>
                    <a:lnTo>
                      <a:pt x="723166" y="21338"/>
                    </a:lnTo>
                    <a:lnTo>
                      <a:pt x="773968" y="12127"/>
                    </a:lnTo>
                    <a:lnTo>
                      <a:pt x="825942" y="5445"/>
                    </a:lnTo>
                    <a:lnTo>
                      <a:pt x="878937" y="1375"/>
                    </a:lnTo>
                    <a:lnTo>
                      <a:pt x="932804" y="0"/>
                    </a:lnTo>
                  </a:path>
                </a:pathLst>
              </a:custGeom>
              <a:ln w="9524">
                <a:solidFill>
                  <a:srgbClr val="5B92C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105" name="object 105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106" name="object 10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Gh</a:t>
            </a:r>
            <a:r>
              <a:rPr sz="4000" spc="-5" dirty="0">
                <a:solidFill>
                  <a:srgbClr val="FFFFFF"/>
                </a:solidFill>
              </a:rPr>
              <a:t>os</a:t>
            </a:r>
            <a:r>
              <a:rPr sz="4000" dirty="0">
                <a:solidFill>
                  <a:srgbClr val="FFFFFF"/>
                </a:solidFill>
              </a:rPr>
              <a:t>t Cell Exchange</a:t>
            </a:r>
            <a:r>
              <a:rPr sz="4000" spc="-819" dirty="0">
                <a:solidFill>
                  <a:srgbClr val="FFFFFF"/>
                </a:solidFill>
              </a:rPr>
              <a:t>-­‐</a:t>
            </a:r>
            <a:r>
              <a:rPr sz="4000" dirty="0">
                <a:solidFill>
                  <a:srgbClr val="FFFFFF"/>
                </a:solidFill>
              </a:rPr>
              <a:t> Send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226282"/>
            <a:ext cx="7913370" cy="21113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363220" indent="-342900">
              <a:lnSpc>
                <a:spcPts val="23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Need to update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ghosts every iteration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so that a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process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has the </a:t>
            </a:r>
            <a:r>
              <a:rPr sz="2200" spc="-484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latest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values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This is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done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message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exchange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between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processes</a:t>
            </a:r>
            <a:endParaRPr sz="2200" dirty="0">
              <a:latin typeface="Calibri"/>
              <a:cs typeface="Calibri"/>
            </a:endParaRPr>
          </a:p>
          <a:p>
            <a:pPr marL="729615" marR="5080" indent="-279400">
              <a:lnSpc>
                <a:spcPts val="1900"/>
              </a:lnSpc>
              <a:spcBef>
                <a:spcPts val="265"/>
              </a:spcBef>
            </a:pPr>
            <a:r>
              <a:rPr sz="16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1600" spc="33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Note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that the elements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are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not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contiguous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in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memory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–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need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pack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a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message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at the </a:t>
            </a:r>
            <a:r>
              <a:rPr sz="1600" spc="-34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source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and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unpack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at the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destination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Calibri"/>
              <a:cs typeface="Calibri"/>
            </a:endParaRPr>
          </a:p>
          <a:p>
            <a:pPr marR="1275715" algn="ctr">
              <a:lnSpc>
                <a:spcPct val="100000"/>
              </a:lnSpc>
            </a:pPr>
            <a:r>
              <a:rPr sz="1600" spc="-5" dirty="0">
                <a:solidFill>
                  <a:srgbClr val="0000FF"/>
                </a:solidFill>
                <a:latin typeface="Courier New"/>
                <a:cs typeface="Courier New"/>
              </a:rPr>
              <a:t>Send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3942" y="4073235"/>
            <a:ext cx="1367443" cy="13425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3714" y="4102758"/>
            <a:ext cx="1266499" cy="12414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8313" y="4034976"/>
            <a:ext cx="1461768" cy="141612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184389" y="4050141"/>
            <a:ext cx="1905" cy="1389380"/>
          </a:xfrm>
          <a:custGeom>
            <a:avLst/>
            <a:gdLst/>
            <a:ahLst/>
            <a:cxnLst/>
            <a:rect l="l" t="t" r="r" b="b"/>
            <a:pathLst>
              <a:path w="1904" h="1389379">
                <a:moveTo>
                  <a:pt x="0" y="0"/>
                </a:moveTo>
                <a:lnTo>
                  <a:pt x="1420" y="138934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8988" y="4037441"/>
            <a:ext cx="190799" cy="1869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8988" y="4446711"/>
            <a:ext cx="190799" cy="1869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8988" y="4855983"/>
            <a:ext cx="190799" cy="1869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90408" y="5265254"/>
            <a:ext cx="190799" cy="186933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72587" y="4047381"/>
            <a:ext cx="1905" cy="1389380"/>
          </a:xfrm>
          <a:custGeom>
            <a:avLst/>
            <a:gdLst/>
            <a:ahLst/>
            <a:cxnLst/>
            <a:rect l="l" t="t" r="r" b="b"/>
            <a:pathLst>
              <a:path w="1905" h="1389379">
                <a:moveTo>
                  <a:pt x="0" y="0"/>
                </a:moveTo>
                <a:lnTo>
                  <a:pt x="1420" y="138934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7186" y="4034680"/>
            <a:ext cx="190799" cy="1869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7186" y="4443952"/>
            <a:ext cx="190799" cy="1869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7186" y="4853223"/>
            <a:ext cx="190799" cy="18693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8606" y="5262495"/>
            <a:ext cx="190799" cy="18693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2155286" y="4128148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10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55286" y="4537419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10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55286" y="4946691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10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56707" y="5355962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10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14135" y="5765528"/>
            <a:ext cx="1435100" cy="1905"/>
          </a:xfrm>
          <a:custGeom>
            <a:avLst/>
            <a:gdLst/>
            <a:ahLst/>
            <a:cxnLst/>
            <a:rect l="l" t="t" r="r" b="b"/>
            <a:pathLst>
              <a:path w="1435100" h="1904">
                <a:moveTo>
                  <a:pt x="0" y="0"/>
                </a:moveTo>
                <a:lnTo>
                  <a:pt x="1434944" y="137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1435" y="5672059"/>
            <a:ext cx="190797" cy="18693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2562" y="5673147"/>
            <a:ext cx="190798" cy="186933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3256387" y="5685848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56387" y="5685848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6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699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77516" y="5685848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77515" y="5685848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6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699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62555" y="568584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6"/>
                </a:lnTo>
                <a:lnTo>
                  <a:pt x="24222" y="23655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89" y="155186"/>
                </a:lnTo>
                <a:lnTo>
                  <a:pt x="141176" y="137877"/>
                </a:lnTo>
                <a:lnTo>
                  <a:pt x="158899" y="112204"/>
                </a:lnTo>
                <a:lnTo>
                  <a:pt x="165398" y="80766"/>
                </a:lnTo>
                <a:lnTo>
                  <a:pt x="158899" y="49328"/>
                </a:lnTo>
                <a:lnTo>
                  <a:pt x="141176" y="23655"/>
                </a:lnTo>
                <a:lnTo>
                  <a:pt x="114889" y="6346"/>
                </a:lnTo>
                <a:lnTo>
                  <a:pt x="82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62555" y="568584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89" y="6347"/>
                </a:lnTo>
                <a:lnTo>
                  <a:pt x="141176" y="23656"/>
                </a:lnTo>
                <a:lnTo>
                  <a:pt x="158899" y="49328"/>
                </a:lnTo>
                <a:lnTo>
                  <a:pt x="165397" y="80766"/>
                </a:lnTo>
                <a:lnTo>
                  <a:pt x="158899" y="112205"/>
                </a:lnTo>
                <a:lnTo>
                  <a:pt x="141176" y="137877"/>
                </a:lnTo>
                <a:lnTo>
                  <a:pt x="114889" y="155186"/>
                </a:lnTo>
                <a:lnTo>
                  <a:pt x="82699" y="161533"/>
                </a:lnTo>
                <a:lnTo>
                  <a:pt x="50508" y="155186"/>
                </a:lnTo>
                <a:lnTo>
                  <a:pt x="24221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1" y="23656"/>
                </a:lnTo>
                <a:lnTo>
                  <a:pt x="50508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83681" y="568614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89" y="155186"/>
                </a:lnTo>
                <a:lnTo>
                  <a:pt x="141176" y="137877"/>
                </a:lnTo>
                <a:lnTo>
                  <a:pt x="158899" y="112204"/>
                </a:lnTo>
                <a:lnTo>
                  <a:pt x="165398" y="80766"/>
                </a:lnTo>
                <a:lnTo>
                  <a:pt x="158899" y="49328"/>
                </a:lnTo>
                <a:lnTo>
                  <a:pt x="141176" y="23656"/>
                </a:lnTo>
                <a:lnTo>
                  <a:pt x="114889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83682" y="568614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89" y="6347"/>
                </a:lnTo>
                <a:lnTo>
                  <a:pt x="141176" y="23656"/>
                </a:lnTo>
                <a:lnTo>
                  <a:pt x="158899" y="49328"/>
                </a:lnTo>
                <a:lnTo>
                  <a:pt x="165397" y="80766"/>
                </a:lnTo>
                <a:lnTo>
                  <a:pt x="158899" y="112205"/>
                </a:lnTo>
                <a:lnTo>
                  <a:pt x="141176" y="137877"/>
                </a:lnTo>
                <a:lnTo>
                  <a:pt x="114889" y="155186"/>
                </a:lnTo>
                <a:lnTo>
                  <a:pt x="82699" y="161533"/>
                </a:lnTo>
                <a:lnTo>
                  <a:pt x="50508" y="155186"/>
                </a:lnTo>
                <a:lnTo>
                  <a:pt x="24221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1" y="23656"/>
                </a:lnTo>
                <a:lnTo>
                  <a:pt x="50508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11015" y="3719171"/>
            <a:ext cx="1435100" cy="1905"/>
          </a:xfrm>
          <a:custGeom>
            <a:avLst/>
            <a:gdLst/>
            <a:ahLst/>
            <a:cxnLst/>
            <a:rect l="l" t="t" r="r" b="b"/>
            <a:pathLst>
              <a:path w="1435100" h="1904">
                <a:moveTo>
                  <a:pt x="0" y="0"/>
                </a:moveTo>
                <a:lnTo>
                  <a:pt x="1434945" y="138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98313" y="3625705"/>
            <a:ext cx="190799" cy="18693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440" y="3626790"/>
            <a:ext cx="190799" cy="186933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3253267" y="363949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53267" y="363949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699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7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74395" y="363949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74395" y="3639490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1" y="49328"/>
                </a:lnTo>
                <a:lnTo>
                  <a:pt x="165400" y="80767"/>
                </a:lnTo>
                <a:lnTo>
                  <a:pt x="158901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7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59433" y="3639489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701" y="0"/>
                </a:moveTo>
                <a:lnTo>
                  <a:pt x="50510" y="6347"/>
                </a:lnTo>
                <a:lnTo>
                  <a:pt x="24222" y="23656"/>
                </a:lnTo>
                <a:lnTo>
                  <a:pt x="6499" y="49329"/>
                </a:lnTo>
                <a:lnTo>
                  <a:pt x="0" y="80768"/>
                </a:lnTo>
                <a:lnTo>
                  <a:pt x="6499" y="112206"/>
                </a:lnTo>
                <a:lnTo>
                  <a:pt x="24222" y="137878"/>
                </a:lnTo>
                <a:lnTo>
                  <a:pt x="50510" y="155186"/>
                </a:lnTo>
                <a:lnTo>
                  <a:pt x="82701" y="161533"/>
                </a:lnTo>
                <a:lnTo>
                  <a:pt x="114891" y="155186"/>
                </a:lnTo>
                <a:lnTo>
                  <a:pt x="141178" y="137878"/>
                </a:lnTo>
                <a:lnTo>
                  <a:pt x="158901" y="112206"/>
                </a:lnTo>
                <a:lnTo>
                  <a:pt x="165400" y="80768"/>
                </a:lnTo>
                <a:lnTo>
                  <a:pt x="158901" y="49329"/>
                </a:lnTo>
                <a:lnTo>
                  <a:pt x="141178" y="23656"/>
                </a:lnTo>
                <a:lnTo>
                  <a:pt x="114891" y="6347"/>
                </a:lnTo>
                <a:lnTo>
                  <a:pt x="827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59434" y="3639489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699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7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699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80561" y="3639784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80561" y="3639784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5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1" y="49328"/>
                </a:lnTo>
                <a:lnTo>
                  <a:pt x="165400" y="80767"/>
                </a:lnTo>
                <a:lnTo>
                  <a:pt x="158901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8" y="112205"/>
                </a:lnTo>
                <a:lnTo>
                  <a:pt x="0" y="80767"/>
                </a:lnTo>
                <a:lnTo>
                  <a:pt x="6498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493714" y="3799937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8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14841" y="3801023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8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42135" y="3801023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57096" y="3801023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12374" y="3902825"/>
            <a:ext cx="698269" cy="1733203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3461426" y="3930539"/>
            <a:ext cx="598170" cy="1634489"/>
          </a:xfrm>
          <a:custGeom>
            <a:avLst/>
            <a:gdLst/>
            <a:ahLst/>
            <a:cxnLst/>
            <a:rect l="l" t="t" r="r" b="b"/>
            <a:pathLst>
              <a:path w="598170" h="1634489">
                <a:moveTo>
                  <a:pt x="597576" y="0"/>
                </a:moveTo>
                <a:lnTo>
                  <a:pt x="0" y="0"/>
                </a:lnTo>
                <a:lnTo>
                  <a:pt x="0" y="1634064"/>
                </a:lnTo>
                <a:lnTo>
                  <a:pt x="597576" y="1634064"/>
                </a:lnTo>
                <a:lnTo>
                  <a:pt x="597576" y="0"/>
                </a:lnTo>
                <a:close/>
              </a:path>
            </a:pathLst>
          </a:custGeom>
          <a:solidFill>
            <a:srgbClr val="C1B3D1">
              <a:alpha val="4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61426" y="3930539"/>
            <a:ext cx="598170" cy="1634489"/>
          </a:xfrm>
          <a:custGeom>
            <a:avLst/>
            <a:gdLst/>
            <a:ahLst/>
            <a:cxnLst/>
            <a:rect l="l" t="t" r="r" b="b"/>
            <a:pathLst>
              <a:path w="598170" h="1634489">
                <a:moveTo>
                  <a:pt x="0" y="0"/>
                </a:moveTo>
                <a:lnTo>
                  <a:pt x="597575" y="0"/>
                </a:lnTo>
                <a:lnTo>
                  <a:pt x="597575" y="1634064"/>
                </a:lnTo>
                <a:lnTo>
                  <a:pt x="0" y="16340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77345" y="4064923"/>
            <a:ext cx="1367443" cy="134250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581" y="4090865"/>
            <a:ext cx="1266499" cy="124141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34180" y="4023081"/>
            <a:ext cx="1461768" cy="1416127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7520255" y="4038248"/>
            <a:ext cx="1905" cy="1389380"/>
          </a:xfrm>
          <a:custGeom>
            <a:avLst/>
            <a:gdLst/>
            <a:ahLst/>
            <a:cxnLst/>
            <a:rect l="l" t="t" r="r" b="b"/>
            <a:pathLst>
              <a:path w="1904" h="1389379">
                <a:moveTo>
                  <a:pt x="0" y="0"/>
                </a:moveTo>
                <a:lnTo>
                  <a:pt x="1420" y="138934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4855" y="4025546"/>
            <a:ext cx="190799" cy="18693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4855" y="4434818"/>
            <a:ext cx="190799" cy="18693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24855" y="4844089"/>
            <a:ext cx="190799" cy="18693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26275" y="5253361"/>
            <a:ext cx="190799" cy="186933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5408453" y="4035487"/>
            <a:ext cx="1905" cy="1389380"/>
          </a:xfrm>
          <a:custGeom>
            <a:avLst/>
            <a:gdLst/>
            <a:ahLst/>
            <a:cxnLst/>
            <a:rect l="l" t="t" r="r" b="b"/>
            <a:pathLst>
              <a:path w="1904" h="1389379">
                <a:moveTo>
                  <a:pt x="0" y="0"/>
                </a:moveTo>
                <a:lnTo>
                  <a:pt x="1420" y="138934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3053" y="4022787"/>
            <a:ext cx="190799" cy="18693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3053" y="4432058"/>
            <a:ext cx="190799" cy="186933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3053" y="4841330"/>
            <a:ext cx="190799" cy="186933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4473" y="5250601"/>
            <a:ext cx="190799" cy="186933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5491152" y="4116255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09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91152" y="4525525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09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91152" y="4934796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09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92573" y="5344068"/>
            <a:ext cx="1946910" cy="3175"/>
          </a:xfrm>
          <a:custGeom>
            <a:avLst/>
            <a:gdLst/>
            <a:ahLst/>
            <a:cxnLst/>
            <a:rect l="l" t="t" r="r" b="b"/>
            <a:pathLst>
              <a:path w="1946909" h="3175">
                <a:moveTo>
                  <a:pt x="0" y="0"/>
                </a:moveTo>
                <a:lnTo>
                  <a:pt x="1946403" y="27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750002" y="5753634"/>
            <a:ext cx="1435100" cy="1905"/>
          </a:xfrm>
          <a:custGeom>
            <a:avLst/>
            <a:gdLst/>
            <a:ahLst/>
            <a:cxnLst/>
            <a:rect l="l" t="t" r="r" b="b"/>
            <a:pathLst>
              <a:path w="1435100" h="1904">
                <a:moveTo>
                  <a:pt x="0" y="0"/>
                </a:moveTo>
                <a:lnTo>
                  <a:pt x="1434944" y="137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7301" y="5660166"/>
            <a:ext cx="190798" cy="18693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8428" y="5661253"/>
            <a:ext cx="190798" cy="186933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6592253" y="5673953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1" y="0"/>
                </a:moveTo>
                <a:lnTo>
                  <a:pt x="50510" y="6347"/>
                </a:lnTo>
                <a:lnTo>
                  <a:pt x="24222" y="23656"/>
                </a:lnTo>
                <a:lnTo>
                  <a:pt x="6499" y="49328"/>
                </a:lnTo>
                <a:lnTo>
                  <a:pt x="0" y="80766"/>
                </a:lnTo>
                <a:lnTo>
                  <a:pt x="6499" y="112204"/>
                </a:lnTo>
                <a:lnTo>
                  <a:pt x="24222" y="137877"/>
                </a:lnTo>
                <a:lnTo>
                  <a:pt x="50510" y="155186"/>
                </a:lnTo>
                <a:lnTo>
                  <a:pt x="82701" y="161533"/>
                </a:lnTo>
                <a:lnTo>
                  <a:pt x="114891" y="155186"/>
                </a:lnTo>
                <a:lnTo>
                  <a:pt x="141178" y="137877"/>
                </a:lnTo>
                <a:lnTo>
                  <a:pt x="158901" y="112204"/>
                </a:lnTo>
                <a:lnTo>
                  <a:pt x="165400" y="80766"/>
                </a:lnTo>
                <a:lnTo>
                  <a:pt x="158901" y="49328"/>
                </a:lnTo>
                <a:lnTo>
                  <a:pt x="141178" y="23656"/>
                </a:lnTo>
                <a:lnTo>
                  <a:pt x="114891" y="6347"/>
                </a:lnTo>
                <a:lnTo>
                  <a:pt x="82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592254" y="5673953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6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6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013383" y="5673953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013382" y="5673953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400" y="80766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6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598422" y="5673952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50508" y="6347"/>
                </a:lnTo>
                <a:lnTo>
                  <a:pt x="24221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1" y="137877"/>
                </a:lnTo>
                <a:lnTo>
                  <a:pt x="50508" y="155186"/>
                </a:lnTo>
                <a:lnTo>
                  <a:pt x="82698" y="161533"/>
                </a:lnTo>
                <a:lnTo>
                  <a:pt x="114888" y="155186"/>
                </a:lnTo>
                <a:lnTo>
                  <a:pt x="141175" y="137877"/>
                </a:lnTo>
                <a:lnTo>
                  <a:pt x="158898" y="112204"/>
                </a:lnTo>
                <a:lnTo>
                  <a:pt x="165397" y="80766"/>
                </a:lnTo>
                <a:lnTo>
                  <a:pt x="158898" y="49328"/>
                </a:lnTo>
                <a:lnTo>
                  <a:pt x="141175" y="23656"/>
                </a:lnTo>
                <a:lnTo>
                  <a:pt x="114888" y="6347"/>
                </a:lnTo>
                <a:lnTo>
                  <a:pt x="82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598421" y="5673952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114888" y="6347"/>
                </a:lnTo>
                <a:lnTo>
                  <a:pt x="141175" y="23656"/>
                </a:lnTo>
                <a:lnTo>
                  <a:pt x="158898" y="49328"/>
                </a:lnTo>
                <a:lnTo>
                  <a:pt x="165397" y="80766"/>
                </a:lnTo>
                <a:lnTo>
                  <a:pt x="158898" y="112205"/>
                </a:lnTo>
                <a:lnTo>
                  <a:pt x="141175" y="137877"/>
                </a:lnTo>
                <a:lnTo>
                  <a:pt x="114888" y="155186"/>
                </a:lnTo>
                <a:lnTo>
                  <a:pt x="82698" y="161533"/>
                </a:lnTo>
                <a:lnTo>
                  <a:pt x="50508" y="155186"/>
                </a:lnTo>
                <a:lnTo>
                  <a:pt x="24221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1" y="23656"/>
                </a:lnTo>
                <a:lnTo>
                  <a:pt x="50508" y="6347"/>
                </a:lnTo>
                <a:lnTo>
                  <a:pt x="82698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019549" y="567424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50508" y="6347"/>
                </a:lnTo>
                <a:lnTo>
                  <a:pt x="24221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1" y="137877"/>
                </a:lnTo>
                <a:lnTo>
                  <a:pt x="50508" y="155186"/>
                </a:lnTo>
                <a:lnTo>
                  <a:pt x="82698" y="161533"/>
                </a:lnTo>
                <a:lnTo>
                  <a:pt x="114888" y="155186"/>
                </a:lnTo>
                <a:lnTo>
                  <a:pt x="141175" y="137877"/>
                </a:lnTo>
                <a:lnTo>
                  <a:pt x="158898" y="112204"/>
                </a:lnTo>
                <a:lnTo>
                  <a:pt x="165397" y="80766"/>
                </a:lnTo>
                <a:lnTo>
                  <a:pt x="158898" y="49328"/>
                </a:lnTo>
                <a:lnTo>
                  <a:pt x="141175" y="23656"/>
                </a:lnTo>
                <a:lnTo>
                  <a:pt x="114888" y="6347"/>
                </a:lnTo>
                <a:lnTo>
                  <a:pt x="82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019548" y="567424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8" y="0"/>
                </a:moveTo>
                <a:lnTo>
                  <a:pt x="114888" y="6347"/>
                </a:lnTo>
                <a:lnTo>
                  <a:pt x="141175" y="23656"/>
                </a:lnTo>
                <a:lnTo>
                  <a:pt x="158898" y="49328"/>
                </a:lnTo>
                <a:lnTo>
                  <a:pt x="165397" y="80766"/>
                </a:lnTo>
                <a:lnTo>
                  <a:pt x="158898" y="112205"/>
                </a:lnTo>
                <a:lnTo>
                  <a:pt x="141175" y="137877"/>
                </a:lnTo>
                <a:lnTo>
                  <a:pt x="114888" y="155186"/>
                </a:lnTo>
                <a:lnTo>
                  <a:pt x="82698" y="161533"/>
                </a:lnTo>
                <a:lnTo>
                  <a:pt x="50508" y="155186"/>
                </a:lnTo>
                <a:lnTo>
                  <a:pt x="24221" y="137877"/>
                </a:lnTo>
                <a:lnTo>
                  <a:pt x="6498" y="112205"/>
                </a:lnTo>
                <a:lnTo>
                  <a:pt x="0" y="80766"/>
                </a:lnTo>
                <a:lnTo>
                  <a:pt x="6498" y="49328"/>
                </a:lnTo>
                <a:lnTo>
                  <a:pt x="24221" y="23656"/>
                </a:lnTo>
                <a:lnTo>
                  <a:pt x="50508" y="6347"/>
                </a:lnTo>
                <a:lnTo>
                  <a:pt x="82698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746881" y="3707277"/>
            <a:ext cx="1435100" cy="1905"/>
          </a:xfrm>
          <a:custGeom>
            <a:avLst/>
            <a:gdLst/>
            <a:ahLst/>
            <a:cxnLst/>
            <a:rect l="l" t="t" r="r" b="b"/>
            <a:pathLst>
              <a:path w="1435100" h="1904">
                <a:moveTo>
                  <a:pt x="0" y="0"/>
                </a:moveTo>
                <a:lnTo>
                  <a:pt x="1434945" y="138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4180" y="3613811"/>
            <a:ext cx="190799" cy="18693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5307" y="3614897"/>
            <a:ext cx="190799" cy="186933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6589134" y="3627597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8"/>
                </a:lnTo>
                <a:lnTo>
                  <a:pt x="0" y="80766"/>
                </a:lnTo>
                <a:lnTo>
                  <a:pt x="6498" y="112204"/>
                </a:lnTo>
                <a:lnTo>
                  <a:pt x="24222" y="137877"/>
                </a:lnTo>
                <a:lnTo>
                  <a:pt x="50509" y="155186"/>
                </a:lnTo>
                <a:lnTo>
                  <a:pt x="82699" y="161533"/>
                </a:lnTo>
                <a:lnTo>
                  <a:pt x="114890" y="155186"/>
                </a:lnTo>
                <a:lnTo>
                  <a:pt x="141177" y="137877"/>
                </a:lnTo>
                <a:lnTo>
                  <a:pt x="158900" y="112204"/>
                </a:lnTo>
                <a:lnTo>
                  <a:pt x="165399" y="80766"/>
                </a:lnTo>
                <a:lnTo>
                  <a:pt x="158900" y="49328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89134" y="3627597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7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010261" y="3627597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1" y="0"/>
                </a:moveTo>
                <a:lnTo>
                  <a:pt x="50510" y="6347"/>
                </a:lnTo>
                <a:lnTo>
                  <a:pt x="24222" y="23656"/>
                </a:lnTo>
                <a:lnTo>
                  <a:pt x="6499" y="49328"/>
                </a:lnTo>
                <a:lnTo>
                  <a:pt x="0" y="80766"/>
                </a:lnTo>
                <a:lnTo>
                  <a:pt x="6499" y="112204"/>
                </a:lnTo>
                <a:lnTo>
                  <a:pt x="24222" y="137877"/>
                </a:lnTo>
                <a:lnTo>
                  <a:pt x="50510" y="155186"/>
                </a:lnTo>
                <a:lnTo>
                  <a:pt x="82701" y="161533"/>
                </a:lnTo>
                <a:lnTo>
                  <a:pt x="114891" y="155186"/>
                </a:lnTo>
                <a:lnTo>
                  <a:pt x="141178" y="137877"/>
                </a:lnTo>
                <a:lnTo>
                  <a:pt x="158901" y="112204"/>
                </a:lnTo>
                <a:lnTo>
                  <a:pt x="165400" y="80766"/>
                </a:lnTo>
                <a:lnTo>
                  <a:pt x="158901" y="49328"/>
                </a:lnTo>
                <a:lnTo>
                  <a:pt x="141178" y="23656"/>
                </a:lnTo>
                <a:lnTo>
                  <a:pt x="114891" y="6347"/>
                </a:lnTo>
                <a:lnTo>
                  <a:pt x="82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010262" y="3627597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7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595299" y="362759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1" y="0"/>
                </a:moveTo>
                <a:lnTo>
                  <a:pt x="50510" y="6347"/>
                </a:lnTo>
                <a:lnTo>
                  <a:pt x="24222" y="23656"/>
                </a:lnTo>
                <a:lnTo>
                  <a:pt x="6499" y="49328"/>
                </a:lnTo>
                <a:lnTo>
                  <a:pt x="0" y="80766"/>
                </a:lnTo>
                <a:lnTo>
                  <a:pt x="6499" y="112204"/>
                </a:lnTo>
                <a:lnTo>
                  <a:pt x="24222" y="137877"/>
                </a:lnTo>
                <a:lnTo>
                  <a:pt x="50510" y="155186"/>
                </a:lnTo>
                <a:lnTo>
                  <a:pt x="82701" y="161533"/>
                </a:lnTo>
                <a:lnTo>
                  <a:pt x="114891" y="155186"/>
                </a:lnTo>
                <a:lnTo>
                  <a:pt x="141178" y="137877"/>
                </a:lnTo>
                <a:lnTo>
                  <a:pt x="158901" y="112204"/>
                </a:lnTo>
                <a:lnTo>
                  <a:pt x="165400" y="80766"/>
                </a:lnTo>
                <a:lnTo>
                  <a:pt x="158901" y="49328"/>
                </a:lnTo>
                <a:lnTo>
                  <a:pt x="141178" y="23656"/>
                </a:lnTo>
                <a:lnTo>
                  <a:pt x="114891" y="6347"/>
                </a:lnTo>
                <a:lnTo>
                  <a:pt x="827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595299" y="3627596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7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016428" y="3627889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699" y="0"/>
                </a:moveTo>
                <a:lnTo>
                  <a:pt x="50509" y="6347"/>
                </a:lnTo>
                <a:lnTo>
                  <a:pt x="24222" y="23656"/>
                </a:lnTo>
                <a:lnTo>
                  <a:pt x="6498" y="49329"/>
                </a:lnTo>
                <a:lnTo>
                  <a:pt x="0" y="80768"/>
                </a:lnTo>
                <a:lnTo>
                  <a:pt x="6498" y="112206"/>
                </a:lnTo>
                <a:lnTo>
                  <a:pt x="24222" y="137878"/>
                </a:lnTo>
                <a:lnTo>
                  <a:pt x="50509" y="155188"/>
                </a:lnTo>
                <a:lnTo>
                  <a:pt x="82699" y="161535"/>
                </a:lnTo>
                <a:lnTo>
                  <a:pt x="114890" y="155188"/>
                </a:lnTo>
                <a:lnTo>
                  <a:pt x="141177" y="137878"/>
                </a:lnTo>
                <a:lnTo>
                  <a:pt x="158900" y="112206"/>
                </a:lnTo>
                <a:lnTo>
                  <a:pt x="165399" y="80768"/>
                </a:lnTo>
                <a:lnTo>
                  <a:pt x="158900" y="49329"/>
                </a:lnTo>
                <a:lnTo>
                  <a:pt x="141177" y="23656"/>
                </a:lnTo>
                <a:lnTo>
                  <a:pt x="114890" y="6347"/>
                </a:lnTo>
                <a:lnTo>
                  <a:pt x="82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16428" y="3627889"/>
            <a:ext cx="165735" cy="161925"/>
          </a:xfrm>
          <a:custGeom>
            <a:avLst/>
            <a:gdLst/>
            <a:ahLst/>
            <a:cxnLst/>
            <a:rect l="l" t="t" r="r" b="b"/>
            <a:pathLst>
              <a:path w="165734" h="161925">
                <a:moveTo>
                  <a:pt x="82700" y="0"/>
                </a:moveTo>
                <a:lnTo>
                  <a:pt x="114890" y="6347"/>
                </a:lnTo>
                <a:lnTo>
                  <a:pt x="141177" y="23656"/>
                </a:lnTo>
                <a:lnTo>
                  <a:pt x="158900" y="49328"/>
                </a:lnTo>
                <a:lnTo>
                  <a:pt x="165399" y="80767"/>
                </a:lnTo>
                <a:lnTo>
                  <a:pt x="158900" y="112205"/>
                </a:lnTo>
                <a:lnTo>
                  <a:pt x="141177" y="137877"/>
                </a:lnTo>
                <a:lnTo>
                  <a:pt x="114890" y="155186"/>
                </a:lnTo>
                <a:lnTo>
                  <a:pt x="82700" y="161533"/>
                </a:lnTo>
                <a:lnTo>
                  <a:pt x="50509" y="155186"/>
                </a:lnTo>
                <a:lnTo>
                  <a:pt x="24222" y="137877"/>
                </a:lnTo>
                <a:lnTo>
                  <a:pt x="6499" y="112205"/>
                </a:lnTo>
                <a:lnTo>
                  <a:pt x="0" y="80767"/>
                </a:lnTo>
                <a:lnTo>
                  <a:pt x="6499" y="49328"/>
                </a:lnTo>
                <a:lnTo>
                  <a:pt x="24222" y="23656"/>
                </a:lnTo>
                <a:lnTo>
                  <a:pt x="50509" y="6347"/>
                </a:lnTo>
                <a:lnTo>
                  <a:pt x="8270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829580" y="3788042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250708" y="3789129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678001" y="3789129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92962" y="3789129"/>
            <a:ext cx="3175" cy="1885314"/>
          </a:xfrm>
          <a:custGeom>
            <a:avLst/>
            <a:gdLst/>
            <a:ahLst/>
            <a:cxnLst/>
            <a:rect l="l" t="t" r="r" b="b"/>
            <a:pathLst>
              <a:path w="3175" h="1885314">
                <a:moveTo>
                  <a:pt x="0" y="0"/>
                </a:moveTo>
                <a:lnTo>
                  <a:pt x="3119" y="18848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62451" y="3919450"/>
            <a:ext cx="698269" cy="1737360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5111085" y="3947472"/>
            <a:ext cx="598170" cy="1634489"/>
          </a:xfrm>
          <a:custGeom>
            <a:avLst/>
            <a:gdLst/>
            <a:ahLst/>
            <a:cxnLst/>
            <a:rect l="l" t="t" r="r" b="b"/>
            <a:pathLst>
              <a:path w="598170" h="1634489">
                <a:moveTo>
                  <a:pt x="597575" y="0"/>
                </a:moveTo>
                <a:lnTo>
                  <a:pt x="0" y="0"/>
                </a:lnTo>
                <a:lnTo>
                  <a:pt x="0" y="1634064"/>
                </a:lnTo>
                <a:lnTo>
                  <a:pt x="597575" y="1634064"/>
                </a:lnTo>
                <a:lnTo>
                  <a:pt x="597575" y="0"/>
                </a:lnTo>
                <a:close/>
              </a:path>
            </a:pathLst>
          </a:custGeom>
          <a:solidFill>
            <a:srgbClr val="C1B3D1">
              <a:alpha val="4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11085" y="3947472"/>
            <a:ext cx="598170" cy="1634489"/>
          </a:xfrm>
          <a:custGeom>
            <a:avLst/>
            <a:gdLst/>
            <a:ahLst/>
            <a:cxnLst/>
            <a:rect l="l" t="t" r="r" b="b"/>
            <a:pathLst>
              <a:path w="598170" h="1634489">
                <a:moveTo>
                  <a:pt x="0" y="0"/>
                </a:moveTo>
                <a:lnTo>
                  <a:pt x="597575" y="0"/>
                </a:lnTo>
                <a:lnTo>
                  <a:pt x="597575" y="1634065"/>
                </a:lnTo>
                <a:lnTo>
                  <a:pt x="0" y="163406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7" name="object 9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94760" y="3408217"/>
            <a:ext cx="1654232" cy="644236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4532501" y="3436342"/>
            <a:ext cx="868044" cy="542290"/>
          </a:xfrm>
          <a:custGeom>
            <a:avLst/>
            <a:gdLst/>
            <a:ahLst/>
            <a:cxnLst/>
            <a:rect l="l" t="t" r="r" b="b"/>
            <a:pathLst>
              <a:path w="868045" h="542289">
                <a:moveTo>
                  <a:pt x="135465" y="1"/>
                </a:moveTo>
                <a:lnTo>
                  <a:pt x="0" y="0"/>
                </a:lnTo>
                <a:lnTo>
                  <a:pt x="54802" y="1715"/>
                </a:lnTo>
                <a:lnTo>
                  <a:pt x="108592" y="6785"/>
                </a:lnTo>
                <a:lnTo>
                  <a:pt x="161179" y="15094"/>
                </a:lnTo>
                <a:lnTo>
                  <a:pt x="212373" y="26524"/>
                </a:lnTo>
                <a:lnTo>
                  <a:pt x="261984" y="40960"/>
                </a:lnTo>
                <a:lnTo>
                  <a:pt x="309823" y="58287"/>
                </a:lnTo>
                <a:lnTo>
                  <a:pt x="355699" y="78386"/>
                </a:lnTo>
                <a:lnTo>
                  <a:pt x="399423" y="101144"/>
                </a:lnTo>
                <a:lnTo>
                  <a:pt x="440804" y="126443"/>
                </a:lnTo>
                <a:lnTo>
                  <a:pt x="479653" y="154168"/>
                </a:lnTo>
                <a:lnTo>
                  <a:pt x="515779" y="184202"/>
                </a:lnTo>
                <a:lnTo>
                  <a:pt x="548994" y="216429"/>
                </a:lnTo>
                <a:lnTo>
                  <a:pt x="579107" y="250734"/>
                </a:lnTo>
                <a:lnTo>
                  <a:pt x="605927" y="286999"/>
                </a:lnTo>
                <a:lnTo>
                  <a:pt x="629266" y="325109"/>
                </a:lnTo>
                <a:lnTo>
                  <a:pt x="648934" y="364949"/>
                </a:lnTo>
                <a:lnTo>
                  <a:pt x="664739" y="406401"/>
                </a:lnTo>
                <a:lnTo>
                  <a:pt x="597006" y="406401"/>
                </a:lnTo>
                <a:lnTo>
                  <a:pt x="754273" y="541868"/>
                </a:lnTo>
                <a:lnTo>
                  <a:pt x="867939" y="406401"/>
                </a:lnTo>
                <a:lnTo>
                  <a:pt x="800205" y="406401"/>
                </a:lnTo>
                <a:lnTo>
                  <a:pt x="784399" y="364949"/>
                </a:lnTo>
                <a:lnTo>
                  <a:pt x="764732" y="325110"/>
                </a:lnTo>
                <a:lnTo>
                  <a:pt x="741393" y="287000"/>
                </a:lnTo>
                <a:lnTo>
                  <a:pt x="714573" y="250734"/>
                </a:lnTo>
                <a:lnTo>
                  <a:pt x="684460" y="216430"/>
                </a:lnTo>
                <a:lnTo>
                  <a:pt x="651245" y="184203"/>
                </a:lnTo>
                <a:lnTo>
                  <a:pt x="615119" y="154169"/>
                </a:lnTo>
                <a:lnTo>
                  <a:pt x="576270" y="126444"/>
                </a:lnTo>
                <a:lnTo>
                  <a:pt x="534888" y="101145"/>
                </a:lnTo>
                <a:lnTo>
                  <a:pt x="491165" y="78388"/>
                </a:lnTo>
                <a:lnTo>
                  <a:pt x="445289" y="58288"/>
                </a:lnTo>
                <a:lnTo>
                  <a:pt x="397450" y="40962"/>
                </a:lnTo>
                <a:lnTo>
                  <a:pt x="347839" y="26525"/>
                </a:lnTo>
                <a:lnTo>
                  <a:pt x="296645" y="15095"/>
                </a:lnTo>
                <a:lnTo>
                  <a:pt x="244058" y="6787"/>
                </a:lnTo>
                <a:lnTo>
                  <a:pt x="190268" y="1717"/>
                </a:lnTo>
                <a:lnTo>
                  <a:pt x="135465" y="1"/>
                </a:lnTo>
                <a:close/>
              </a:path>
            </a:pathLst>
          </a:custGeom>
          <a:solidFill>
            <a:srgbClr val="A74A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845961" y="3436344"/>
            <a:ext cx="754380" cy="542290"/>
          </a:xfrm>
          <a:custGeom>
            <a:avLst/>
            <a:gdLst/>
            <a:ahLst/>
            <a:cxnLst/>
            <a:rect l="l" t="t" r="r" b="b"/>
            <a:pathLst>
              <a:path w="754379" h="542289">
                <a:moveTo>
                  <a:pt x="686540" y="0"/>
                </a:moveTo>
                <a:lnTo>
                  <a:pt x="632887" y="1630"/>
                </a:lnTo>
                <a:lnTo>
                  <a:pt x="580364" y="6440"/>
                </a:lnTo>
                <a:lnTo>
                  <a:pt x="529122" y="14311"/>
                </a:lnTo>
                <a:lnTo>
                  <a:pt x="479316" y="25120"/>
                </a:lnTo>
                <a:lnTo>
                  <a:pt x="431096" y="38749"/>
                </a:lnTo>
                <a:lnTo>
                  <a:pt x="384617" y="55075"/>
                </a:lnTo>
                <a:lnTo>
                  <a:pt x="340030" y="73980"/>
                </a:lnTo>
                <a:lnTo>
                  <a:pt x="297488" y="95342"/>
                </a:lnTo>
                <a:lnTo>
                  <a:pt x="257144" y="119041"/>
                </a:lnTo>
                <a:lnTo>
                  <a:pt x="219150" y="144957"/>
                </a:lnTo>
                <a:lnTo>
                  <a:pt x="183660" y="172969"/>
                </a:lnTo>
                <a:lnTo>
                  <a:pt x="150825" y="202956"/>
                </a:lnTo>
                <a:lnTo>
                  <a:pt x="120798" y="234799"/>
                </a:lnTo>
                <a:lnTo>
                  <a:pt x="93732" y="268376"/>
                </a:lnTo>
                <a:lnTo>
                  <a:pt x="69780" y="303567"/>
                </a:lnTo>
                <a:lnTo>
                  <a:pt x="49094" y="340252"/>
                </a:lnTo>
                <a:lnTo>
                  <a:pt x="31827" y="378310"/>
                </a:lnTo>
                <a:lnTo>
                  <a:pt x="18132" y="417621"/>
                </a:lnTo>
                <a:lnTo>
                  <a:pt x="8160" y="458065"/>
                </a:lnTo>
                <a:lnTo>
                  <a:pt x="2065" y="499520"/>
                </a:lnTo>
                <a:lnTo>
                  <a:pt x="0" y="541867"/>
                </a:lnTo>
                <a:lnTo>
                  <a:pt x="135467" y="541867"/>
                </a:lnTo>
                <a:lnTo>
                  <a:pt x="137664" y="498284"/>
                </a:lnTo>
                <a:lnTo>
                  <a:pt x="144147" y="455596"/>
                </a:lnTo>
                <a:lnTo>
                  <a:pt x="154756" y="413942"/>
                </a:lnTo>
                <a:lnTo>
                  <a:pt x="169330" y="373463"/>
                </a:lnTo>
                <a:lnTo>
                  <a:pt x="187708" y="334300"/>
                </a:lnTo>
                <a:lnTo>
                  <a:pt x="209729" y="296592"/>
                </a:lnTo>
                <a:lnTo>
                  <a:pt x="235232" y="260480"/>
                </a:lnTo>
                <a:lnTo>
                  <a:pt x="264055" y="226103"/>
                </a:lnTo>
                <a:lnTo>
                  <a:pt x="296039" y="193603"/>
                </a:lnTo>
                <a:lnTo>
                  <a:pt x="331022" y="163119"/>
                </a:lnTo>
                <a:lnTo>
                  <a:pt x="368843" y="134792"/>
                </a:lnTo>
                <a:lnTo>
                  <a:pt x="409341" y="108762"/>
                </a:lnTo>
                <a:lnTo>
                  <a:pt x="452356" y="85169"/>
                </a:lnTo>
                <a:lnTo>
                  <a:pt x="497726" y="64153"/>
                </a:lnTo>
                <a:lnTo>
                  <a:pt x="545290" y="45855"/>
                </a:lnTo>
                <a:lnTo>
                  <a:pt x="594888" y="30415"/>
                </a:lnTo>
                <a:lnTo>
                  <a:pt x="646358" y="17973"/>
                </a:lnTo>
                <a:lnTo>
                  <a:pt x="699540" y="8669"/>
                </a:lnTo>
                <a:lnTo>
                  <a:pt x="754273" y="2642"/>
                </a:lnTo>
                <a:lnTo>
                  <a:pt x="737374" y="1486"/>
                </a:lnTo>
                <a:lnTo>
                  <a:pt x="720447" y="660"/>
                </a:lnTo>
                <a:lnTo>
                  <a:pt x="703500" y="165"/>
                </a:lnTo>
                <a:lnTo>
                  <a:pt x="686540" y="0"/>
                </a:lnTo>
                <a:close/>
              </a:path>
            </a:pathLst>
          </a:custGeom>
          <a:solidFill>
            <a:srgbClr val="8C3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845961" y="3436343"/>
            <a:ext cx="1554480" cy="542290"/>
          </a:xfrm>
          <a:custGeom>
            <a:avLst/>
            <a:gdLst/>
            <a:ahLst/>
            <a:cxnLst/>
            <a:rect l="l" t="t" r="r" b="b"/>
            <a:pathLst>
              <a:path w="1554479" h="542289">
                <a:moveTo>
                  <a:pt x="754273" y="2644"/>
                </a:moveTo>
                <a:lnTo>
                  <a:pt x="699540" y="8669"/>
                </a:lnTo>
                <a:lnTo>
                  <a:pt x="646358" y="17973"/>
                </a:lnTo>
                <a:lnTo>
                  <a:pt x="594888" y="30415"/>
                </a:lnTo>
                <a:lnTo>
                  <a:pt x="545290" y="45856"/>
                </a:lnTo>
                <a:lnTo>
                  <a:pt x="497725" y="64154"/>
                </a:lnTo>
                <a:lnTo>
                  <a:pt x="452356" y="85170"/>
                </a:lnTo>
                <a:lnTo>
                  <a:pt x="409341" y="108763"/>
                </a:lnTo>
                <a:lnTo>
                  <a:pt x="368843" y="134793"/>
                </a:lnTo>
                <a:lnTo>
                  <a:pt x="331022" y="163120"/>
                </a:lnTo>
                <a:lnTo>
                  <a:pt x="296039" y="193604"/>
                </a:lnTo>
                <a:lnTo>
                  <a:pt x="264055" y="226104"/>
                </a:lnTo>
                <a:lnTo>
                  <a:pt x="235232" y="260480"/>
                </a:lnTo>
                <a:lnTo>
                  <a:pt x="209729" y="296593"/>
                </a:lnTo>
                <a:lnTo>
                  <a:pt x="187708" y="334300"/>
                </a:lnTo>
                <a:lnTo>
                  <a:pt x="169331" y="373464"/>
                </a:lnTo>
                <a:lnTo>
                  <a:pt x="154757" y="413942"/>
                </a:lnTo>
                <a:lnTo>
                  <a:pt x="144147" y="455596"/>
                </a:lnTo>
                <a:lnTo>
                  <a:pt x="137664" y="498284"/>
                </a:lnTo>
                <a:lnTo>
                  <a:pt x="135467" y="541867"/>
                </a:lnTo>
                <a:lnTo>
                  <a:pt x="0" y="541867"/>
                </a:lnTo>
                <a:lnTo>
                  <a:pt x="2065" y="499520"/>
                </a:lnTo>
                <a:lnTo>
                  <a:pt x="8160" y="458065"/>
                </a:lnTo>
                <a:lnTo>
                  <a:pt x="18132" y="417622"/>
                </a:lnTo>
                <a:lnTo>
                  <a:pt x="31827" y="378311"/>
                </a:lnTo>
                <a:lnTo>
                  <a:pt x="49094" y="340252"/>
                </a:lnTo>
                <a:lnTo>
                  <a:pt x="69780" y="303568"/>
                </a:lnTo>
                <a:lnTo>
                  <a:pt x="93732" y="268376"/>
                </a:lnTo>
                <a:lnTo>
                  <a:pt x="120798" y="234799"/>
                </a:lnTo>
                <a:lnTo>
                  <a:pt x="150825" y="202957"/>
                </a:lnTo>
                <a:lnTo>
                  <a:pt x="183659" y="172969"/>
                </a:lnTo>
                <a:lnTo>
                  <a:pt x="219150" y="144958"/>
                </a:lnTo>
                <a:lnTo>
                  <a:pt x="257144" y="119042"/>
                </a:lnTo>
                <a:lnTo>
                  <a:pt x="297488" y="95343"/>
                </a:lnTo>
                <a:lnTo>
                  <a:pt x="340029" y="73981"/>
                </a:lnTo>
                <a:lnTo>
                  <a:pt x="384616" y="55076"/>
                </a:lnTo>
                <a:lnTo>
                  <a:pt x="431096" y="38749"/>
                </a:lnTo>
                <a:lnTo>
                  <a:pt x="479315" y="25121"/>
                </a:lnTo>
                <a:lnTo>
                  <a:pt x="529122" y="14311"/>
                </a:lnTo>
                <a:lnTo>
                  <a:pt x="580363" y="6441"/>
                </a:lnTo>
                <a:lnTo>
                  <a:pt x="632887" y="1630"/>
                </a:lnTo>
                <a:lnTo>
                  <a:pt x="686539" y="0"/>
                </a:lnTo>
                <a:lnTo>
                  <a:pt x="822006" y="0"/>
                </a:lnTo>
                <a:lnTo>
                  <a:pt x="876809" y="1716"/>
                </a:lnTo>
                <a:lnTo>
                  <a:pt x="930599" y="6786"/>
                </a:lnTo>
                <a:lnTo>
                  <a:pt x="983186" y="15094"/>
                </a:lnTo>
                <a:lnTo>
                  <a:pt x="1034380" y="26524"/>
                </a:lnTo>
                <a:lnTo>
                  <a:pt x="1083991" y="40961"/>
                </a:lnTo>
                <a:lnTo>
                  <a:pt x="1131829" y="58287"/>
                </a:lnTo>
                <a:lnTo>
                  <a:pt x="1177705" y="78387"/>
                </a:lnTo>
                <a:lnTo>
                  <a:pt x="1221429" y="101144"/>
                </a:lnTo>
                <a:lnTo>
                  <a:pt x="1262810" y="126443"/>
                </a:lnTo>
                <a:lnTo>
                  <a:pt x="1301659" y="154168"/>
                </a:lnTo>
                <a:lnTo>
                  <a:pt x="1337786" y="184202"/>
                </a:lnTo>
                <a:lnTo>
                  <a:pt x="1371000" y="216429"/>
                </a:lnTo>
                <a:lnTo>
                  <a:pt x="1401113" y="250733"/>
                </a:lnTo>
                <a:lnTo>
                  <a:pt x="1427934" y="286999"/>
                </a:lnTo>
                <a:lnTo>
                  <a:pt x="1451272" y="325109"/>
                </a:lnTo>
                <a:lnTo>
                  <a:pt x="1470940" y="364948"/>
                </a:lnTo>
                <a:lnTo>
                  <a:pt x="1486745" y="406400"/>
                </a:lnTo>
                <a:lnTo>
                  <a:pt x="1554479" y="406400"/>
                </a:lnTo>
                <a:lnTo>
                  <a:pt x="1440813" y="541867"/>
                </a:lnTo>
                <a:lnTo>
                  <a:pt x="1283546" y="406400"/>
                </a:lnTo>
                <a:lnTo>
                  <a:pt x="1351279" y="406400"/>
                </a:lnTo>
                <a:lnTo>
                  <a:pt x="1335474" y="364948"/>
                </a:lnTo>
                <a:lnTo>
                  <a:pt x="1315806" y="325109"/>
                </a:lnTo>
                <a:lnTo>
                  <a:pt x="1292467" y="286998"/>
                </a:lnTo>
                <a:lnTo>
                  <a:pt x="1265647" y="250733"/>
                </a:lnTo>
                <a:lnTo>
                  <a:pt x="1235534" y="216429"/>
                </a:lnTo>
                <a:lnTo>
                  <a:pt x="1202320" y="184202"/>
                </a:lnTo>
                <a:lnTo>
                  <a:pt x="1166193" y="154168"/>
                </a:lnTo>
                <a:lnTo>
                  <a:pt x="1127344" y="126443"/>
                </a:lnTo>
                <a:lnTo>
                  <a:pt x="1085963" y="101144"/>
                </a:lnTo>
                <a:lnTo>
                  <a:pt x="1042239" y="78386"/>
                </a:lnTo>
                <a:lnTo>
                  <a:pt x="996363" y="58286"/>
                </a:lnTo>
                <a:lnTo>
                  <a:pt x="948525" y="40960"/>
                </a:lnTo>
                <a:lnTo>
                  <a:pt x="898913" y="26524"/>
                </a:lnTo>
                <a:lnTo>
                  <a:pt x="847719" y="15094"/>
                </a:lnTo>
                <a:lnTo>
                  <a:pt x="795132" y="6785"/>
                </a:lnTo>
                <a:lnTo>
                  <a:pt x="741343" y="1715"/>
                </a:lnTo>
                <a:lnTo>
                  <a:pt x="686540" y="0"/>
                </a:lnTo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2976956" y="6215692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i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102" name="object 102"/>
          <p:cNvSpPr txBox="1"/>
          <p:nvPr/>
        </p:nvSpPr>
        <p:spPr>
          <a:xfrm>
            <a:off x="6076154" y="6272842"/>
            <a:ext cx="38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i+1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4" grpId="0" animBg="1"/>
      <p:bldP spid="5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8" grpId="0" animBg="1"/>
      <p:bldP spid="99" grpId="0" animBg="1"/>
      <p:bldP spid="100" grpId="0" animBg="1"/>
      <p:bldP spid="101" grpId="0"/>
      <p:bldP spid="10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Msg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Exchange</a:t>
            </a:r>
            <a:r>
              <a:rPr sz="4000" spc="-5" dirty="0">
                <a:solidFill>
                  <a:srgbClr val="FFFFFF"/>
                </a:solidFill>
              </a:rPr>
              <a:t> with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All Neighbors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06338" y="6783906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9023" y="1205962"/>
            <a:ext cx="7853045" cy="10718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5080" indent="-342900">
              <a:lnSpc>
                <a:spcPct val="789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How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many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processors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involved</a:t>
            </a:r>
            <a:r>
              <a:rPr sz="19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communication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depends</a:t>
            </a:r>
            <a:r>
              <a:rPr sz="19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on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numerical </a:t>
            </a:r>
            <a:r>
              <a:rPr sz="1900" spc="-409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algorithm 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and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domain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decomposition</a:t>
            </a:r>
            <a:endParaRPr sz="1900" dirty="0">
              <a:latin typeface="Calibri"/>
              <a:cs typeface="Calibri"/>
            </a:endParaRPr>
          </a:p>
          <a:p>
            <a:pPr marL="469900">
              <a:lnSpc>
                <a:spcPts val="1880"/>
              </a:lnSpc>
            </a:pPr>
            <a:r>
              <a:rPr sz="16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1600" spc="34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In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2D,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typically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sends/receives</a:t>
            </a:r>
            <a:r>
              <a:rPr sz="16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involve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4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neighbors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(N,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S,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W,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E)</a:t>
            </a:r>
            <a:endParaRPr sz="1600" dirty="0">
              <a:latin typeface="Calibri"/>
              <a:cs typeface="Calibri"/>
            </a:endParaRPr>
          </a:p>
          <a:p>
            <a:pPr marL="355600" indent="-342900">
              <a:lnSpc>
                <a:spcPts val="22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How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many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neighbors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there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19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3D</a:t>
            </a:r>
            <a:r>
              <a:rPr sz="19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215968"/>
                </a:solidFill>
                <a:latin typeface="Calibri"/>
                <a:cs typeface="Calibri"/>
              </a:rPr>
              <a:t>problems?</a:t>
            </a:r>
            <a:endParaRPr sz="19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75014" y="2996737"/>
            <a:ext cx="3524885" cy="3387725"/>
            <a:chOff x="1675014" y="2996737"/>
            <a:chExt cx="3524885" cy="33877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668" y="4035828"/>
              <a:ext cx="1367443" cy="13425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7704" y="4061814"/>
              <a:ext cx="1266499" cy="12414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303" y="3994031"/>
              <a:ext cx="1461768" cy="14161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98377" y="4009198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2977" y="3996497"/>
              <a:ext cx="190799" cy="1869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2977" y="4405768"/>
              <a:ext cx="190799" cy="1869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2977" y="4815039"/>
              <a:ext cx="190799" cy="1869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4397" y="5224311"/>
              <a:ext cx="190799" cy="18693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86576" y="4006437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5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1176" y="3993737"/>
              <a:ext cx="190799" cy="186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1176" y="4403008"/>
              <a:ext cx="190799" cy="1869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1176" y="4812280"/>
              <a:ext cx="190799" cy="1869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596" y="5221551"/>
              <a:ext cx="190799" cy="18693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69275" y="4087204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69275" y="4496475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69275" y="4905747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70695" y="5315018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28123" y="5724584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5424" y="5631116"/>
              <a:ext cx="190798" cy="1869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36551" y="5632203"/>
              <a:ext cx="190798" cy="18693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70376" y="564490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70376" y="564490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91504" y="564490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91504" y="564490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76543" y="56449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6"/>
                  </a:lnTo>
                  <a:lnTo>
                    <a:pt x="114889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76543" y="56449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8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97671" y="56451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97670" y="56451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25004" y="3678227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2303" y="3584761"/>
              <a:ext cx="190799" cy="1869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3430" y="3585847"/>
              <a:ext cx="190799" cy="1869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567257" y="359854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67257" y="359854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88385" y="359854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88385" y="359854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73423" y="35985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73422" y="359854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94551" y="359884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994550" y="359884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07703" y="3758994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28831" y="376008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56124" y="376008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71085" y="376008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5382" y="3258588"/>
              <a:ext cx="1737360" cy="69826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587571" y="3286779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1634065" y="0"/>
                  </a:moveTo>
                  <a:lnTo>
                    <a:pt x="0" y="0"/>
                  </a:lnTo>
                  <a:lnTo>
                    <a:pt x="0" y="597575"/>
                  </a:lnTo>
                  <a:lnTo>
                    <a:pt x="1634065" y="597575"/>
                  </a:lnTo>
                  <a:lnTo>
                    <a:pt x="163406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87571" y="3286778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0" y="597575"/>
                  </a:moveTo>
                  <a:lnTo>
                    <a:pt x="0" y="0"/>
                  </a:lnTo>
                  <a:lnTo>
                    <a:pt x="1634065" y="0"/>
                  </a:lnTo>
                  <a:lnTo>
                    <a:pt x="1634065" y="597575"/>
                  </a:lnTo>
                  <a:lnTo>
                    <a:pt x="0" y="5975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0520" y="3861261"/>
              <a:ext cx="698269" cy="173736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211271" y="3889597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4"/>
                  </a:lnTo>
                  <a:lnTo>
                    <a:pt x="597575" y="1634064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11271" y="3889597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0" y="0"/>
                  </a:moveTo>
                  <a:lnTo>
                    <a:pt x="597575" y="0"/>
                  </a:lnTo>
                  <a:lnTo>
                    <a:pt x="597575" y="1634064"/>
                  </a:lnTo>
                  <a:lnTo>
                    <a:pt x="0" y="16340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7646" y="3857105"/>
              <a:ext cx="698269" cy="1733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006508" y="3884354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69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5"/>
                  </a:lnTo>
                  <a:lnTo>
                    <a:pt x="597575" y="1634065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006508" y="3884354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69" h="1634489">
                  <a:moveTo>
                    <a:pt x="597575" y="1634065"/>
                  </a:moveTo>
                  <a:lnTo>
                    <a:pt x="0" y="1634065"/>
                  </a:lnTo>
                  <a:lnTo>
                    <a:pt x="0" y="0"/>
                  </a:lnTo>
                  <a:lnTo>
                    <a:pt x="597575" y="0"/>
                  </a:lnTo>
                  <a:lnTo>
                    <a:pt x="597575" y="16340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35382" y="5399116"/>
              <a:ext cx="1737360" cy="69826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587567" y="5427176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1634065" y="0"/>
                  </a:moveTo>
                  <a:lnTo>
                    <a:pt x="0" y="0"/>
                  </a:lnTo>
                  <a:lnTo>
                    <a:pt x="0" y="597576"/>
                  </a:lnTo>
                  <a:lnTo>
                    <a:pt x="1634065" y="597576"/>
                  </a:lnTo>
                  <a:lnTo>
                    <a:pt x="163406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87567" y="5427177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0" y="597575"/>
                  </a:moveTo>
                  <a:lnTo>
                    <a:pt x="0" y="0"/>
                  </a:lnTo>
                  <a:lnTo>
                    <a:pt x="1634065" y="0"/>
                  </a:lnTo>
                  <a:lnTo>
                    <a:pt x="1634065" y="597575"/>
                  </a:lnTo>
                  <a:lnTo>
                    <a:pt x="0" y="5975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34345" y="4472247"/>
              <a:ext cx="565265" cy="51123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685404" y="4499235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5" h="409575">
                  <a:moveTo>
                    <a:pt x="204636" y="0"/>
                  </a:moveTo>
                  <a:lnTo>
                    <a:pt x="0" y="204636"/>
                  </a:lnTo>
                  <a:lnTo>
                    <a:pt x="204636" y="409272"/>
                  </a:lnTo>
                  <a:lnTo>
                    <a:pt x="204636" y="306953"/>
                  </a:lnTo>
                  <a:lnTo>
                    <a:pt x="461648" y="306953"/>
                  </a:lnTo>
                  <a:lnTo>
                    <a:pt x="461648" y="102318"/>
                  </a:lnTo>
                  <a:lnTo>
                    <a:pt x="204636" y="102318"/>
                  </a:lnTo>
                  <a:lnTo>
                    <a:pt x="204636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85404" y="4499235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5" h="409575">
                  <a:moveTo>
                    <a:pt x="0" y="204635"/>
                  </a:moveTo>
                  <a:lnTo>
                    <a:pt x="204635" y="0"/>
                  </a:lnTo>
                  <a:lnTo>
                    <a:pt x="204635" y="102318"/>
                  </a:lnTo>
                  <a:lnTo>
                    <a:pt x="461647" y="102318"/>
                  </a:lnTo>
                  <a:lnTo>
                    <a:pt x="461647" y="306953"/>
                  </a:lnTo>
                  <a:lnTo>
                    <a:pt x="204635" y="306953"/>
                  </a:lnTo>
                  <a:lnTo>
                    <a:pt x="204635" y="409271"/>
                  </a:lnTo>
                  <a:lnTo>
                    <a:pt x="0" y="204635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21428" y="2996737"/>
              <a:ext cx="507076" cy="56526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170675" y="3025433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306955" y="0"/>
                  </a:moveTo>
                  <a:lnTo>
                    <a:pt x="102318" y="0"/>
                  </a:lnTo>
                  <a:lnTo>
                    <a:pt x="102318" y="257012"/>
                  </a:lnTo>
                  <a:lnTo>
                    <a:pt x="0" y="257012"/>
                  </a:lnTo>
                  <a:lnTo>
                    <a:pt x="204636" y="461648"/>
                  </a:lnTo>
                  <a:lnTo>
                    <a:pt x="409272" y="257012"/>
                  </a:lnTo>
                  <a:lnTo>
                    <a:pt x="306955" y="257012"/>
                  </a:lnTo>
                  <a:lnTo>
                    <a:pt x="306955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70675" y="3025434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204635" y="461647"/>
                  </a:moveTo>
                  <a:lnTo>
                    <a:pt x="0" y="257011"/>
                  </a:lnTo>
                  <a:lnTo>
                    <a:pt x="102318" y="257011"/>
                  </a:lnTo>
                  <a:lnTo>
                    <a:pt x="102318" y="0"/>
                  </a:lnTo>
                  <a:lnTo>
                    <a:pt x="306954" y="0"/>
                  </a:lnTo>
                  <a:lnTo>
                    <a:pt x="306954" y="257011"/>
                  </a:lnTo>
                  <a:lnTo>
                    <a:pt x="409271" y="257011"/>
                  </a:lnTo>
                  <a:lnTo>
                    <a:pt x="204635" y="461647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75014" y="4488872"/>
              <a:ext cx="561109" cy="50707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723660" y="4514795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4" h="409575">
                  <a:moveTo>
                    <a:pt x="257012" y="0"/>
                  </a:moveTo>
                  <a:lnTo>
                    <a:pt x="257012" y="102317"/>
                  </a:lnTo>
                  <a:lnTo>
                    <a:pt x="0" y="102317"/>
                  </a:lnTo>
                  <a:lnTo>
                    <a:pt x="0" y="306953"/>
                  </a:lnTo>
                  <a:lnTo>
                    <a:pt x="257012" y="306953"/>
                  </a:lnTo>
                  <a:lnTo>
                    <a:pt x="257012" y="409271"/>
                  </a:lnTo>
                  <a:lnTo>
                    <a:pt x="461647" y="204635"/>
                  </a:lnTo>
                  <a:lnTo>
                    <a:pt x="257012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23660" y="4514795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4" h="409575">
                  <a:moveTo>
                    <a:pt x="461647" y="204635"/>
                  </a:moveTo>
                  <a:lnTo>
                    <a:pt x="257012" y="409271"/>
                  </a:lnTo>
                  <a:lnTo>
                    <a:pt x="257012" y="306953"/>
                  </a:lnTo>
                  <a:lnTo>
                    <a:pt x="0" y="306953"/>
                  </a:lnTo>
                  <a:lnTo>
                    <a:pt x="0" y="102317"/>
                  </a:lnTo>
                  <a:lnTo>
                    <a:pt x="257012" y="102317"/>
                  </a:lnTo>
                  <a:lnTo>
                    <a:pt x="257012" y="0"/>
                  </a:lnTo>
                  <a:lnTo>
                    <a:pt x="461647" y="204635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87931" y="5823065"/>
              <a:ext cx="511232" cy="56110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237604" y="5849049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204636" y="0"/>
                  </a:moveTo>
                  <a:lnTo>
                    <a:pt x="0" y="204636"/>
                  </a:lnTo>
                  <a:lnTo>
                    <a:pt x="102318" y="204636"/>
                  </a:lnTo>
                  <a:lnTo>
                    <a:pt x="102318" y="461648"/>
                  </a:lnTo>
                  <a:lnTo>
                    <a:pt x="306953" y="461648"/>
                  </a:lnTo>
                  <a:lnTo>
                    <a:pt x="306953" y="204636"/>
                  </a:lnTo>
                  <a:lnTo>
                    <a:pt x="409272" y="204636"/>
                  </a:lnTo>
                  <a:lnTo>
                    <a:pt x="204636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37605" y="5849049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204635" y="0"/>
                  </a:moveTo>
                  <a:lnTo>
                    <a:pt x="409271" y="204635"/>
                  </a:lnTo>
                  <a:lnTo>
                    <a:pt x="306953" y="204635"/>
                  </a:lnTo>
                  <a:lnTo>
                    <a:pt x="306953" y="461647"/>
                  </a:lnTo>
                  <a:lnTo>
                    <a:pt x="102317" y="461647"/>
                  </a:lnTo>
                  <a:lnTo>
                    <a:pt x="102317" y="204635"/>
                  </a:lnTo>
                  <a:lnTo>
                    <a:pt x="0" y="204635"/>
                  </a:lnTo>
                  <a:lnTo>
                    <a:pt x="20463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225793" y="4451532"/>
            <a:ext cx="848994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East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89562" y="2529599"/>
            <a:ext cx="94043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north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14997" y="4038371"/>
            <a:ext cx="848994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West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041679" y="6507671"/>
            <a:ext cx="94043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south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612774" y="2930236"/>
            <a:ext cx="2324100" cy="2653030"/>
            <a:chOff x="6612774" y="2930236"/>
            <a:chExt cx="2324100" cy="2653030"/>
          </a:xfrm>
        </p:grpSpPr>
        <p:pic>
          <p:nvPicPr>
            <p:cNvPr id="79" name="object 7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4912" y="3798915"/>
              <a:ext cx="1367443" cy="134250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4030" y="3827230"/>
              <a:ext cx="1266499" cy="1241411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144030" y="3827230"/>
              <a:ext cx="1266825" cy="1241425"/>
            </a:xfrm>
            <a:custGeom>
              <a:avLst/>
              <a:gdLst/>
              <a:ahLst/>
              <a:cxnLst/>
              <a:rect l="l" t="t" r="r" b="b"/>
              <a:pathLst>
                <a:path w="1266825" h="1241425">
                  <a:moveTo>
                    <a:pt x="0" y="0"/>
                  </a:moveTo>
                  <a:lnTo>
                    <a:pt x="1266498" y="0"/>
                  </a:lnTo>
                  <a:lnTo>
                    <a:pt x="1266498" y="1241411"/>
                  </a:lnTo>
                  <a:lnTo>
                    <a:pt x="0" y="1241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9A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11840" y="5486946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837825" y="3524115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808721" y="3440588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726021" y="3521355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30621" y="3347122"/>
              <a:ext cx="190799" cy="18693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0621" y="3756393"/>
              <a:ext cx="190799" cy="18693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0621" y="4165664"/>
              <a:ext cx="190799" cy="18693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0621" y="4574935"/>
              <a:ext cx="190799" cy="18693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041" y="4984206"/>
              <a:ext cx="190799" cy="18693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1748" y="3347416"/>
              <a:ext cx="190799" cy="186933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51748" y="3756687"/>
              <a:ext cx="190799" cy="186933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51748" y="4165958"/>
              <a:ext cx="190799" cy="18693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51748" y="4575229"/>
              <a:ext cx="190799" cy="18693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53168" y="4984499"/>
              <a:ext cx="190799" cy="186933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2875" y="3348502"/>
              <a:ext cx="190799" cy="18693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72875" y="3757773"/>
              <a:ext cx="190799" cy="186933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72875" y="4167044"/>
              <a:ext cx="190799" cy="186933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72875" y="4576315"/>
              <a:ext cx="190799" cy="186933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74295" y="4985585"/>
              <a:ext cx="190799" cy="18693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906704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906703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906704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906703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906704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906703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906704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06703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400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08123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908123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327830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327830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327830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327830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327830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327830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327830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327830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329249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5"/>
                  </a:lnTo>
                  <a:lnTo>
                    <a:pt x="24222" y="137878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8"/>
                  </a:lnTo>
                  <a:lnTo>
                    <a:pt x="158901" y="112205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329250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912868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912869" y="3361202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912868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912869" y="377047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912868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912869" y="417974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912868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12869" y="458901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914289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5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5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914289" y="499828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333996" y="336149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333996" y="336149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8333996" y="3770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8333996" y="377076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8333996" y="41800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333996" y="418003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333996" y="458930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333996" y="458930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335416" y="499858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335416" y="499858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42423" y="3349882"/>
              <a:ext cx="190799" cy="186933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2423" y="3759153"/>
              <a:ext cx="190799" cy="18693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2423" y="4168424"/>
              <a:ext cx="190799" cy="186933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2423" y="4577695"/>
              <a:ext cx="190799" cy="186933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3842" y="4986966"/>
              <a:ext cx="190799" cy="186933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33743" y="5393477"/>
              <a:ext cx="190797" cy="186933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4869" y="5393771"/>
              <a:ext cx="190797" cy="186933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5996" y="5394857"/>
              <a:ext cx="190797" cy="186933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7908403" y="377047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908402" y="377047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908403" y="417974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908402" y="417974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908403" y="458901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908402" y="458901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908403" y="49982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908402" y="49982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909821" y="540755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909821" y="540755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329528" y="377047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329528" y="377047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329528" y="417974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329528" y="4179745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7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329528" y="458901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6"/>
                  </a:lnTo>
                  <a:lnTo>
                    <a:pt x="24222" y="23655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5"/>
                  </a:lnTo>
                  <a:lnTo>
                    <a:pt x="114890" y="6346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329528" y="458901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329528" y="49982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329528" y="4998286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8330948" y="540755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8330948" y="5407558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6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9" y="112205"/>
                  </a:lnTo>
                  <a:lnTo>
                    <a:pt x="0" y="80766"/>
                  </a:lnTo>
                  <a:lnTo>
                    <a:pt x="6499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915990" y="540755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915989" y="540755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337118" y="540785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50508" y="6347"/>
                  </a:lnTo>
                  <a:lnTo>
                    <a:pt x="24221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6"/>
                  </a:lnTo>
                  <a:lnTo>
                    <a:pt x="114888" y="6347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337118" y="540785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4" h="161925">
                  <a:moveTo>
                    <a:pt x="82698" y="0"/>
                  </a:moveTo>
                  <a:lnTo>
                    <a:pt x="114888" y="6347"/>
                  </a:lnTo>
                  <a:lnTo>
                    <a:pt x="141175" y="23656"/>
                  </a:lnTo>
                  <a:lnTo>
                    <a:pt x="158898" y="49328"/>
                  </a:lnTo>
                  <a:lnTo>
                    <a:pt x="165397" y="80766"/>
                  </a:lnTo>
                  <a:lnTo>
                    <a:pt x="158898" y="112205"/>
                  </a:lnTo>
                  <a:lnTo>
                    <a:pt x="141175" y="137877"/>
                  </a:lnTo>
                  <a:lnTo>
                    <a:pt x="114888" y="155186"/>
                  </a:lnTo>
                  <a:lnTo>
                    <a:pt x="82698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8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45545" y="5396237"/>
              <a:ext cx="190797" cy="186933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6808721" y="3849860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808721" y="4259131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808721" y="4668403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810141" y="5077673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09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47148" y="352165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568276" y="352273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995569" y="352273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410530" y="3522736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12774" y="2930236"/>
              <a:ext cx="2277686" cy="46966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6672860" y="2970878"/>
              <a:ext cx="2156460" cy="361950"/>
            </a:xfrm>
            <a:custGeom>
              <a:avLst/>
              <a:gdLst/>
              <a:ahLst/>
              <a:cxnLst/>
              <a:rect l="l" t="t" r="r" b="b"/>
              <a:pathLst>
                <a:path w="2156459" h="361950">
                  <a:moveTo>
                    <a:pt x="0" y="361605"/>
                  </a:moveTo>
                  <a:lnTo>
                    <a:pt x="2367" y="291229"/>
                  </a:lnTo>
                  <a:lnTo>
                    <a:pt x="8825" y="233758"/>
                  </a:lnTo>
                  <a:lnTo>
                    <a:pt x="18403" y="195011"/>
                  </a:lnTo>
                  <a:lnTo>
                    <a:pt x="30133" y="180802"/>
                  </a:lnTo>
                  <a:lnTo>
                    <a:pt x="1076466" y="180802"/>
                  </a:lnTo>
                  <a:lnTo>
                    <a:pt x="1088195" y="166594"/>
                  </a:lnTo>
                  <a:lnTo>
                    <a:pt x="1097773" y="127846"/>
                  </a:lnTo>
                  <a:lnTo>
                    <a:pt x="1104231" y="70376"/>
                  </a:lnTo>
                  <a:lnTo>
                    <a:pt x="1106599" y="0"/>
                  </a:lnTo>
                  <a:lnTo>
                    <a:pt x="1108967" y="70376"/>
                  </a:lnTo>
                  <a:lnTo>
                    <a:pt x="1115424" y="127846"/>
                  </a:lnTo>
                  <a:lnTo>
                    <a:pt x="1125002" y="166594"/>
                  </a:lnTo>
                  <a:lnTo>
                    <a:pt x="1136732" y="180802"/>
                  </a:lnTo>
                  <a:lnTo>
                    <a:pt x="2125717" y="180802"/>
                  </a:lnTo>
                  <a:lnTo>
                    <a:pt x="2137447" y="195011"/>
                  </a:lnTo>
                  <a:lnTo>
                    <a:pt x="2147025" y="233758"/>
                  </a:lnTo>
                  <a:lnTo>
                    <a:pt x="2153482" y="291229"/>
                  </a:lnTo>
                  <a:lnTo>
                    <a:pt x="2155850" y="36160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7311707" y="2615026"/>
            <a:ext cx="9213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Ghost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cells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6315363" y="5659739"/>
            <a:ext cx="3145790" cy="657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98200"/>
              </a:lnSpc>
              <a:spcBef>
                <a:spcPts val="130"/>
              </a:spcBef>
            </a:pP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If the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computation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uses the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corner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cells in </a:t>
            </a:r>
            <a:r>
              <a:rPr sz="1400" spc="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the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update,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then need to exchange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ghosts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with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4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more processes: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 NE, </a:t>
            </a:r>
            <a:r>
              <a:rPr sz="1400" spc="-5" dirty="0">
                <a:solidFill>
                  <a:srgbClr val="800000"/>
                </a:solidFill>
                <a:latin typeface="Calibri"/>
                <a:cs typeface="Calibri"/>
              </a:rPr>
              <a:t>NW, </a:t>
            </a:r>
            <a:r>
              <a:rPr sz="1400" dirty="0">
                <a:solidFill>
                  <a:srgbClr val="800000"/>
                </a:solidFill>
                <a:latin typeface="Calibri"/>
                <a:cs typeface="Calibri"/>
              </a:rPr>
              <a:t>SE and SW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Ghost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Cell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Exchange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223742"/>
            <a:ext cx="7240905" cy="10439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5080" indent="-342900">
              <a:lnSpc>
                <a:spcPts val="25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What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happens to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processors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that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are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at the edge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physical domain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the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problem?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9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2000" spc="-15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For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example,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no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north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west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neighbors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for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P0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48021" y="2872176"/>
          <a:ext cx="3362324" cy="25627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424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5B92C7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11658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P3	</a:t>
                      </a:r>
                      <a:r>
                        <a:rPr sz="2700" baseline="-7716" dirty="0">
                          <a:solidFill>
                            <a:srgbClr val="215968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2700" baseline="-7716">
                        <a:latin typeface="Arial MT"/>
                        <a:cs typeface="Arial MT"/>
                      </a:endParaRPr>
                    </a:p>
                  </a:txBody>
                  <a:tcPr marL="0" marR="0" marT="546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267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5B92C7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0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2C7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822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8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2C7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P15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233324" y="2946787"/>
            <a:ext cx="4133215" cy="174053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9525">
              <a:lnSpc>
                <a:spcPts val="2100"/>
              </a:lnSpc>
              <a:spcBef>
                <a:spcPts val="219"/>
              </a:spcBef>
            </a:pP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Depends</a:t>
            </a:r>
            <a:r>
              <a:rPr sz="18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again</a:t>
            </a:r>
            <a:r>
              <a:rPr sz="18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on</a:t>
            </a:r>
            <a:r>
              <a:rPr sz="18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numerical</a:t>
            </a:r>
            <a:r>
              <a:rPr sz="18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algorithms’ </a:t>
            </a:r>
            <a:r>
              <a:rPr sz="1800" spc="-39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boundary condition</a:t>
            </a:r>
            <a:endParaRPr sz="1800">
              <a:latin typeface="Calibri"/>
              <a:cs typeface="Calibri"/>
            </a:endParaRPr>
          </a:p>
          <a:p>
            <a:pPr marL="412750" indent="-285750">
              <a:lnSpc>
                <a:spcPct val="100000"/>
              </a:lnSpc>
              <a:spcBef>
                <a:spcPts val="365"/>
              </a:spcBef>
              <a:buFont typeface="Courier New"/>
              <a:buChar char="o"/>
              <a:tabLst>
                <a:tab pos="412750" algn="l"/>
              </a:tabLst>
            </a:pP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If it is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periodic,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then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P0’s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west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neighbor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is P3</a:t>
            </a:r>
            <a:endParaRPr sz="1600">
              <a:latin typeface="Calibri"/>
              <a:cs typeface="Calibri"/>
            </a:endParaRPr>
          </a:p>
          <a:p>
            <a:pPr marL="412750" indent="-285750">
              <a:lnSpc>
                <a:spcPct val="100000"/>
              </a:lnSpc>
              <a:spcBef>
                <a:spcPts val="380"/>
              </a:spcBef>
              <a:buFont typeface="Courier New"/>
              <a:buChar char="o"/>
              <a:tabLst>
                <a:tab pos="412750" algn="l"/>
              </a:tabLst>
            </a:pP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Or</a:t>
            </a:r>
            <a:r>
              <a:rPr sz="1600" spc="-2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it</a:t>
            </a:r>
            <a:r>
              <a:rPr sz="16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may</a:t>
            </a:r>
            <a:r>
              <a:rPr sz="1600" spc="-2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mirror</a:t>
            </a:r>
            <a:r>
              <a:rPr sz="16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itself</a:t>
            </a:r>
            <a:endParaRPr sz="1600">
              <a:latin typeface="Calibri"/>
              <a:cs typeface="Calibri"/>
            </a:endParaRPr>
          </a:p>
          <a:p>
            <a:pPr marL="412750" indent="-285750">
              <a:lnSpc>
                <a:spcPct val="100000"/>
              </a:lnSpc>
              <a:spcBef>
                <a:spcPts val="380"/>
              </a:spcBef>
              <a:buFont typeface="Courier New"/>
              <a:buChar char="o"/>
              <a:tabLst>
                <a:tab pos="412750" algn="l"/>
              </a:tabLst>
            </a:pP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Or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it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may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be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set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a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constant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value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(zero).</a:t>
            </a:r>
            <a:endParaRPr sz="1600">
              <a:latin typeface="Calibri"/>
              <a:cs typeface="Calibri"/>
            </a:endParaRPr>
          </a:p>
          <a:p>
            <a:pPr marL="412750" indent="-285750">
              <a:lnSpc>
                <a:spcPct val="100000"/>
              </a:lnSpc>
              <a:spcBef>
                <a:spcPts val="375"/>
              </a:spcBef>
              <a:buFont typeface="Courier New"/>
              <a:buChar char="o"/>
              <a:tabLst>
                <a:tab pos="412750" algn="l"/>
              </a:tabLst>
            </a:pP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Or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it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may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use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function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16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calculate</a:t>
            </a:r>
            <a:r>
              <a:rPr sz="16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its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value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04356" y="2838796"/>
            <a:ext cx="2876550" cy="2668905"/>
            <a:chOff x="1604356" y="2838796"/>
            <a:chExt cx="2876550" cy="26689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4356" y="2838796"/>
              <a:ext cx="793865" cy="7398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52783" y="28647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356" y="3478876"/>
              <a:ext cx="793865" cy="7398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52783" y="35056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8468" y="2838796"/>
              <a:ext cx="793865" cy="739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47388" y="28647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8468" y="3478876"/>
              <a:ext cx="793865" cy="7398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47388" y="35056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2582" y="2838796"/>
              <a:ext cx="793865" cy="7398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41994" y="286476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2582" y="3478876"/>
              <a:ext cx="793865" cy="7398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41994" y="3505601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6694" y="2838796"/>
              <a:ext cx="793865" cy="7398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4356" y="4127268"/>
              <a:ext cx="793865" cy="7398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52784" y="41533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4356" y="4767348"/>
              <a:ext cx="793865" cy="73983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52784" y="47941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98468" y="4127268"/>
              <a:ext cx="793865" cy="73983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47389" y="41533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8468" y="4767348"/>
              <a:ext cx="793865" cy="73983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36599" y="28647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6599" y="28647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86694" y="3478876"/>
              <a:ext cx="793865" cy="7398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36599" y="35056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36599" y="3505602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47389" y="4794137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92582" y="4118956"/>
              <a:ext cx="793865" cy="73983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41994" y="41464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3"/>
                  </a:lnTo>
                  <a:lnTo>
                    <a:pt x="694604" y="640833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92582" y="4759036"/>
              <a:ext cx="793865" cy="74398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41994" y="4787268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6694" y="4118956"/>
              <a:ext cx="793865" cy="73983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736599" y="41464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36599" y="4146435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86694" y="4759036"/>
              <a:ext cx="793865" cy="743988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731836" y="4782507"/>
            <a:ext cx="704215" cy="650875"/>
            <a:chOff x="3731836" y="4782507"/>
            <a:chExt cx="704215" cy="650875"/>
          </a:xfrm>
        </p:grpSpPr>
        <p:sp>
          <p:nvSpPr>
            <p:cNvPr id="42" name="object 42"/>
            <p:cNvSpPr/>
            <p:nvPr/>
          </p:nvSpPr>
          <p:spPr>
            <a:xfrm>
              <a:off x="3736599" y="4787270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0" y="0"/>
                  </a:lnTo>
                  <a:lnTo>
                    <a:pt x="0" y="640834"/>
                  </a:lnTo>
                  <a:lnTo>
                    <a:pt x="694604" y="640834"/>
                  </a:lnTo>
                  <a:lnTo>
                    <a:pt x="6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36599" y="4787270"/>
              <a:ext cx="694690" cy="641350"/>
            </a:xfrm>
            <a:custGeom>
              <a:avLst/>
              <a:gdLst/>
              <a:ahLst/>
              <a:cxnLst/>
              <a:rect l="l" t="t" r="r" b="b"/>
              <a:pathLst>
                <a:path w="694689" h="641350">
                  <a:moveTo>
                    <a:pt x="694604" y="0"/>
                  </a:moveTo>
                  <a:lnTo>
                    <a:pt x="694604" y="640833"/>
                  </a:lnTo>
                  <a:lnTo>
                    <a:pt x="0" y="640833"/>
                  </a:lnTo>
                  <a:lnTo>
                    <a:pt x="0" y="0"/>
                  </a:lnTo>
                  <a:lnTo>
                    <a:pt x="694604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1620982" y="2851265"/>
            <a:ext cx="760730" cy="711200"/>
            <a:chOff x="1620982" y="2851265"/>
            <a:chExt cx="760730" cy="711200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20982" y="2851265"/>
              <a:ext cx="760614" cy="71073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669715" y="2879585"/>
              <a:ext cx="660400" cy="609600"/>
            </a:xfrm>
            <a:custGeom>
              <a:avLst/>
              <a:gdLst/>
              <a:ahLst/>
              <a:cxnLst/>
              <a:rect l="l" t="t" r="r" b="b"/>
              <a:pathLst>
                <a:path w="660400" h="609600">
                  <a:moveTo>
                    <a:pt x="660400" y="0"/>
                  </a:moveTo>
                  <a:lnTo>
                    <a:pt x="0" y="0"/>
                  </a:lnTo>
                  <a:lnTo>
                    <a:pt x="0" y="609081"/>
                  </a:lnTo>
                  <a:lnTo>
                    <a:pt x="660400" y="609081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FCCBA1">
                <a:alpha val="4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Game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of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Life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6696"/>
            <a:ext cx="7595870" cy="12547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Game of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Life in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 fact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uses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stencil computation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1499"/>
              </a:lnSpc>
              <a:spcBef>
                <a:spcPts val="4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Next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world’s 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data depends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on 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current world’s 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values – </a:t>
            </a:r>
            <a:r>
              <a:rPr sz="2400" spc="-53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that’s why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used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two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grids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9023" y="5260140"/>
            <a:ext cx="7308850" cy="11550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lnSpc>
                <a:spcPct val="101499"/>
              </a:lnSpc>
              <a:spcBef>
                <a:spcPts val="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How come we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didn’t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 worry about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ghost 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cell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exchange in </a:t>
            </a:r>
            <a:r>
              <a:rPr sz="2400" spc="-53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1859C"/>
                </a:solidFill>
                <a:latin typeface="Calibri"/>
                <a:cs typeface="Calibri"/>
              </a:rPr>
              <a:t>Game of</a:t>
            </a:r>
            <a:r>
              <a:rPr sz="2400" dirty="0">
                <a:solidFill>
                  <a:srgbClr val="31859C"/>
                </a:solidFill>
                <a:latin typeface="Calibri"/>
                <a:cs typeface="Calibri"/>
              </a:rPr>
              <a:t> Life?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0"/>
              </a:spcBef>
              <a:tabLst>
                <a:tab pos="812165" algn="l"/>
              </a:tabLst>
            </a:pPr>
            <a:r>
              <a:rPr sz="2200" dirty="0">
                <a:latin typeface="Arial MT"/>
                <a:cs typeface="Arial MT"/>
              </a:rPr>
              <a:t>–	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our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implementation wrong?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43" y="2853709"/>
            <a:ext cx="5418738" cy="203321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Communication Cost for 1D Geometries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8730"/>
            <a:ext cx="7652384" cy="23082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Assumptions</a:t>
            </a:r>
            <a:r>
              <a:rPr sz="24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215968"/>
                </a:solidFill>
                <a:latin typeface="Calibri"/>
                <a:cs typeface="Calibri"/>
              </a:rPr>
              <a:t>P</a:t>
            </a:r>
            <a:r>
              <a:rPr sz="2400" i="1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processors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divides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input size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215968"/>
                </a:solidFill>
                <a:latin typeface="Calibri"/>
                <a:cs typeface="Calibri"/>
              </a:rPr>
              <a:t>N</a:t>
            </a:r>
            <a:r>
              <a:rPr sz="2400" i="1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evenly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1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word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=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double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precision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ﬂoating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point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8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bytes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horizontal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strips,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data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contiguous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Ro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w</a:t>
            </a:r>
            <a:r>
              <a:rPr sz="2000" spc="-409" dirty="0">
                <a:solidFill>
                  <a:srgbClr val="31859C"/>
                </a:solidFill>
                <a:latin typeface="Calibri"/>
                <a:cs typeface="Calibri"/>
              </a:rPr>
              <a:t>-­‐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aj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r C a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y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Message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Size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= </a:t>
            </a:r>
            <a:r>
              <a:rPr sz="1600" dirty="0">
                <a:solidFill>
                  <a:srgbClr val="296C7B"/>
                </a:solidFill>
                <a:latin typeface="Courier New"/>
                <a:cs typeface="Courier New"/>
              </a:rPr>
              <a:t>16N</a:t>
            </a:r>
            <a:r>
              <a:rPr sz="1600" spc="-509" dirty="0">
                <a:solidFill>
                  <a:srgbClr val="296C7B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bytes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(sent to</a:t>
            </a:r>
            <a:r>
              <a:rPr sz="20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North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+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sent to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South)</a:t>
            </a:r>
            <a:r>
              <a:rPr sz="2000" dirty="0">
                <a:solidFill>
                  <a:srgbClr val="215968"/>
                </a:solidFill>
                <a:latin typeface="Calibri"/>
                <a:cs typeface="Calibri"/>
              </a:rPr>
              <a:t> per </a:t>
            </a:r>
            <a:r>
              <a:rPr sz="2000" spc="-5" dirty="0">
                <a:solidFill>
                  <a:srgbClr val="215968"/>
                </a:solidFill>
                <a:latin typeface="Calibri"/>
                <a:cs typeface="Calibri"/>
              </a:rPr>
              <a:t>processor</a:t>
            </a:r>
            <a:endParaRPr sz="2000">
              <a:latin typeface="Calibri"/>
              <a:cs typeface="Calibri"/>
            </a:endParaRPr>
          </a:p>
          <a:p>
            <a:pPr marL="39370" algn="ctr">
              <a:lnSpc>
                <a:spcPct val="100000"/>
              </a:lnSpc>
              <a:spcBef>
                <a:spcPts val="450"/>
              </a:spcBef>
              <a:tabLst>
                <a:tab pos="1548130" algn="l"/>
                <a:tab pos="3377565" algn="l"/>
              </a:tabLst>
            </a:pPr>
            <a:r>
              <a:rPr sz="1800" dirty="0">
                <a:solidFill>
                  <a:srgbClr val="215968"/>
                </a:solidFill>
                <a:latin typeface="Courier New"/>
                <a:cs typeface="Courier New"/>
              </a:rPr>
              <a:t>Time(comm)	=</a:t>
            </a:r>
            <a:r>
              <a:rPr sz="1800" spc="-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15968"/>
                </a:solidFill>
                <a:latin typeface="Courier New"/>
                <a:cs typeface="Courier New"/>
              </a:rPr>
              <a:t>2(</a:t>
            </a:r>
            <a:r>
              <a:rPr sz="1800" dirty="0">
                <a:solidFill>
                  <a:srgbClr val="296C7B"/>
                </a:solidFill>
                <a:latin typeface="MS PGothic"/>
                <a:cs typeface="MS PGothic"/>
              </a:rPr>
              <a:t>α</a:t>
            </a:r>
            <a:r>
              <a:rPr sz="1800" dirty="0">
                <a:solidFill>
                  <a:srgbClr val="215968"/>
                </a:solidFill>
                <a:latin typeface="Courier New"/>
                <a:cs typeface="Courier New"/>
              </a:rPr>
              <a:t>+8N/</a:t>
            </a:r>
            <a:r>
              <a:rPr sz="1800" dirty="0">
                <a:solidFill>
                  <a:srgbClr val="296C7B"/>
                </a:solidFill>
                <a:latin typeface="MS PGothic"/>
                <a:cs typeface="MS PGothic"/>
              </a:rPr>
              <a:t>β</a:t>
            </a:r>
            <a:r>
              <a:rPr sz="1800" dirty="0">
                <a:solidFill>
                  <a:srgbClr val="215968"/>
                </a:solidFill>
                <a:latin typeface="Courier New"/>
                <a:cs typeface="Courier New"/>
              </a:rPr>
              <a:t>)	</a:t>
            </a:r>
            <a:r>
              <a:rPr sz="1600" spc="-5" dirty="0">
                <a:solidFill>
                  <a:srgbClr val="296C7B"/>
                </a:solidFill>
                <a:latin typeface="Courier New"/>
                <a:cs typeface="Courier New"/>
              </a:rPr>
              <a:t>per</a:t>
            </a:r>
            <a:r>
              <a:rPr sz="1600" spc="-65" dirty="0">
                <a:solidFill>
                  <a:srgbClr val="296C7B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6C7B"/>
                </a:solidFill>
                <a:latin typeface="Courier New"/>
                <a:cs typeface="Courier New"/>
              </a:rPr>
              <a:t>processor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95302" y="4227022"/>
            <a:ext cx="5149850" cy="2203450"/>
            <a:chOff x="1895302" y="4227022"/>
            <a:chExt cx="5149850" cy="2203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5302" y="5810596"/>
              <a:ext cx="2157152" cy="6192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44791" y="58372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398" y="520699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4790" y="58372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302" y="4247803"/>
              <a:ext cx="2157152" cy="6234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44791" y="42751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398" y="520699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44790" y="42751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700"/>
                  </a:lnTo>
                  <a:lnTo>
                    <a:pt x="0" y="520700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302" y="4767348"/>
              <a:ext cx="2157152" cy="6234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44791" y="47958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398" y="520699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4790" y="4795859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5302" y="5291050"/>
              <a:ext cx="2157152" cy="61929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44791" y="531655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8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398" y="520700"/>
                  </a:lnTo>
                  <a:lnTo>
                    <a:pt x="2057398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4790" y="531655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3360" y="4227022"/>
              <a:ext cx="1059872" cy="34913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69924" y="4357169"/>
              <a:ext cx="843915" cy="142875"/>
            </a:xfrm>
            <a:custGeom>
              <a:avLst/>
              <a:gdLst/>
              <a:ahLst/>
              <a:cxnLst/>
              <a:rect l="l" t="t" r="r" b="b"/>
              <a:pathLst>
                <a:path w="843914" h="142875">
                  <a:moveTo>
                    <a:pt x="0" y="142641"/>
                  </a:moveTo>
                  <a:lnTo>
                    <a:pt x="843510" y="0"/>
                  </a:lnTo>
                </a:path>
              </a:pathLst>
            </a:custGeom>
            <a:ln w="25399">
              <a:solidFill>
                <a:srgbClr val="B5B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6532" y="4311689"/>
              <a:ext cx="121754" cy="11625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7883" y="4871257"/>
              <a:ext cx="2157152" cy="6234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38219" y="48995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399" y="520700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38220" y="48995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87883" y="5249487"/>
              <a:ext cx="2157152" cy="24938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938219" y="5274894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39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057399" y="152400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745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38220" y="5274894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399" y="0"/>
                  </a:moveTo>
                  <a:lnTo>
                    <a:pt x="2057399" y="152399"/>
                  </a:lnTo>
                  <a:lnTo>
                    <a:pt x="0" y="1523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87883" y="5677592"/>
              <a:ext cx="2157152" cy="62345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38219" y="570664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0" y="0"/>
                  </a:lnTo>
                  <a:lnTo>
                    <a:pt x="0" y="520698"/>
                  </a:lnTo>
                  <a:lnTo>
                    <a:pt x="2057399" y="520698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38220" y="570664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87883" y="5677592"/>
              <a:ext cx="2157152" cy="25769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938218" y="5706647"/>
              <a:ext cx="2057400" cy="156210"/>
            </a:xfrm>
            <a:custGeom>
              <a:avLst/>
              <a:gdLst/>
              <a:ahLst/>
              <a:cxnLst/>
              <a:rect l="l" t="t" r="r" b="b"/>
              <a:pathLst>
                <a:path w="2057400" h="156210">
                  <a:moveTo>
                    <a:pt x="2057400" y="0"/>
                  </a:moveTo>
                  <a:lnTo>
                    <a:pt x="0" y="0"/>
                  </a:lnTo>
                  <a:lnTo>
                    <a:pt x="0" y="156014"/>
                  </a:lnTo>
                  <a:lnTo>
                    <a:pt x="2057400" y="15601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745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38219" y="5706647"/>
              <a:ext cx="2057400" cy="156210"/>
            </a:xfrm>
            <a:custGeom>
              <a:avLst/>
              <a:gdLst/>
              <a:ahLst/>
              <a:cxnLst/>
              <a:rect l="l" t="t" r="r" b="b"/>
              <a:pathLst>
                <a:path w="2057400" h="156210">
                  <a:moveTo>
                    <a:pt x="2057399" y="0"/>
                  </a:moveTo>
                  <a:lnTo>
                    <a:pt x="2057399" y="156014"/>
                  </a:lnTo>
                  <a:lnTo>
                    <a:pt x="0" y="156014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89072" y="5249486"/>
              <a:ext cx="378229" cy="7024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140185" y="5564278"/>
              <a:ext cx="276225" cy="312420"/>
            </a:xfrm>
            <a:custGeom>
              <a:avLst/>
              <a:gdLst/>
              <a:ahLst/>
              <a:cxnLst/>
              <a:rect l="l" t="t" r="r" b="b"/>
              <a:pathLst>
                <a:path w="276225" h="312420">
                  <a:moveTo>
                    <a:pt x="273470" y="0"/>
                  </a:moveTo>
                  <a:lnTo>
                    <a:pt x="260508" y="48667"/>
                  </a:lnTo>
                  <a:lnTo>
                    <a:pt x="237702" y="93197"/>
                  </a:lnTo>
                  <a:lnTo>
                    <a:pt x="206101" y="132521"/>
                  </a:lnTo>
                  <a:lnTo>
                    <a:pt x="166755" y="165567"/>
                  </a:lnTo>
                  <a:lnTo>
                    <a:pt x="120712" y="191265"/>
                  </a:lnTo>
                  <a:lnTo>
                    <a:pt x="69023" y="208546"/>
                  </a:lnTo>
                  <a:lnTo>
                    <a:pt x="69023" y="174034"/>
                  </a:lnTo>
                  <a:lnTo>
                    <a:pt x="0" y="251029"/>
                  </a:lnTo>
                  <a:lnTo>
                    <a:pt x="69023" y="312082"/>
                  </a:lnTo>
                  <a:lnTo>
                    <a:pt x="69023" y="277569"/>
                  </a:lnTo>
                  <a:lnTo>
                    <a:pt x="117587" y="261670"/>
                  </a:lnTo>
                  <a:lnTo>
                    <a:pt x="160968" y="238512"/>
                  </a:lnTo>
                  <a:lnTo>
                    <a:pt x="198471" y="209039"/>
                  </a:lnTo>
                  <a:lnTo>
                    <a:pt x="229401" y="174195"/>
                  </a:lnTo>
                  <a:lnTo>
                    <a:pt x="253061" y="134925"/>
                  </a:lnTo>
                  <a:lnTo>
                    <a:pt x="268756" y="92173"/>
                  </a:lnTo>
                  <a:lnTo>
                    <a:pt x="275791" y="46883"/>
                  </a:lnTo>
                  <a:lnTo>
                    <a:pt x="27347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40185" y="5278737"/>
              <a:ext cx="276225" cy="320675"/>
            </a:xfrm>
            <a:custGeom>
              <a:avLst/>
              <a:gdLst/>
              <a:ahLst/>
              <a:cxnLst/>
              <a:rect l="l" t="t" r="r" b="b"/>
              <a:pathLst>
                <a:path w="276225" h="320675">
                  <a:moveTo>
                    <a:pt x="0" y="0"/>
                  </a:moveTo>
                  <a:lnTo>
                    <a:pt x="0" y="69023"/>
                  </a:lnTo>
                  <a:lnTo>
                    <a:pt x="49627" y="73067"/>
                  </a:lnTo>
                  <a:lnTo>
                    <a:pt x="96337" y="84728"/>
                  </a:lnTo>
                  <a:lnTo>
                    <a:pt x="139349" y="103296"/>
                  </a:lnTo>
                  <a:lnTo>
                    <a:pt x="177882" y="128062"/>
                  </a:lnTo>
                  <a:lnTo>
                    <a:pt x="211159" y="158317"/>
                  </a:lnTo>
                  <a:lnTo>
                    <a:pt x="238398" y="193353"/>
                  </a:lnTo>
                  <a:lnTo>
                    <a:pt x="258819" y="232461"/>
                  </a:lnTo>
                  <a:lnTo>
                    <a:pt x="271644" y="274930"/>
                  </a:lnTo>
                  <a:lnTo>
                    <a:pt x="276092" y="320053"/>
                  </a:lnTo>
                  <a:lnTo>
                    <a:pt x="276092" y="251030"/>
                  </a:lnTo>
                  <a:lnTo>
                    <a:pt x="271644" y="205907"/>
                  </a:lnTo>
                  <a:lnTo>
                    <a:pt x="258819" y="163437"/>
                  </a:lnTo>
                  <a:lnTo>
                    <a:pt x="238398" y="124330"/>
                  </a:lnTo>
                  <a:lnTo>
                    <a:pt x="211159" y="89294"/>
                  </a:lnTo>
                  <a:lnTo>
                    <a:pt x="177882" y="59039"/>
                  </a:lnTo>
                  <a:lnTo>
                    <a:pt x="139349" y="34272"/>
                  </a:lnTo>
                  <a:lnTo>
                    <a:pt x="96337" y="15705"/>
                  </a:lnTo>
                  <a:lnTo>
                    <a:pt x="49627" y="4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40185" y="5278737"/>
              <a:ext cx="276225" cy="598170"/>
            </a:xfrm>
            <a:custGeom>
              <a:avLst/>
              <a:gdLst/>
              <a:ahLst/>
              <a:cxnLst/>
              <a:rect l="l" t="t" r="r" b="b"/>
              <a:pathLst>
                <a:path w="276225" h="598170">
                  <a:moveTo>
                    <a:pt x="276092" y="320052"/>
                  </a:moveTo>
                  <a:lnTo>
                    <a:pt x="271644" y="274930"/>
                  </a:lnTo>
                  <a:lnTo>
                    <a:pt x="258819" y="232460"/>
                  </a:lnTo>
                  <a:lnTo>
                    <a:pt x="238398" y="193353"/>
                  </a:lnTo>
                  <a:lnTo>
                    <a:pt x="211159" y="158317"/>
                  </a:lnTo>
                  <a:lnTo>
                    <a:pt x="177883" y="128062"/>
                  </a:lnTo>
                  <a:lnTo>
                    <a:pt x="139349" y="103295"/>
                  </a:lnTo>
                  <a:lnTo>
                    <a:pt x="96337" y="84727"/>
                  </a:lnTo>
                  <a:lnTo>
                    <a:pt x="49628" y="73067"/>
                  </a:lnTo>
                  <a:lnTo>
                    <a:pt x="0" y="69022"/>
                  </a:lnTo>
                  <a:lnTo>
                    <a:pt x="0" y="0"/>
                  </a:lnTo>
                  <a:lnTo>
                    <a:pt x="49628" y="4044"/>
                  </a:lnTo>
                  <a:lnTo>
                    <a:pt x="96337" y="15705"/>
                  </a:lnTo>
                  <a:lnTo>
                    <a:pt x="139349" y="34272"/>
                  </a:lnTo>
                  <a:lnTo>
                    <a:pt x="177883" y="59039"/>
                  </a:lnTo>
                  <a:lnTo>
                    <a:pt x="211159" y="89294"/>
                  </a:lnTo>
                  <a:lnTo>
                    <a:pt x="238398" y="124330"/>
                  </a:lnTo>
                  <a:lnTo>
                    <a:pt x="258819" y="163437"/>
                  </a:lnTo>
                  <a:lnTo>
                    <a:pt x="271644" y="205906"/>
                  </a:lnTo>
                  <a:lnTo>
                    <a:pt x="276092" y="251029"/>
                  </a:lnTo>
                  <a:lnTo>
                    <a:pt x="276092" y="320052"/>
                  </a:lnTo>
                  <a:lnTo>
                    <a:pt x="271019" y="368057"/>
                  </a:lnTo>
                  <a:lnTo>
                    <a:pt x="256364" y="413292"/>
                  </a:lnTo>
                  <a:lnTo>
                    <a:pt x="232975" y="454763"/>
                  </a:lnTo>
                  <a:lnTo>
                    <a:pt x="201699" y="491475"/>
                  </a:lnTo>
                  <a:lnTo>
                    <a:pt x="163383" y="522433"/>
                  </a:lnTo>
                  <a:lnTo>
                    <a:pt x="118876" y="546644"/>
                  </a:lnTo>
                  <a:lnTo>
                    <a:pt x="69023" y="563111"/>
                  </a:lnTo>
                  <a:lnTo>
                    <a:pt x="69022" y="597622"/>
                  </a:lnTo>
                  <a:lnTo>
                    <a:pt x="0" y="536570"/>
                  </a:lnTo>
                  <a:lnTo>
                    <a:pt x="69022" y="459576"/>
                  </a:lnTo>
                  <a:lnTo>
                    <a:pt x="69022" y="494087"/>
                  </a:lnTo>
                  <a:lnTo>
                    <a:pt x="120712" y="476806"/>
                  </a:lnTo>
                  <a:lnTo>
                    <a:pt x="166755" y="451108"/>
                  </a:lnTo>
                  <a:lnTo>
                    <a:pt x="206101" y="418062"/>
                  </a:lnTo>
                  <a:lnTo>
                    <a:pt x="237702" y="378738"/>
                  </a:lnTo>
                  <a:lnTo>
                    <a:pt x="260508" y="334208"/>
                  </a:lnTo>
                  <a:lnTo>
                    <a:pt x="273470" y="285540"/>
                  </a:lnTo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19203" y="5544588"/>
              <a:ext cx="997527" cy="59020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69924" y="5581534"/>
              <a:ext cx="778510" cy="375285"/>
            </a:xfrm>
            <a:custGeom>
              <a:avLst/>
              <a:gdLst/>
              <a:ahLst/>
              <a:cxnLst/>
              <a:rect l="l" t="t" r="r" b="b"/>
              <a:pathLst>
                <a:path w="778510" h="375285">
                  <a:moveTo>
                    <a:pt x="0" y="0"/>
                  </a:moveTo>
                  <a:lnTo>
                    <a:pt x="778185" y="374824"/>
                  </a:lnTo>
                </a:path>
              </a:pathLst>
            </a:custGeom>
            <a:ln w="25399">
              <a:solidFill>
                <a:srgbClr val="B5B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46954" y="5868795"/>
              <a:ext cx="123864" cy="10775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473941" y="4421785"/>
            <a:ext cx="126238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α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:latency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Calibri"/>
                <a:cs typeface="Calibri"/>
              </a:rPr>
              <a:t>β: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bandwidth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85256" y="6289022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887883" y="4077392"/>
            <a:ext cx="2157730" cy="1047750"/>
            <a:chOff x="4887883" y="4077392"/>
            <a:chExt cx="2157730" cy="104775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87883" y="4871258"/>
              <a:ext cx="2157152" cy="25353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938219" y="4899567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39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057399" y="152400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745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38220" y="4899567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399" y="0"/>
                  </a:moveTo>
                  <a:lnTo>
                    <a:pt x="2057399" y="152399"/>
                  </a:lnTo>
                  <a:lnTo>
                    <a:pt x="0" y="1523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87883" y="4077392"/>
              <a:ext cx="2157152" cy="6234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938218" y="410582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400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400" y="52069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38219" y="410582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87883" y="4455621"/>
              <a:ext cx="2157152" cy="24938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938218" y="4481153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057400" y="1524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745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38219" y="4481153"/>
              <a:ext cx="2057400" cy="152400"/>
            </a:xfrm>
            <a:custGeom>
              <a:avLst/>
              <a:gdLst/>
              <a:ahLst/>
              <a:cxnLst/>
              <a:rect l="l" t="t" r="r" b="b"/>
              <a:pathLst>
                <a:path w="2057400" h="152400">
                  <a:moveTo>
                    <a:pt x="2057399" y="0"/>
                  </a:moveTo>
                  <a:lnTo>
                    <a:pt x="2057399" y="152399"/>
                  </a:lnTo>
                  <a:lnTo>
                    <a:pt x="0" y="1523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98869" y="4459778"/>
              <a:ext cx="428105" cy="64839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49251" y="4487978"/>
              <a:ext cx="327025" cy="290195"/>
            </a:xfrm>
            <a:custGeom>
              <a:avLst/>
              <a:gdLst/>
              <a:ahLst/>
              <a:cxnLst/>
              <a:rect l="l" t="t" r="r" b="b"/>
              <a:pathLst>
                <a:path w="327025" h="290195">
                  <a:moveTo>
                    <a:pt x="244814" y="0"/>
                  </a:moveTo>
                  <a:lnTo>
                    <a:pt x="244814" y="40803"/>
                  </a:lnTo>
                  <a:lnTo>
                    <a:pt x="191562" y="53146"/>
                  </a:lnTo>
                  <a:lnTo>
                    <a:pt x="143547" y="70818"/>
                  </a:lnTo>
                  <a:lnTo>
                    <a:pt x="101386" y="93178"/>
                  </a:lnTo>
                  <a:lnTo>
                    <a:pt x="65697" y="119580"/>
                  </a:lnTo>
                  <a:lnTo>
                    <a:pt x="37096" y="149382"/>
                  </a:lnTo>
                  <a:lnTo>
                    <a:pt x="16201" y="181940"/>
                  </a:lnTo>
                  <a:lnTo>
                    <a:pt x="0" y="252752"/>
                  </a:lnTo>
                  <a:lnTo>
                    <a:pt x="5928" y="289718"/>
                  </a:lnTo>
                  <a:lnTo>
                    <a:pt x="23457" y="250484"/>
                  </a:lnTo>
                  <a:lnTo>
                    <a:pt x="51382" y="214750"/>
                  </a:lnTo>
                  <a:lnTo>
                    <a:pt x="88593" y="183297"/>
                  </a:lnTo>
                  <a:lnTo>
                    <a:pt x="133976" y="156904"/>
                  </a:lnTo>
                  <a:lnTo>
                    <a:pt x="186421" y="136348"/>
                  </a:lnTo>
                  <a:lnTo>
                    <a:pt x="244814" y="122410"/>
                  </a:lnTo>
                  <a:lnTo>
                    <a:pt x="244814" y="163214"/>
                  </a:lnTo>
                  <a:lnTo>
                    <a:pt x="326420" y="74781"/>
                  </a:lnTo>
                  <a:lnTo>
                    <a:pt x="244814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49243" y="4736894"/>
              <a:ext cx="327025" cy="296545"/>
            </a:xfrm>
            <a:custGeom>
              <a:avLst/>
              <a:gdLst/>
              <a:ahLst/>
              <a:cxnLst/>
              <a:rect l="l" t="t" r="r" b="b"/>
              <a:pathLst>
                <a:path w="327025" h="296545">
                  <a:moveTo>
                    <a:pt x="0" y="0"/>
                  </a:moveTo>
                  <a:lnTo>
                    <a:pt x="0" y="81606"/>
                  </a:lnTo>
                  <a:lnTo>
                    <a:pt x="5259" y="120241"/>
                  </a:lnTo>
                  <a:lnTo>
                    <a:pt x="20422" y="156605"/>
                  </a:lnTo>
                  <a:lnTo>
                    <a:pt x="44566" y="190089"/>
                  </a:lnTo>
                  <a:lnTo>
                    <a:pt x="76771" y="220087"/>
                  </a:lnTo>
                  <a:lnTo>
                    <a:pt x="116114" y="245993"/>
                  </a:lnTo>
                  <a:lnTo>
                    <a:pt x="161673" y="267198"/>
                  </a:lnTo>
                  <a:lnTo>
                    <a:pt x="212526" y="283096"/>
                  </a:lnTo>
                  <a:lnTo>
                    <a:pt x="267752" y="293080"/>
                  </a:lnTo>
                  <a:lnTo>
                    <a:pt x="326428" y="296543"/>
                  </a:lnTo>
                  <a:lnTo>
                    <a:pt x="326428" y="214936"/>
                  </a:lnTo>
                  <a:lnTo>
                    <a:pt x="267752" y="211473"/>
                  </a:lnTo>
                  <a:lnTo>
                    <a:pt x="212526" y="201489"/>
                  </a:lnTo>
                  <a:lnTo>
                    <a:pt x="161673" y="185590"/>
                  </a:lnTo>
                  <a:lnTo>
                    <a:pt x="116114" y="164385"/>
                  </a:lnTo>
                  <a:lnTo>
                    <a:pt x="76771" y="138480"/>
                  </a:lnTo>
                  <a:lnTo>
                    <a:pt x="44566" y="108482"/>
                  </a:lnTo>
                  <a:lnTo>
                    <a:pt x="20422" y="74998"/>
                  </a:lnTo>
                  <a:lnTo>
                    <a:pt x="5259" y="38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49243" y="4487978"/>
              <a:ext cx="327025" cy="545465"/>
            </a:xfrm>
            <a:custGeom>
              <a:avLst/>
              <a:gdLst/>
              <a:ahLst/>
              <a:cxnLst/>
              <a:rect l="l" t="t" r="r" b="b"/>
              <a:pathLst>
                <a:path w="327025" h="545464">
                  <a:moveTo>
                    <a:pt x="0" y="248915"/>
                  </a:moveTo>
                  <a:lnTo>
                    <a:pt x="5259" y="287551"/>
                  </a:lnTo>
                  <a:lnTo>
                    <a:pt x="20422" y="323914"/>
                  </a:lnTo>
                  <a:lnTo>
                    <a:pt x="44567" y="357398"/>
                  </a:lnTo>
                  <a:lnTo>
                    <a:pt x="76771" y="387397"/>
                  </a:lnTo>
                  <a:lnTo>
                    <a:pt x="116114" y="413302"/>
                  </a:lnTo>
                  <a:lnTo>
                    <a:pt x="161673" y="434507"/>
                  </a:lnTo>
                  <a:lnTo>
                    <a:pt x="212526" y="450405"/>
                  </a:lnTo>
                  <a:lnTo>
                    <a:pt x="267752" y="460389"/>
                  </a:lnTo>
                  <a:lnTo>
                    <a:pt x="326428" y="463852"/>
                  </a:lnTo>
                  <a:lnTo>
                    <a:pt x="326428" y="545459"/>
                  </a:lnTo>
                  <a:lnTo>
                    <a:pt x="267752" y="541996"/>
                  </a:lnTo>
                  <a:lnTo>
                    <a:pt x="212526" y="532012"/>
                  </a:lnTo>
                  <a:lnTo>
                    <a:pt x="161673" y="516114"/>
                  </a:lnTo>
                  <a:lnTo>
                    <a:pt x="116114" y="494909"/>
                  </a:lnTo>
                  <a:lnTo>
                    <a:pt x="76771" y="469004"/>
                  </a:lnTo>
                  <a:lnTo>
                    <a:pt x="44567" y="439005"/>
                  </a:lnTo>
                  <a:lnTo>
                    <a:pt x="20422" y="405521"/>
                  </a:lnTo>
                  <a:lnTo>
                    <a:pt x="5259" y="369158"/>
                  </a:lnTo>
                  <a:lnTo>
                    <a:pt x="0" y="330523"/>
                  </a:lnTo>
                  <a:lnTo>
                    <a:pt x="0" y="248915"/>
                  </a:lnTo>
                  <a:lnTo>
                    <a:pt x="5998" y="207813"/>
                  </a:lnTo>
                  <a:lnTo>
                    <a:pt x="23324" y="169081"/>
                  </a:lnTo>
                  <a:lnTo>
                    <a:pt x="50978" y="133573"/>
                  </a:lnTo>
                  <a:lnTo>
                    <a:pt x="87956" y="102140"/>
                  </a:lnTo>
                  <a:lnTo>
                    <a:pt x="133257" y="75633"/>
                  </a:lnTo>
                  <a:lnTo>
                    <a:pt x="185879" y="54903"/>
                  </a:lnTo>
                  <a:lnTo>
                    <a:pt x="244821" y="40804"/>
                  </a:lnTo>
                  <a:lnTo>
                    <a:pt x="244821" y="0"/>
                  </a:lnTo>
                  <a:lnTo>
                    <a:pt x="326428" y="74782"/>
                  </a:lnTo>
                  <a:lnTo>
                    <a:pt x="244821" y="163214"/>
                  </a:lnTo>
                  <a:lnTo>
                    <a:pt x="244821" y="122410"/>
                  </a:lnTo>
                  <a:lnTo>
                    <a:pt x="186428" y="136349"/>
                  </a:lnTo>
                  <a:lnTo>
                    <a:pt x="133984" y="156904"/>
                  </a:lnTo>
                  <a:lnTo>
                    <a:pt x="88600" y="183298"/>
                  </a:lnTo>
                  <a:lnTo>
                    <a:pt x="51390" y="214751"/>
                  </a:lnTo>
                  <a:lnTo>
                    <a:pt x="23464" y="250484"/>
                  </a:lnTo>
                  <a:lnTo>
                    <a:pt x="5936" y="289719"/>
                  </a:lnTo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Communication Cost for 1D Geometries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8728"/>
            <a:ext cx="7587615" cy="2052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horizontal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strips,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data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contiguous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2000" spc="-15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Ro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w</a:t>
            </a:r>
            <a:r>
              <a:rPr sz="2000" spc="-409" dirty="0">
                <a:solidFill>
                  <a:srgbClr val="31859C"/>
                </a:solidFill>
                <a:latin typeface="Calibri"/>
                <a:cs typeface="Calibri"/>
              </a:rPr>
              <a:t>-­‐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aj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r C a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y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vertical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strips,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data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not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contiguous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in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82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This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model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doesn’t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take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into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account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message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packing </a:t>
            </a:r>
            <a:r>
              <a:rPr sz="2400" spc="-52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overhead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9374" y="3840479"/>
            <a:ext cx="2161540" cy="2182495"/>
            <a:chOff x="2269374" y="3840479"/>
            <a:chExt cx="2161540" cy="2182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374" y="5403273"/>
              <a:ext cx="2161308" cy="6192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21847" y="543016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400" y="0"/>
                  </a:moveTo>
                  <a:lnTo>
                    <a:pt x="0" y="0"/>
                  </a:lnTo>
                  <a:lnTo>
                    <a:pt x="0" y="520699"/>
                  </a:lnTo>
                  <a:lnTo>
                    <a:pt x="2057400" y="52069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21847" y="54301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374" y="3840479"/>
              <a:ext cx="2161308" cy="6234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1847" y="386806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400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400" y="5207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21847" y="38680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374" y="4360025"/>
              <a:ext cx="2161308" cy="6234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21847" y="438876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400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400" y="5207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21847" y="43887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9374" y="4883727"/>
              <a:ext cx="2161308" cy="61929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21847" y="4909466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400" y="0"/>
                  </a:moveTo>
                  <a:lnTo>
                    <a:pt x="0" y="0"/>
                  </a:lnTo>
                  <a:lnTo>
                    <a:pt x="0" y="520700"/>
                  </a:lnTo>
                  <a:lnTo>
                    <a:pt x="2057400" y="5207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1847" y="4909467"/>
              <a:ext cx="2057400" cy="520700"/>
            </a:xfrm>
            <a:custGeom>
              <a:avLst/>
              <a:gdLst/>
              <a:ahLst/>
              <a:cxnLst/>
              <a:rect l="l" t="t" r="r" b="b"/>
              <a:pathLst>
                <a:path w="2057400" h="520700">
                  <a:moveTo>
                    <a:pt x="2057399" y="0"/>
                  </a:moveTo>
                  <a:lnTo>
                    <a:pt x="2057399" y="520699"/>
                  </a:lnTo>
                  <a:lnTo>
                    <a:pt x="0" y="520699"/>
                  </a:lnTo>
                  <a:lnTo>
                    <a:pt x="0" y="0"/>
                  </a:lnTo>
                  <a:lnTo>
                    <a:pt x="2057399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270269" y="3840479"/>
            <a:ext cx="2182495" cy="2157730"/>
            <a:chOff x="5270269" y="3840479"/>
            <a:chExt cx="2182495" cy="215773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3062" y="3840479"/>
              <a:ext cx="619298" cy="21571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0269" y="3840479"/>
              <a:ext cx="619298" cy="21571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19683" y="3868066"/>
              <a:ext cx="520700" cy="2057400"/>
            </a:xfrm>
            <a:custGeom>
              <a:avLst/>
              <a:gdLst/>
              <a:ahLst/>
              <a:cxnLst/>
              <a:rect l="l" t="t" r="r" b="b"/>
              <a:pathLst>
                <a:path w="520700" h="2057400">
                  <a:moveTo>
                    <a:pt x="5207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520700" y="2057400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9814" y="3840479"/>
              <a:ext cx="623454" cy="21571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40383" y="3868066"/>
              <a:ext cx="520700" cy="2057400"/>
            </a:xfrm>
            <a:custGeom>
              <a:avLst/>
              <a:gdLst/>
              <a:ahLst/>
              <a:cxnLst/>
              <a:rect l="l" t="t" r="r" b="b"/>
              <a:pathLst>
                <a:path w="520700" h="2057400">
                  <a:moveTo>
                    <a:pt x="5207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520700" y="2057400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9360" y="3840479"/>
              <a:ext cx="623454" cy="2157152"/>
            </a:xfrm>
            <a:prstGeom prst="rect">
              <a:avLst/>
            </a:prstGeom>
          </p:spPr>
        </p:pic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314920" y="3863304"/>
          <a:ext cx="2082800" cy="2057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  <a:solidFill>
                      <a:srgbClr val="DEE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6361083" y="3868066"/>
            <a:ext cx="520700" cy="2057400"/>
          </a:xfrm>
          <a:custGeom>
            <a:avLst/>
            <a:gdLst/>
            <a:ahLst/>
            <a:cxnLst/>
            <a:rect l="l" t="t" r="r" b="b"/>
            <a:pathLst>
              <a:path w="520700" h="2057400">
                <a:moveTo>
                  <a:pt x="520700" y="0"/>
                </a:moveTo>
                <a:lnTo>
                  <a:pt x="0" y="0"/>
                </a:lnTo>
                <a:lnTo>
                  <a:pt x="0" y="2057400"/>
                </a:lnTo>
                <a:lnTo>
                  <a:pt x="520700" y="2057400"/>
                </a:lnTo>
                <a:lnTo>
                  <a:pt x="520700" y="0"/>
                </a:lnTo>
                <a:close/>
              </a:path>
            </a:pathLst>
          </a:custGeom>
          <a:solidFill>
            <a:srgbClr val="C5D7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07423" y="4103254"/>
            <a:ext cx="105092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Ideal </a:t>
            </a:r>
            <a:r>
              <a:rPr sz="1800" spc="-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 Ro</a:t>
            </a:r>
            <a:r>
              <a:rPr sz="1800" spc="-5" dirty="0">
                <a:latin typeface="Calibri"/>
                <a:cs typeface="Calibri"/>
              </a:rPr>
              <a:t>w</a:t>
            </a:r>
            <a:r>
              <a:rPr sz="1800" spc="-370" dirty="0">
                <a:latin typeface="Calibri"/>
                <a:cs typeface="Calibri"/>
              </a:rPr>
              <a:t>-­‐</a:t>
            </a:r>
            <a:r>
              <a:rPr sz="1800" spc="-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aj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r  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arrays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7862221" y="4103254"/>
            <a:ext cx="136080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Ideal </a:t>
            </a:r>
            <a:r>
              <a:rPr sz="1800" spc="-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 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lu</a:t>
            </a:r>
            <a:r>
              <a:rPr sz="1800" spc="-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370" dirty="0">
                <a:latin typeface="Calibri"/>
                <a:cs typeface="Calibri"/>
              </a:rPr>
              <a:t>-­‐</a:t>
            </a:r>
            <a:r>
              <a:rPr sz="1800" spc="-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aj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r  </a:t>
            </a:r>
            <a:r>
              <a:rPr sz="1800" spc="-5" dirty="0">
                <a:latin typeface="Calibri"/>
                <a:cs typeface="Calibri"/>
              </a:rPr>
              <a:t>Fortran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arrays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Communication Cost for 2D Geometries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89688"/>
            <a:ext cx="7070725" cy="242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4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Assumptions</a:t>
            </a:r>
            <a:endParaRPr sz="2400">
              <a:latin typeface="Calibri"/>
              <a:cs typeface="Calibri"/>
            </a:endParaRPr>
          </a:p>
          <a:p>
            <a:pPr marL="728980" lvl="1" indent="-374015">
              <a:lnSpc>
                <a:spcPts val="2840"/>
              </a:lnSpc>
              <a:buFont typeface="Webdings"/>
              <a:buChar char=""/>
              <a:tabLst>
                <a:tab pos="729615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√P</a:t>
            </a:r>
            <a:r>
              <a:rPr sz="2400" spc="-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divides</a:t>
            </a:r>
            <a:r>
              <a:rPr sz="2400" spc="-2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N</a:t>
            </a:r>
            <a:r>
              <a:rPr sz="2400" spc="-2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evenly</a:t>
            </a:r>
            <a:endParaRPr sz="2400">
              <a:latin typeface="Calibri"/>
              <a:cs typeface="Calibri"/>
            </a:endParaRPr>
          </a:p>
          <a:p>
            <a:pPr marL="728980" lvl="1" indent="-374015">
              <a:lnSpc>
                <a:spcPct val="100000"/>
              </a:lnSpc>
              <a:spcBef>
                <a:spcPts val="20"/>
              </a:spcBef>
              <a:buFont typeface="Webdings"/>
              <a:buChar char=""/>
              <a:tabLst>
                <a:tab pos="729615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1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word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=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double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precision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ﬂoating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pt.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=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8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bytes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Ignore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the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cost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packing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message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buﬀers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Message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size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sent in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bytes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one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neighbor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is </a:t>
            </a:r>
            <a:r>
              <a:rPr sz="1800" dirty="0">
                <a:solidFill>
                  <a:srgbClr val="215968"/>
                </a:solidFill>
                <a:latin typeface="Courier New"/>
                <a:cs typeface="Courier New"/>
              </a:rPr>
              <a:t>4*8N/√P</a:t>
            </a:r>
            <a:endParaRPr sz="1800">
              <a:latin typeface="Courier New"/>
              <a:cs typeface="Courier New"/>
            </a:endParaRPr>
          </a:p>
          <a:p>
            <a:pPr marR="120650" algn="ctr">
              <a:lnSpc>
                <a:spcPct val="100000"/>
              </a:lnSpc>
              <a:spcBef>
                <a:spcPts val="1019"/>
              </a:spcBef>
            </a:pP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Time(comm)</a:t>
            </a:r>
            <a:r>
              <a:rPr sz="2000" spc="-2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=</a:t>
            </a:r>
            <a:r>
              <a:rPr sz="2000" spc="-2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4(</a:t>
            </a:r>
            <a:r>
              <a:rPr sz="2000" spc="-5" dirty="0">
                <a:solidFill>
                  <a:srgbClr val="296C7B"/>
                </a:solidFill>
                <a:latin typeface="MS PGothic"/>
                <a:cs typeface="MS PGothic"/>
              </a:rPr>
              <a:t>α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+8N/(</a:t>
            </a:r>
            <a:r>
              <a:rPr sz="2000" spc="-5" dirty="0">
                <a:solidFill>
                  <a:srgbClr val="296C7B"/>
                </a:solidFill>
                <a:latin typeface="MS PGothic"/>
                <a:cs typeface="MS PGothic"/>
              </a:rPr>
              <a:t>β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√P)</a:t>
            </a:r>
            <a:r>
              <a:rPr sz="2000" spc="-1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64971" y="4081548"/>
            <a:ext cx="2157730" cy="2182495"/>
            <a:chOff x="2364971" y="4081548"/>
            <a:chExt cx="2157730" cy="2182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1592" y="5124796"/>
              <a:ext cx="1130530" cy="11388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40083" y="5150766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10" h="1041400">
                  <a:moveTo>
                    <a:pt x="1032007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1032007" y="1041399"/>
                  </a:lnTo>
                  <a:lnTo>
                    <a:pt x="103200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4971" y="4081548"/>
              <a:ext cx="1126374" cy="1142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4691" y="4109366"/>
              <a:ext cx="1025525" cy="1041400"/>
            </a:xfrm>
            <a:custGeom>
              <a:avLst/>
              <a:gdLst/>
              <a:ahLst/>
              <a:cxnLst/>
              <a:rect l="l" t="t" r="r" b="b"/>
              <a:pathLst>
                <a:path w="1025525" h="1041400">
                  <a:moveTo>
                    <a:pt x="1025391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1025391" y="1041400"/>
                  </a:lnTo>
                  <a:lnTo>
                    <a:pt x="1025391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1592" y="4081548"/>
              <a:ext cx="1130530" cy="1142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40083" y="4109366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10" h="1041400">
                  <a:moveTo>
                    <a:pt x="1032007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1032007" y="1041400"/>
                  </a:lnTo>
                  <a:lnTo>
                    <a:pt x="1032007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4971" y="5124796"/>
              <a:ext cx="1126374" cy="1138843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409929" y="4104604"/>
          <a:ext cx="2057400" cy="2082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12700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9525">
                      <a:solidFill>
                        <a:srgbClr val="5B92C7"/>
                      </a:solidFill>
                      <a:prstDash val="solid"/>
                    </a:lnT>
                    <a:lnB w="12700">
                      <a:solidFill>
                        <a:srgbClr val="5B92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B92C7"/>
                      </a:solidFill>
                      <a:prstDash val="solid"/>
                    </a:lnL>
                    <a:lnR w="12700">
                      <a:solidFill>
                        <a:srgbClr val="5B92C7"/>
                      </a:solidFill>
                      <a:prstDash val="solid"/>
                    </a:lnR>
                    <a:lnT w="12700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2C7"/>
                      </a:solidFill>
                      <a:prstDash val="solid"/>
                    </a:lnL>
                    <a:lnR w="9525">
                      <a:solidFill>
                        <a:srgbClr val="5B92C7"/>
                      </a:solidFill>
                      <a:prstDash val="solid"/>
                    </a:lnR>
                    <a:lnT w="12700">
                      <a:solidFill>
                        <a:srgbClr val="5B92C7"/>
                      </a:solidFill>
                      <a:prstDash val="solid"/>
                    </a:lnT>
                    <a:lnB w="9525">
                      <a:solidFill>
                        <a:srgbClr val="5B92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2414691" y="5150766"/>
            <a:ext cx="1025525" cy="1041400"/>
          </a:xfrm>
          <a:custGeom>
            <a:avLst/>
            <a:gdLst/>
            <a:ahLst/>
            <a:cxnLst/>
            <a:rect l="l" t="t" r="r" b="b"/>
            <a:pathLst>
              <a:path w="1025525" h="1041400">
                <a:moveTo>
                  <a:pt x="1025391" y="0"/>
                </a:moveTo>
                <a:lnTo>
                  <a:pt x="0" y="0"/>
                </a:lnTo>
                <a:lnTo>
                  <a:pt x="0" y="1041399"/>
                </a:lnTo>
                <a:lnTo>
                  <a:pt x="1025391" y="1041399"/>
                </a:lnTo>
                <a:lnTo>
                  <a:pt x="1025391" y="0"/>
                </a:lnTo>
                <a:close/>
              </a:path>
            </a:pathLst>
          </a:custGeom>
          <a:solidFill>
            <a:srgbClr val="D6C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084916" y="4081549"/>
            <a:ext cx="1908175" cy="1891664"/>
            <a:chOff x="6084916" y="4081549"/>
            <a:chExt cx="1908175" cy="1891664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5614" y="4463934"/>
              <a:ext cx="1134687" cy="11429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26183" y="4490366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09" h="1041400">
                  <a:moveTo>
                    <a:pt x="1032007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1032007" y="1041400"/>
                  </a:lnTo>
                  <a:lnTo>
                    <a:pt x="1032007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26182" y="4490367"/>
              <a:ext cx="1032510" cy="1041400"/>
            </a:xfrm>
            <a:custGeom>
              <a:avLst/>
              <a:gdLst/>
              <a:ahLst/>
              <a:cxnLst/>
              <a:rect l="l" t="t" r="r" b="b"/>
              <a:pathLst>
                <a:path w="1032509" h="1041400">
                  <a:moveTo>
                    <a:pt x="1032007" y="0"/>
                  </a:moveTo>
                  <a:lnTo>
                    <a:pt x="1032007" y="1041399"/>
                  </a:lnTo>
                  <a:lnTo>
                    <a:pt x="0" y="1041399"/>
                  </a:lnTo>
                  <a:lnTo>
                    <a:pt x="0" y="0"/>
                  </a:lnTo>
                  <a:lnTo>
                    <a:pt x="1032007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4916" y="4472247"/>
              <a:ext cx="386541" cy="11346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34778" y="4499758"/>
              <a:ext cx="284480" cy="1032510"/>
            </a:xfrm>
            <a:custGeom>
              <a:avLst/>
              <a:gdLst/>
              <a:ahLst/>
              <a:cxnLst/>
              <a:rect l="l" t="t" r="r" b="b"/>
              <a:pathLst>
                <a:path w="284479" h="1032510">
                  <a:moveTo>
                    <a:pt x="284201" y="0"/>
                  </a:moveTo>
                  <a:lnTo>
                    <a:pt x="0" y="0"/>
                  </a:lnTo>
                  <a:lnTo>
                    <a:pt x="0" y="1032008"/>
                  </a:lnTo>
                  <a:lnTo>
                    <a:pt x="284201" y="1032008"/>
                  </a:lnTo>
                  <a:lnTo>
                    <a:pt x="284201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34777" y="4499758"/>
              <a:ext cx="284480" cy="1032510"/>
            </a:xfrm>
            <a:custGeom>
              <a:avLst/>
              <a:gdLst/>
              <a:ahLst/>
              <a:cxnLst/>
              <a:rect l="l" t="t" r="r" b="b"/>
              <a:pathLst>
                <a:path w="284479" h="1032510">
                  <a:moveTo>
                    <a:pt x="0" y="0"/>
                  </a:moveTo>
                  <a:lnTo>
                    <a:pt x="284202" y="0"/>
                  </a:lnTo>
                  <a:lnTo>
                    <a:pt x="284202" y="1032007"/>
                  </a:lnTo>
                  <a:lnTo>
                    <a:pt x="0" y="10320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0300" y="4463934"/>
              <a:ext cx="382385" cy="11305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58776" y="4490366"/>
              <a:ext cx="284480" cy="1032510"/>
            </a:xfrm>
            <a:custGeom>
              <a:avLst/>
              <a:gdLst/>
              <a:ahLst/>
              <a:cxnLst/>
              <a:rect l="l" t="t" r="r" b="b"/>
              <a:pathLst>
                <a:path w="284479" h="1032510">
                  <a:moveTo>
                    <a:pt x="284201" y="0"/>
                  </a:moveTo>
                  <a:lnTo>
                    <a:pt x="0" y="0"/>
                  </a:lnTo>
                  <a:lnTo>
                    <a:pt x="0" y="1032007"/>
                  </a:lnTo>
                  <a:lnTo>
                    <a:pt x="284201" y="1032007"/>
                  </a:lnTo>
                  <a:lnTo>
                    <a:pt x="284201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58776" y="4490367"/>
              <a:ext cx="284480" cy="1032510"/>
            </a:xfrm>
            <a:custGeom>
              <a:avLst/>
              <a:gdLst/>
              <a:ahLst/>
              <a:cxnLst/>
              <a:rect l="l" t="t" r="r" b="b"/>
              <a:pathLst>
                <a:path w="284479" h="1032510">
                  <a:moveTo>
                    <a:pt x="0" y="0"/>
                  </a:moveTo>
                  <a:lnTo>
                    <a:pt x="284202" y="0"/>
                  </a:lnTo>
                  <a:lnTo>
                    <a:pt x="284202" y="1032007"/>
                  </a:lnTo>
                  <a:lnTo>
                    <a:pt x="0" y="10320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5614" y="4081549"/>
              <a:ext cx="1134687" cy="38654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26183" y="4109366"/>
              <a:ext cx="1032510" cy="284480"/>
            </a:xfrm>
            <a:custGeom>
              <a:avLst/>
              <a:gdLst/>
              <a:ahLst/>
              <a:cxnLst/>
              <a:rect l="l" t="t" r="r" b="b"/>
              <a:pathLst>
                <a:path w="1032509" h="284479">
                  <a:moveTo>
                    <a:pt x="1032007" y="0"/>
                  </a:moveTo>
                  <a:lnTo>
                    <a:pt x="0" y="0"/>
                  </a:lnTo>
                  <a:lnTo>
                    <a:pt x="0" y="284201"/>
                  </a:lnTo>
                  <a:lnTo>
                    <a:pt x="1032007" y="284201"/>
                  </a:lnTo>
                  <a:lnTo>
                    <a:pt x="1032007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26183" y="4109367"/>
              <a:ext cx="1032510" cy="284480"/>
            </a:xfrm>
            <a:custGeom>
              <a:avLst/>
              <a:gdLst/>
              <a:ahLst/>
              <a:cxnLst/>
              <a:rect l="l" t="t" r="r" b="b"/>
              <a:pathLst>
                <a:path w="1032509" h="284479">
                  <a:moveTo>
                    <a:pt x="0" y="284201"/>
                  </a:moveTo>
                  <a:lnTo>
                    <a:pt x="0" y="0"/>
                  </a:lnTo>
                  <a:lnTo>
                    <a:pt x="1032007" y="0"/>
                  </a:lnTo>
                  <a:lnTo>
                    <a:pt x="1032007" y="284201"/>
                  </a:lnTo>
                  <a:lnTo>
                    <a:pt x="0" y="284201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5614" y="5590308"/>
              <a:ext cx="1134687" cy="38238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26183" y="5616434"/>
              <a:ext cx="1032510" cy="284480"/>
            </a:xfrm>
            <a:custGeom>
              <a:avLst/>
              <a:gdLst/>
              <a:ahLst/>
              <a:cxnLst/>
              <a:rect l="l" t="t" r="r" b="b"/>
              <a:pathLst>
                <a:path w="1032509" h="284479">
                  <a:moveTo>
                    <a:pt x="1032007" y="0"/>
                  </a:moveTo>
                  <a:lnTo>
                    <a:pt x="0" y="0"/>
                  </a:lnTo>
                  <a:lnTo>
                    <a:pt x="0" y="284201"/>
                  </a:lnTo>
                  <a:lnTo>
                    <a:pt x="1032007" y="284201"/>
                  </a:lnTo>
                  <a:lnTo>
                    <a:pt x="1032007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26183" y="5616433"/>
              <a:ext cx="1032510" cy="284480"/>
            </a:xfrm>
            <a:custGeom>
              <a:avLst/>
              <a:gdLst/>
              <a:ahLst/>
              <a:cxnLst/>
              <a:rect l="l" t="t" r="r" b="b"/>
              <a:pathLst>
                <a:path w="1032509" h="284479">
                  <a:moveTo>
                    <a:pt x="0" y="284201"/>
                  </a:moveTo>
                  <a:lnTo>
                    <a:pt x="0" y="0"/>
                  </a:lnTo>
                  <a:lnTo>
                    <a:pt x="1032007" y="0"/>
                  </a:lnTo>
                  <a:lnTo>
                    <a:pt x="1032007" y="284201"/>
                  </a:lnTo>
                  <a:lnTo>
                    <a:pt x="0" y="284201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745868" y="5940521"/>
            <a:ext cx="49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/√P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Process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Geometry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89688"/>
            <a:ext cx="7703184" cy="45542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86105" indent="-342900">
              <a:lnSpc>
                <a:spcPts val="28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Block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decomposition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is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harder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to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implement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than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strip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decomposition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1499"/>
              </a:lnSpc>
              <a:spcBef>
                <a:spcPts val="470"/>
              </a:spcBef>
              <a:buFont typeface="Arial MT"/>
              <a:buChar char="•"/>
              <a:tabLst>
                <a:tab pos="354965" algn="l"/>
                <a:tab pos="355600" algn="l"/>
                <a:tab pos="96774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Any	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good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reasons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why</a:t>
            </a:r>
            <a:r>
              <a:rPr sz="24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application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should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support</a:t>
            </a:r>
            <a:r>
              <a:rPr sz="24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block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decomposition?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15968"/>
              </a:buClr>
              <a:buFont typeface="Arial MT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5600" marR="194310" indent="-342900">
              <a:lnSpc>
                <a:spcPct val="101499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Strip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decomposition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will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outperform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block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decomposition </a:t>
            </a:r>
            <a:r>
              <a:rPr sz="2400" spc="-52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resulting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lower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communication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times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215968"/>
              </a:buClr>
              <a:buFont typeface="Arial MT"/>
              <a:buChar char="•"/>
            </a:pPr>
            <a:endParaRPr sz="3600" dirty="0">
              <a:latin typeface="Calibri"/>
              <a:cs typeface="Calibri"/>
            </a:endParaRPr>
          </a:p>
          <a:p>
            <a:pPr marL="268605" algn="ctr">
              <a:lnSpc>
                <a:spcPct val="100000"/>
              </a:lnSpc>
            </a:pP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when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2(</a:t>
            </a:r>
            <a:r>
              <a:rPr sz="2000" dirty="0">
                <a:solidFill>
                  <a:srgbClr val="296C7B"/>
                </a:solidFill>
                <a:latin typeface="MS PGothic"/>
                <a:cs typeface="MS PGothic"/>
              </a:rPr>
              <a:t>α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+8N/</a:t>
            </a:r>
            <a:r>
              <a:rPr sz="2000" dirty="0">
                <a:solidFill>
                  <a:srgbClr val="296C7B"/>
                </a:solidFill>
                <a:latin typeface="MS PGothic"/>
                <a:cs typeface="MS PGothic"/>
              </a:rPr>
              <a:t>β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)</a:t>
            </a:r>
            <a:r>
              <a:rPr sz="2000" spc="-2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&lt;</a:t>
            </a:r>
            <a:r>
              <a:rPr sz="2000" spc="-2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4(</a:t>
            </a:r>
            <a:r>
              <a:rPr sz="2000" dirty="0">
                <a:solidFill>
                  <a:srgbClr val="296C7B"/>
                </a:solidFill>
                <a:latin typeface="MS PGothic"/>
                <a:cs typeface="MS PGothic"/>
              </a:rPr>
              <a:t>α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+8N/(</a:t>
            </a:r>
            <a:r>
              <a:rPr sz="2000" dirty="0">
                <a:solidFill>
                  <a:srgbClr val="296C7B"/>
                </a:solidFill>
                <a:latin typeface="MS PGothic"/>
                <a:cs typeface="MS PGothic"/>
              </a:rPr>
              <a:t>β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√P</a:t>
            </a:r>
            <a:r>
              <a:rPr sz="2000" spc="-2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))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 dirty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Optimal process geometry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depends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on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N,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β and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α.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The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155" dirty="0">
                <a:solidFill>
                  <a:srgbClr val="FFFFFF"/>
                </a:solidFill>
              </a:rPr>
              <a:t>Aliev-­‐Panfilov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Method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37872"/>
            <a:ext cx="7559040" cy="2830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Models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signal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propagation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cardiac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tissue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4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Can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be used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in clinical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diagnosis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and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treatment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diseases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80" dirty="0">
                <a:solidFill>
                  <a:srgbClr val="215968"/>
                </a:solidFill>
                <a:latin typeface="Calibri"/>
                <a:cs typeface="Calibri"/>
              </a:rPr>
              <a:t>Reaction-­‐diﬀusion</a:t>
            </a:r>
            <a:r>
              <a:rPr sz="2400" spc="-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749300" marR="5080" lvl="1" indent="-279400">
              <a:lnSpc>
                <a:spcPts val="2120"/>
              </a:lnSpc>
              <a:spcBef>
                <a:spcPts val="565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Reactions are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the cellular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exchanges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certain ions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across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the cell </a:t>
            </a:r>
            <a:r>
              <a:rPr sz="2000" spc="-44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membrane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during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the cellular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electrical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impulse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95" dirty="0">
                <a:solidFill>
                  <a:srgbClr val="215968"/>
                </a:solidFill>
                <a:latin typeface="Calibri"/>
                <a:cs typeface="Calibri"/>
              </a:rPr>
              <a:t>Aliev-­‐Panfilov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has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two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state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6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Transmembrane</a:t>
            </a:r>
            <a:r>
              <a:rPr sz="20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potential: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Recovery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tissue: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9023" y="5142574"/>
            <a:ext cx="7987030" cy="11417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600" spc="-5" dirty="0">
                <a:solidFill>
                  <a:srgbClr val="215968"/>
                </a:solidFill>
                <a:latin typeface="Calibri"/>
                <a:cs typeface="Calibri"/>
              </a:rPr>
              <a:t>Reference:</a:t>
            </a:r>
            <a:endParaRPr sz="1600">
              <a:latin typeface="Calibri"/>
              <a:cs typeface="Calibri"/>
            </a:endParaRPr>
          </a:p>
          <a:p>
            <a:pPr marL="12700" marR="176530">
              <a:lnSpc>
                <a:spcPts val="1560"/>
              </a:lnSpc>
              <a:spcBef>
                <a:spcPts val="305"/>
              </a:spcBef>
            </a:pP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R.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Aliev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and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A.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V.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Panﬁlov.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A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Simple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65" dirty="0">
                <a:solidFill>
                  <a:srgbClr val="215968"/>
                </a:solidFill>
                <a:latin typeface="Calibri"/>
                <a:cs typeface="Calibri"/>
              </a:rPr>
              <a:t>two-­‐variable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model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cardiac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excitation.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Chaos,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Solions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&amp;</a:t>
            </a:r>
            <a:r>
              <a:rPr sz="1400" i="1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Fractals,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7(3): </a:t>
            </a:r>
            <a:r>
              <a:rPr sz="1400" i="1" spc="-30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90" dirty="0">
                <a:solidFill>
                  <a:srgbClr val="215968"/>
                </a:solidFill>
                <a:latin typeface="Calibri"/>
                <a:cs typeface="Calibri"/>
              </a:rPr>
              <a:t>293-­‐301,</a:t>
            </a:r>
            <a:r>
              <a:rPr sz="1400" i="1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1996.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460"/>
              </a:lnSpc>
              <a:spcBef>
                <a:spcPts val="360"/>
              </a:spcBef>
            </a:pP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M.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Hanslien.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Stability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Two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0" dirty="0">
                <a:solidFill>
                  <a:srgbClr val="215968"/>
                </a:solidFill>
                <a:latin typeface="Calibri"/>
                <a:cs typeface="Calibri"/>
              </a:rPr>
              <a:t>Time-­‐integration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for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60" dirty="0">
                <a:solidFill>
                  <a:srgbClr val="215968"/>
                </a:solidFill>
                <a:latin typeface="Calibri"/>
                <a:cs typeface="Calibri"/>
              </a:rPr>
              <a:t>Aliev-­‐Panﬁlov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System.</a:t>
            </a:r>
            <a:r>
              <a:rPr sz="1400" i="1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International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Journal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1400" i="1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Numerical </a:t>
            </a:r>
            <a:r>
              <a:rPr sz="1400" i="1" spc="-3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Analysis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and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Modeling,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90" dirty="0">
                <a:solidFill>
                  <a:srgbClr val="215968"/>
                </a:solidFill>
                <a:latin typeface="Calibri"/>
                <a:cs typeface="Calibri"/>
              </a:rPr>
              <a:t>427-­‐442,</a:t>
            </a:r>
            <a:r>
              <a:rPr sz="1400" i="1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215968"/>
                </a:solidFill>
                <a:latin typeface="Calibri"/>
                <a:cs typeface="Calibri"/>
              </a:rPr>
              <a:t>2011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4391" y="3545301"/>
            <a:ext cx="1176780" cy="15652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155" dirty="0">
                <a:solidFill>
                  <a:srgbClr val="FFFFFF"/>
                </a:solidFill>
              </a:rPr>
              <a:t>Aliev-­‐Panfilov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06338" y="6783906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3323" y="1300301"/>
            <a:ext cx="7343775" cy="101726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Models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signal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propagation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cardiac</a:t>
            </a:r>
            <a:r>
              <a:rPr sz="24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tissue</a:t>
            </a:r>
            <a:endParaRPr sz="2400">
              <a:latin typeface="Calibri"/>
              <a:cs typeface="Calibri"/>
            </a:endParaRPr>
          </a:p>
          <a:p>
            <a:pPr marL="749300" marR="5080" indent="-279400">
              <a:lnSpc>
                <a:spcPts val="2220"/>
              </a:lnSpc>
              <a:spcBef>
                <a:spcPts val="365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Demonstrates complex behavior of spiral waves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that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are known </a:t>
            </a:r>
            <a:r>
              <a:rPr sz="2000" spc="-44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cause </a:t>
            </a:r>
            <a:r>
              <a:rPr sz="2000" spc="-70" dirty="0">
                <a:solidFill>
                  <a:srgbClr val="31859C"/>
                </a:solidFill>
                <a:latin typeface="Calibri"/>
                <a:cs typeface="Calibri"/>
              </a:rPr>
              <a:t>life-­‐threatening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situations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1633" y="2609656"/>
            <a:ext cx="5109881" cy="15544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8843" y="4370696"/>
            <a:ext cx="4108667" cy="26172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95882" y="5470620"/>
            <a:ext cx="274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Simulation </a:t>
            </a:r>
            <a:r>
              <a:rPr sz="1600" dirty="0">
                <a:latin typeface="Calibri"/>
                <a:cs typeface="Calibri"/>
              </a:rPr>
              <a:t>at </a:t>
            </a:r>
            <a:r>
              <a:rPr sz="1600" spc="-5" dirty="0">
                <a:latin typeface="Calibri"/>
                <a:cs typeface="Calibri"/>
              </a:rPr>
              <a:t>diﬀerent timesteps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5021" y="3091487"/>
            <a:ext cx="218313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5" dirty="0">
                <a:latin typeface="Calibri"/>
                <a:cs typeface="Calibri"/>
              </a:rPr>
              <a:t>Simulation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Results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Diﬀerent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resolution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(grid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size)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0482" y="6738504"/>
            <a:ext cx="1708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alibri"/>
                <a:cs typeface="Calibri"/>
              </a:rPr>
              <a:t>Img.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Source: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(Simula)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Numerical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Method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56662" y="1369475"/>
            <a:ext cx="7465695" cy="26365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 model comprises two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parts: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2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Ordinary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Diﬀerential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Equations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(ODE)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Describes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kinetics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reactions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occurring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at</a:t>
            </a:r>
            <a:r>
              <a:rPr sz="18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every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point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in</a:t>
            </a:r>
            <a:r>
              <a:rPr sz="18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space.</a:t>
            </a:r>
            <a:endParaRPr sz="1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89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Partial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Diﬀerential Equation (PDE)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Describes</a:t>
            </a:r>
            <a:r>
              <a:rPr sz="1800" dirty="0">
                <a:solidFill>
                  <a:srgbClr val="31859C"/>
                </a:solidFill>
                <a:latin typeface="Calibri"/>
                <a:cs typeface="Calibri"/>
              </a:rPr>
              <a:t> the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spatial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diﬀusion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alibri"/>
                <a:cs typeface="Calibri"/>
              </a:rPr>
              <a:t>reactants</a:t>
            </a:r>
            <a:endParaRPr sz="1800">
              <a:latin typeface="Calibri"/>
              <a:cs typeface="Calibri"/>
            </a:endParaRPr>
          </a:p>
          <a:p>
            <a:pPr marL="355600" marR="37465" indent="-342900">
              <a:lnSpc>
                <a:spcPts val="2820"/>
              </a:lnSpc>
              <a:spcBef>
                <a:spcPts val="7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Assignment</a:t>
            </a:r>
            <a:r>
              <a:rPr sz="2400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implements</a:t>
            </a:r>
            <a:r>
              <a:rPr sz="2400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120" dirty="0">
                <a:solidFill>
                  <a:srgbClr val="215968"/>
                </a:solidFill>
                <a:latin typeface="Calibri"/>
                <a:cs typeface="Calibri"/>
              </a:rPr>
              <a:t>first-­‐order</a:t>
            </a:r>
            <a:r>
              <a:rPr sz="2400" spc="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explicit</a:t>
            </a:r>
            <a:r>
              <a:rPr sz="2400" spc="2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numerical </a:t>
            </a:r>
            <a:r>
              <a:rPr sz="2400" spc="-53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scheme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solve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the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6846" y="4268098"/>
            <a:ext cx="4514954" cy="15907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ODE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and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PDE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Solvers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5181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551815" algn="l"/>
                <a:tab pos="552450" algn="l"/>
              </a:tabLst>
            </a:pPr>
            <a:r>
              <a:rPr spc="-5" dirty="0"/>
              <a:t>ODE</a:t>
            </a:r>
            <a:r>
              <a:rPr spc="-35" dirty="0"/>
              <a:t> </a:t>
            </a:r>
            <a:r>
              <a:rPr spc="-5" dirty="0"/>
              <a:t>solver:</a:t>
            </a:r>
          </a:p>
          <a:p>
            <a:pPr marL="951865" lvl="1" indent="-285750">
              <a:lnSpc>
                <a:spcPct val="100000"/>
              </a:lnSpc>
              <a:spcBef>
                <a:spcPts val="400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No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data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dependency,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trivially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parallelizable</a:t>
            </a:r>
            <a:endParaRPr sz="2000" dirty="0">
              <a:latin typeface="Calibri"/>
              <a:cs typeface="Calibri"/>
            </a:endParaRPr>
          </a:p>
          <a:p>
            <a:pPr marL="951865" lvl="1" indent="-28575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Requires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lot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registers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hold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temporary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variables</a:t>
            </a:r>
            <a:endParaRPr sz="2000" dirty="0">
              <a:latin typeface="Calibri"/>
              <a:cs typeface="Calibri"/>
            </a:endParaRPr>
          </a:p>
          <a:p>
            <a:pPr marL="951865" lvl="1" indent="-28575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CPU</a:t>
            </a:r>
            <a:r>
              <a:rPr sz="2000" spc="-2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intensive</a:t>
            </a:r>
            <a:endParaRPr sz="2000" dirty="0">
              <a:latin typeface="Calibri"/>
              <a:cs typeface="Calibri"/>
            </a:endParaRPr>
          </a:p>
          <a:p>
            <a:pPr marL="551815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551815" algn="l"/>
                <a:tab pos="552450" algn="l"/>
              </a:tabLst>
            </a:pPr>
            <a:r>
              <a:rPr dirty="0"/>
              <a:t>PDE</a:t>
            </a:r>
            <a:r>
              <a:rPr spc="-45" dirty="0"/>
              <a:t> </a:t>
            </a:r>
            <a:r>
              <a:rPr dirty="0"/>
              <a:t>solver:</a:t>
            </a:r>
          </a:p>
          <a:p>
            <a:pPr marL="951865" lvl="1" indent="-285750">
              <a:lnSpc>
                <a:spcPct val="100000"/>
              </a:lnSpc>
              <a:spcBef>
                <a:spcPts val="425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Jacobi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update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for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the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140" dirty="0">
                <a:solidFill>
                  <a:srgbClr val="31859C"/>
                </a:solidFill>
                <a:latin typeface="Calibri"/>
                <a:cs typeface="Calibri"/>
              </a:rPr>
              <a:t>5-­‐point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Laplacian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operator.</a:t>
            </a:r>
            <a:endParaRPr sz="2000" dirty="0">
              <a:latin typeface="Calibri"/>
              <a:cs typeface="Calibri"/>
            </a:endParaRPr>
          </a:p>
          <a:p>
            <a:pPr marL="951865" lvl="1" indent="-28575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Sweeps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over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a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uniformly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spaced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mesh</a:t>
            </a:r>
            <a:endParaRPr sz="2000" dirty="0">
              <a:latin typeface="Calibri"/>
              <a:cs typeface="Calibri"/>
            </a:endParaRPr>
          </a:p>
          <a:p>
            <a:pPr marL="945515" marR="5080" lvl="1" indent="-279400">
              <a:lnSpc>
                <a:spcPct val="100800"/>
              </a:lnSpc>
              <a:spcBef>
                <a:spcPts val="480"/>
              </a:spcBef>
              <a:buFont typeface="Courier New"/>
              <a:buChar char="o"/>
              <a:tabLst>
                <a:tab pos="95250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Updates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voltage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according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weighted</a:t>
            </a:r>
            <a:r>
              <a:rPr sz="2000" spc="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contributions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from</a:t>
            </a:r>
            <a:r>
              <a:rPr sz="20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the </a:t>
            </a:r>
            <a:r>
              <a:rPr sz="2000" spc="-434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four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nearest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neighboring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positions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 in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space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8221" y="5119573"/>
            <a:ext cx="8399780" cy="124777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sz="1800" spc="-5" dirty="0">
                <a:latin typeface="Palatino Linotype"/>
                <a:cs typeface="Palatino Linotype"/>
              </a:rPr>
              <a:t>PDE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part:</a:t>
            </a:r>
            <a:endParaRPr sz="1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00">
              <a:latin typeface="Palatino Linotype"/>
              <a:cs typeface="Palatino Linotype"/>
            </a:endParaRPr>
          </a:p>
          <a:p>
            <a:pPr marL="91440">
              <a:lnSpc>
                <a:spcPct val="100000"/>
              </a:lnSpc>
              <a:tabLst>
                <a:tab pos="1036955" algn="l"/>
              </a:tabLst>
            </a:pPr>
            <a:r>
              <a:rPr sz="1600" spc="-5" dirty="0">
                <a:latin typeface="Verdana"/>
                <a:cs typeface="Verdana"/>
              </a:rPr>
              <a:t>E</a:t>
            </a:r>
            <a:r>
              <a:rPr sz="1575" spc="-7" baseline="26455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[i,j]</a:t>
            </a:r>
            <a:r>
              <a:rPr sz="1600" dirty="0">
                <a:latin typeface="Verdana"/>
                <a:cs typeface="Verdana"/>
              </a:rPr>
              <a:t> =	</a:t>
            </a:r>
            <a:r>
              <a:rPr sz="1600" spc="-5" dirty="0">
                <a:latin typeface="Verdana"/>
                <a:cs typeface="Verdana"/>
              </a:rPr>
              <a:t>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[i,j]</a:t>
            </a:r>
            <a:r>
              <a:rPr sz="1600" dirty="0">
                <a:latin typeface="Verdana"/>
                <a:cs typeface="Verdana"/>
              </a:rPr>
              <a:t> +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Symbol"/>
                <a:cs typeface="Symbol"/>
              </a:rPr>
              <a:t></a:t>
            </a:r>
            <a:r>
              <a:rPr sz="1600" spc="-5" dirty="0">
                <a:latin typeface="Verdana"/>
                <a:cs typeface="Verdana"/>
              </a:rPr>
              <a:t>(E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[i+1,j]</a:t>
            </a:r>
            <a:r>
              <a:rPr sz="1600" dirty="0">
                <a:latin typeface="Verdana"/>
                <a:cs typeface="Verdana"/>
              </a:rPr>
              <a:t> + </a:t>
            </a:r>
            <a:r>
              <a:rPr sz="1600" spc="-5" dirty="0">
                <a:latin typeface="Verdana"/>
                <a:cs typeface="Verdana"/>
              </a:rPr>
              <a:t>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[i-1,j]</a:t>
            </a:r>
            <a:r>
              <a:rPr sz="1600" dirty="0">
                <a:latin typeface="Verdana"/>
                <a:cs typeface="Verdana"/>
              </a:rPr>
              <a:t> + </a:t>
            </a:r>
            <a:r>
              <a:rPr sz="1600" spc="-5" dirty="0">
                <a:latin typeface="Verdana"/>
                <a:cs typeface="Verdana"/>
              </a:rPr>
              <a:t>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[i,j+1]</a:t>
            </a:r>
            <a:r>
              <a:rPr sz="1600" dirty="0">
                <a:latin typeface="Verdana"/>
                <a:cs typeface="Verdana"/>
              </a:rPr>
              <a:t> +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[i,j-1]</a:t>
            </a:r>
            <a:r>
              <a:rPr sz="1600" dirty="0">
                <a:latin typeface="Verdana"/>
                <a:cs typeface="Verdana"/>
              </a:rPr>
              <a:t> - </a:t>
            </a:r>
            <a:r>
              <a:rPr sz="1600" spc="-5" dirty="0">
                <a:latin typeface="Verdana"/>
                <a:cs typeface="Verdana"/>
              </a:rPr>
              <a:t>4E</a:t>
            </a:r>
            <a:r>
              <a:rPr sz="1575" spc="-7" baseline="26455" dirty="0">
                <a:latin typeface="Verdana"/>
                <a:cs typeface="Verdana"/>
              </a:rPr>
              <a:t>t-1</a:t>
            </a:r>
            <a:r>
              <a:rPr sz="1600" spc="-5" dirty="0">
                <a:latin typeface="Verdana"/>
                <a:cs typeface="Verdana"/>
              </a:rPr>
              <a:t>[i,j])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Assignment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#3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33808"/>
            <a:ext cx="7998459" cy="497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63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MPI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+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OpenMP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parallelization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90" dirty="0">
                <a:solidFill>
                  <a:srgbClr val="215968"/>
                </a:solidFill>
                <a:latin typeface="Calibri"/>
                <a:cs typeface="Calibri"/>
              </a:rPr>
              <a:t>Aliev-­‐Panfilov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method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ts val="261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Serial</a:t>
            </a:r>
            <a:r>
              <a:rPr sz="22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code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is</a:t>
            </a:r>
            <a:r>
              <a:rPr sz="2200" spc="-1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provided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ts val="2255"/>
              </a:lnSpc>
              <a:buFont typeface="Courier New"/>
              <a:buChar char="o"/>
              <a:tabLst>
                <a:tab pos="755650" algn="l"/>
              </a:tabLst>
            </a:pP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Uses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 N+2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grid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size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to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accommodate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ghost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cells</a:t>
            </a:r>
            <a:endParaRPr sz="19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755650" algn="l"/>
              </a:tabLst>
            </a:pP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Three</a:t>
            </a:r>
            <a:r>
              <a:rPr sz="19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grids: Eprev,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E,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and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R</a:t>
            </a: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spcBef>
                <a:spcPts val="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Start MPI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1D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geometry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(row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partitioning)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ts val="26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Next</a:t>
            </a:r>
            <a:r>
              <a:rPr sz="2200" spc="-2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add</a:t>
            </a:r>
            <a:r>
              <a:rPr sz="22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2D</a:t>
            </a:r>
            <a:r>
              <a:rPr sz="22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geometry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Finally</a:t>
            </a:r>
            <a:r>
              <a:rPr sz="22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add</a:t>
            </a:r>
            <a:r>
              <a:rPr sz="22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OpenMP</a:t>
            </a:r>
            <a:r>
              <a:rPr sz="2200" spc="-1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parallelism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spcBef>
                <a:spcPts val="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You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can use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blocking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or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100" dirty="0">
                <a:solidFill>
                  <a:srgbClr val="215968"/>
                </a:solidFill>
                <a:latin typeface="Calibri"/>
                <a:cs typeface="Calibri"/>
              </a:rPr>
              <a:t>non-­‐blocking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calls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We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not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asking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you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to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implement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communication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hiding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version</a:t>
            </a:r>
            <a:endParaRPr sz="2200">
              <a:latin typeface="Calibri"/>
              <a:cs typeface="Calibri"/>
            </a:endParaRPr>
          </a:p>
          <a:p>
            <a:pPr marL="749300" marR="216535" lvl="1" indent="-279400">
              <a:lnSpc>
                <a:spcPct val="76500"/>
              </a:lnSpc>
              <a:spcBef>
                <a:spcPts val="585"/>
              </a:spcBef>
              <a:buFont typeface="Courier New"/>
              <a:buChar char="o"/>
              <a:tabLst>
                <a:tab pos="755650" algn="l"/>
              </a:tabLst>
            </a:pP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Warning: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Will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take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more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eﬀort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implement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the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communication</a:t>
            </a:r>
            <a:r>
              <a:rPr sz="19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hiding </a:t>
            </a:r>
            <a:r>
              <a:rPr sz="1900" spc="-4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ve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si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n</a:t>
            </a:r>
            <a:r>
              <a:rPr sz="1900" spc="-390" dirty="0">
                <a:solidFill>
                  <a:srgbClr val="31859C"/>
                </a:solidFill>
                <a:latin typeface="Calibri"/>
                <a:cs typeface="Calibri"/>
              </a:rPr>
              <a:t>-­‐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no ext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a c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edit</a:t>
            </a:r>
            <a:endParaRPr sz="1900">
              <a:latin typeface="Calibri"/>
              <a:cs typeface="Calibri"/>
            </a:endParaRPr>
          </a:p>
          <a:p>
            <a:pPr marL="355600" marR="61594" indent="-342900">
              <a:lnSpc>
                <a:spcPct val="785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Serial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code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reports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the Gﬂops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rates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and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sustained</a:t>
            </a:r>
            <a:r>
              <a:rPr sz="22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bandwidth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rates </a:t>
            </a:r>
            <a:r>
              <a:rPr sz="2200" spc="-48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(in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 addition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to </a:t>
            </a:r>
            <a:r>
              <a:rPr sz="2200" spc="-10" dirty="0">
                <a:solidFill>
                  <a:srgbClr val="215968"/>
                </a:solidFill>
                <a:latin typeface="Calibri"/>
                <a:cs typeface="Calibri"/>
              </a:rPr>
              <a:t>time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in sec)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ts val="2255"/>
              </a:lnSpc>
              <a:buFont typeface="Courier New"/>
              <a:buChar char="o"/>
              <a:tabLst>
                <a:tab pos="755650" algn="l"/>
              </a:tabLst>
            </a:pP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Why are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Gﬂops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and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memory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bandwidth rates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 useful?</a:t>
            </a: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ts val="2615"/>
              </a:lnSpc>
              <a:spcBef>
                <a:spcPts val="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We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ask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you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to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 measure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 the </a:t>
            </a:r>
            <a:r>
              <a:rPr sz="2200" spc="-10" dirty="0">
                <a:solidFill>
                  <a:srgbClr val="215968"/>
                </a:solidFill>
                <a:latin typeface="Calibri"/>
                <a:cs typeface="Calibri"/>
              </a:rPr>
              <a:t>time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15968"/>
                </a:solidFill>
                <a:latin typeface="Calibri"/>
                <a:cs typeface="Calibri"/>
              </a:rPr>
              <a:t>spent in </a:t>
            </a:r>
            <a:r>
              <a:rPr sz="2200" spc="-5" dirty="0">
                <a:solidFill>
                  <a:srgbClr val="215968"/>
                </a:solidFill>
                <a:latin typeface="Calibri"/>
                <a:cs typeface="Calibri"/>
              </a:rPr>
              <a:t>communication.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ts val="2255"/>
              </a:lnSpc>
              <a:buFont typeface="Courier New"/>
              <a:buChar char="o"/>
              <a:tabLst>
                <a:tab pos="755650" algn="l"/>
              </a:tabLst>
            </a:pP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How</a:t>
            </a:r>
            <a:r>
              <a:rPr sz="19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can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you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31859C"/>
                </a:solidFill>
                <a:latin typeface="Calibri"/>
                <a:cs typeface="Calibri"/>
              </a:rPr>
              <a:t>measure</a:t>
            </a:r>
            <a:r>
              <a:rPr sz="19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1859C"/>
                </a:solidFill>
                <a:latin typeface="Calibri"/>
                <a:cs typeface="Calibri"/>
              </a:rPr>
              <a:t>that?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Pseudo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Code for Parallelization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8728"/>
            <a:ext cx="6731634" cy="4441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Broadcast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the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input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arguments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Create</a:t>
            </a:r>
            <a:r>
              <a:rPr sz="2000" spc="-2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buffers</a:t>
            </a:r>
            <a:r>
              <a:rPr sz="2000" spc="-1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for</a:t>
            </a:r>
            <a:r>
              <a:rPr sz="2000" spc="-1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send</a:t>
            </a:r>
            <a:r>
              <a:rPr sz="2000" spc="-2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and</a:t>
            </a:r>
            <a:r>
              <a:rPr sz="2000" spc="-1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receive</a:t>
            </a:r>
            <a:r>
              <a:rPr sz="2000" spc="-1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messages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While</a:t>
            </a:r>
            <a:r>
              <a:rPr sz="2000" spc="-35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15968"/>
                </a:solidFill>
                <a:latin typeface="Courier New"/>
                <a:cs typeface="Courier New"/>
              </a:rPr>
              <a:t>(t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&lt;</a:t>
            </a:r>
            <a:r>
              <a:rPr sz="2000" spc="-30" dirty="0">
                <a:solidFill>
                  <a:srgbClr val="21596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15968"/>
                </a:solidFill>
                <a:latin typeface="Courier New"/>
                <a:cs typeface="Courier New"/>
              </a:rPr>
              <a:t>T)</a:t>
            </a:r>
            <a:endParaRPr sz="2000">
              <a:latin typeface="Courier New"/>
              <a:cs typeface="Courier New"/>
            </a:endParaRPr>
          </a:p>
          <a:p>
            <a:pPr marL="469900" marR="2001520">
              <a:lnSpc>
                <a:spcPct val="120400"/>
              </a:lnSpc>
              <a:spcBef>
                <a:spcPts val="10"/>
              </a:spcBef>
              <a:tabLst>
                <a:tab pos="2390140" algn="l"/>
              </a:tabLst>
            </a:pP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Post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 Ireceive	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for</a:t>
            </a:r>
            <a:r>
              <a:rPr sz="1800" spc="-5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all</a:t>
            </a:r>
            <a:r>
              <a:rPr sz="1800" spc="-4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neighbors </a:t>
            </a:r>
            <a:r>
              <a:rPr sz="1800" spc="-106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Send</a:t>
            </a:r>
            <a:r>
              <a:rPr sz="1800" spc="-1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data</a:t>
            </a:r>
            <a:r>
              <a:rPr sz="1800" spc="-1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to</a:t>
            </a:r>
            <a:r>
              <a:rPr sz="1800" spc="-1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neighbors</a:t>
            </a:r>
            <a:endParaRPr sz="1800">
              <a:latin typeface="Courier New"/>
              <a:cs typeface="Courier New"/>
            </a:endParaRPr>
          </a:p>
          <a:p>
            <a:pPr marL="469900" marR="3647440">
              <a:lnSpc>
                <a:spcPct val="120400"/>
              </a:lnSpc>
            </a:pP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Wait</a:t>
            </a:r>
            <a:r>
              <a:rPr sz="1800" spc="-5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for</a:t>
            </a:r>
            <a:r>
              <a:rPr sz="1800" spc="-5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completion </a:t>
            </a:r>
            <a:r>
              <a:rPr sz="1800" spc="-106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Unpack</a:t>
            </a:r>
            <a:r>
              <a:rPr sz="1800" spc="-3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the</a:t>
            </a:r>
            <a:r>
              <a:rPr sz="1800" spc="-3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message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Perform</a:t>
            </a:r>
            <a:r>
              <a:rPr sz="1800" spc="-2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PDE</a:t>
            </a:r>
            <a:r>
              <a:rPr sz="1800" spc="-2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and</a:t>
            </a:r>
            <a:r>
              <a:rPr sz="1800" spc="-1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ODE</a:t>
            </a:r>
            <a:r>
              <a:rPr sz="1800" spc="-2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solvers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ourier New"/>
              <a:cs typeface="Courier New"/>
            </a:endParaRPr>
          </a:p>
          <a:p>
            <a:pPr marL="744220" marR="1315720" indent="-274955">
              <a:lnSpc>
                <a:spcPct val="120400"/>
              </a:lnSpc>
            </a:pP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If (plot at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t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is true and rank is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0) </a:t>
            </a:r>
            <a:r>
              <a:rPr sz="1800" spc="-107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Gather</a:t>
            </a:r>
            <a:r>
              <a:rPr sz="1800" spc="2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data</a:t>
            </a:r>
            <a:r>
              <a:rPr sz="1800" spc="3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from</a:t>
            </a:r>
            <a:r>
              <a:rPr sz="1800" spc="3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all</a:t>
            </a:r>
            <a:r>
              <a:rPr sz="1800" spc="2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1859C"/>
                </a:solidFill>
                <a:latin typeface="Courier New"/>
                <a:cs typeface="Courier New"/>
              </a:rPr>
              <a:t>processes </a:t>
            </a:r>
            <a:r>
              <a:rPr sz="1800" spc="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Plot</a:t>
            </a:r>
            <a:r>
              <a:rPr sz="1800" spc="-1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the</a:t>
            </a:r>
            <a:r>
              <a:rPr sz="1800" spc="-10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31859C"/>
                </a:solidFill>
                <a:latin typeface="Courier New"/>
                <a:cs typeface="Courier New"/>
              </a:rPr>
              <a:t>mesh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50"/>
              </a:spcBef>
            </a:pPr>
            <a:r>
              <a:rPr sz="4000" dirty="0">
                <a:solidFill>
                  <a:srgbClr val="FFFFFF"/>
                </a:solidFill>
              </a:rPr>
              <a:t>A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side note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on Corner </a:t>
            </a:r>
            <a:r>
              <a:rPr sz="4000" dirty="0">
                <a:solidFill>
                  <a:srgbClr val="FFFFFF"/>
                </a:solidFill>
              </a:rPr>
              <a:t>Cells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079504" y="1611961"/>
            <a:ext cx="4469765" cy="1112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2900">
              <a:lnSpc>
                <a:spcPct val="988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Instead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of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exchanging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messages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with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corner </a:t>
            </a:r>
            <a:r>
              <a:rPr sz="1800" spc="-39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processes,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experimental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studies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showed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that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it is </a:t>
            </a:r>
            <a:r>
              <a:rPr sz="1800" spc="-15" dirty="0">
                <a:solidFill>
                  <a:srgbClr val="215968"/>
                </a:solidFill>
                <a:latin typeface="Calibri"/>
                <a:cs typeface="Calibri"/>
              </a:rPr>
              <a:t>better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to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receive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messages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N, </a:t>
            </a:r>
            <a:r>
              <a:rPr sz="1800" spc="-39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S,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 W,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E in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 two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steps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6704" y="2752929"/>
            <a:ext cx="4016375" cy="1541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233045" indent="-27940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98450" algn="l"/>
              </a:tabLst>
            </a:pP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Because corner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points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are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also sent to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our </a:t>
            </a:r>
            <a:r>
              <a:rPr sz="1600" spc="-35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neighbors</a:t>
            </a:r>
            <a:endParaRPr sz="1600">
              <a:latin typeface="Calibri"/>
              <a:cs typeface="Calibri"/>
            </a:endParaRPr>
          </a:p>
          <a:p>
            <a:pPr marL="292100" marR="5080" indent="-279400">
              <a:lnSpc>
                <a:spcPct val="101000"/>
              </a:lnSpc>
              <a:spcBef>
                <a:spcPts val="340"/>
              </a:spcBef>
              <a:buFont typeface="Courier New"/>
              <a:buChar char="o"/>
              <a:tabLst>
                <a:tab pos="298450" algn="l"/>
              </a:tabLst>
            </a:pP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For example,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NW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corner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point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has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 be sent </a:t>
            </a:r>
            <a:r>
              <a:rPr sz="1600" spc="-35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to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our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N and W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neighbors.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We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can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receive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that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data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from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them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 instead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of our</a:t>
            </a:r>
            <a:r>
              <a:rPr sz="1600" dirty="0">
                <a:solidFill>
                  <a:srgbClr val="31859C"/>
                </a:solidFill>
                <a:latin typeface="Calibri"/>
                <a:cs typeface="Calibri"/>
              </a:rPr>
              <a:t> NW </a:t>
            </a:r>
            <a:r>
              <a:rPr sz="1600" spc="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1859C"/>
                </a:solidFill>
                <a:latin typeface="Calibri"/>
                <a:cs typeface="Calibri"/>
              </a:rPr>
              <a:t>neighbor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9504" y="4321125"/>
            <a:ext cx="4391025" cy="842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2900">
              <a:lnSpc>
                <a:spcPct val="988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Network topologies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 message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exchange </a:t>
            </a:r>
            <a:r>
              <a:rPr sz="1800" spc="-39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implementations are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more optimized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for 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immediate neighbor</a:t>
            </a:r>
            <a:r>
              <a:rPr sz="18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15968"/>
                </a:solidFill>
                <a:latin typeface="Calibri"/>
                <a:cs typeface="Calibri"/>
              </a:rPr>
              <a:t>communication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14642" y="2098962"/>
            <a:ext cx="2569845" cy="2560955"/>
            <a:chOff x="2214642" y="2098962"/>
            <a:chExt cx="2569845" cy="25609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0854" y="2876203"/>
              <a:ext cx="1367443" cy="13425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1170" y="2902182"/>
              <a:ext cx="1266499" cy="12414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5769" y="2834400"/>
              <a:ext cx="1461767" cy="14161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21843" y="2849565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4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6443" y="2836865"/>
              <a:ext cx="190799" cy="1869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6443" y="3246135"/>
              <a:ext cx="190799" cy="1869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6443" y="3655408"/>
              <a:ext cx="190799" cy="1869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7863" y="4064678"/>
              <a:ext cx="190799" cy="18693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10042" y="2846805"/>
              <a:ext cx="1905" cy="1389380"/>
            </a:xfrm>
            <a:custGeom>
              <a:avLst/>
              <a:gdLst/>
              <a:ahLst/>
              <a:cxnLst/>
              <a:rect l="l" t="t" r="r" b="b"/>
              <a:pathLst>
                <a:path w="1905" h="1389379">
                  <a:moveTo>
                    <a:pt x="0" y="0"/>
                  </a:moveTo>
                  <a:lnTo>
                    <a:pt x="1420" y="13893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4642" y="2834104"/>
              <a:ext cx="190800" cy="186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4642" y="3243375"/>
              <a:ext cx="190800" cy="1869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4642" y="3652647"/>
              <a:ext cx="190800" cy="1869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6062" y="4061918"/>
              <a:ext cx="190799" cy="18693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92740" y="2927572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2740" y="3336842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92740" y="3746115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94162" y="4155385"/>
              <a:ext cx="1946910" cy="3175"/>
            </a:xfrm>
            <a:custGeom>
              <a:avLst/>
              <a:gdLst/>
              <a:ahLst/>
              <a:cxnLst/>
              <a:rect l="l" t="t" r="r" b="b"/>
              <a:pathLst>
                <a:path w="1946910" h="3175">
                  <a:moveTo>
                    <a:pt x="0" y="0"/>
                  </a:moveTo>
                  <a:lnTo>
                    <a:pt x="1946403" y="275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51591" y="4564951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4">
                  <a:moveTo>
                    <a:pt x="0" y="0"/>
                  </a:moveTo>
                  <a:lnTo>
                    <a:pt x="1434944" y="137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8890" y="4471483"/>
              <a:ext cx="190798" cy="1869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0017" y="4472570"/>
              <a:ext cx="190797" cy="18693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493842" y="448527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93841" y="448527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400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4970" y="448527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7"/>
                  </a:lnTo>
                  <a:lnTo>
                    <a:pt x="158900" y="112204"/>
                  </a:lnTo>
                  <a:lnTo>
                    <a:pt x="165399" y="80766"/>
                  </a:lnTo>
                  <a:lnTo>
                    <a:pt x="158900" y="49328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14970" y="4485271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0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6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700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70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0010" y="448527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8" y="0"/>
                  </a:moveTo>
                  <a:lnTo>
                    <a:pt x="50508" y="6346"/>
                  </a:lnTo>
                  <a:lnTo>
                    <a:pt x="24221" y="23655"/>
                  </a:lnTo>
                  <a:lnTo>
                    <a:pt x="6498" y="49328"/>
                  </a:lnTo>
                  <a:lnTo>
                    <a:pt x="0" y="80766"/>
                  </a:lnTo>
                  <a:lnTo>
                    <a:pt x="6498" y="112204"/>
                  </a:lnTo>
                  <a:lnTo>
                    <a:pt x="24221" y="137877"/>
                  </a:lnTo>
                  <a:lnTo>
                    <a:pt x="50508" y="155186"/>
                  </a:lnTo>
                  <a:lnTo>
                    <a:pt x="82698" y="161533"/>
                  </a:lnTo>
                  <a:lnTo>
                    <a:pt x="114888" y="155186"/>
                  </a:lnTo>
                  <a:lnTo>
                    <a:pt x="141175" y="137877"/>
                  </a:lnTo>
                  <a:lnTo>
                    <a:pt x="158898" y="112204"/>
                  </a:lnTo>
                  <a:lnTo>
                    <a:pt x="165397" y="80766"/>
                  </a:lnTo>
                  <a:lnTo>
                    <a:pt x="158898" y="49328"/>
                  </a:lnTo>
                  <a:lnTo>
                    <a:pt x="141175" y="23655"/>
                  </a:lnTo>
                  <a:lnTo>
                    <a:pt x="114888" y="6346"/>
                  </a:lnTo>
                  <a:lnTo>
                    <a:pt x="82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00010" y="4485270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8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21136" y="448556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89" y="155186"/>
                  </a:lnTo>
                  <a:lnTo>
                    <a:pt x="141176" y="137877"/>
                  </a:lnTo>
                  <a:lnTo>
                    <a:pt x="158899" y="112204"/>
                  </a:lnTo>
                  <a:lnTo>
                    <a:pt x="165398" y="80766"/>
                  </a:lnTo>
                  <a:lnTo>
                    <a:pt x="158899" y="49328"/>
                  </a:lnTo>
                  <a:lnTo>
                    <a:pt x="141176" y="23656"/>
                  </a:lnTo>
                  <a:lnTo>
                    <a:pt x="114889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21136" y="448556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89" y="6347"/>
                  </a:lnTo>
                  <a:lnTo>
                    <a:pt x="141176" y="23656"/>
                  </a:lnTo>
                  <a:lnTo>
                    <a:pt x="158899" y="49328"/>
                  </a:lnTo>
                  <a:lnTo>
                    <a:pt x="165397" y="80766"/>
                  </a:lnTo>
                  <a:lnTo>
                    <a:pt x="158899" y="112205"/>
                  </a:lnTo>
                  <a:lnTo>
                    <a:pt x="141176" y="137877"/>
                  </a:lnTo>
                  <a:lnTo>
                    <a:pt x="114889" y="155186"/>
                  </a:lnTo>
                  <a:lnTo>
                    <a:pt x="82699" y="161533"/>
                  </a:lnTo>
                  <a:lnTo>
                    <a:pt x="50508" y="155186"/>
                  </a:lnTo>
                  <a:lnTo>
                    <a:pt x="24221" y="137877"/>
                  </a:lnTo>
                  <a:lnTo>
                    <a:pt x="6498" y="112205"/>
                  </a:lnTo>
                  <a:lnTo>
                    <a:pt x="0" y="80766"/>
                  </a:lnTo>
                  <a:lnTo>
                    <a:pt x="6498" y="49328"/>
                  </a:lnTo>
                  <a:lnTo>
                    <a:pt x="24221" y="23656"/>
                  </a:lnTo>
                  <a:lnTo>
                    <a:pt x="50508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48470" y="2518595"/>
              <a:ext cx="1435100" cy="1905"/>
            </a:xfrm>
            <a:custGeom>
              <a:avLst/>
              <a:gdLst/>
              <a:ahLst/>
              <a:cxnLst/>
              <a:rect l="l" t="t" r="r" b="b"/>
              <a:pathLst>
                <a:path w="1435100" h="1905">
                  <a:moveTo>
                    <a:pt x="0" y="0"/>
                  </a:moveTo>
                  <a:lnTo>
                    <a:pt x="1434945" y="13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5769" y="2425128"/>
              <a:ext cx="190799" cy="1869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6896" y="2426214"/>
              <a:ext cx="190799" cy="1869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90722" y="243891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90722" y="243891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11850" y="243891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11851" y="2438914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0" y="49328"/>
                  </a:lnTo>
                  <a:lnTo>
                    <a:pt x="165399" y="80767"/>
                  </a:lnTo>
                  <a:lnTo>
                    <a:pt x="158900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96889" y="243891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50509" y="6347"/>
                  </a:lnTo>
                  <a:lnTo>
                    <a:pt x="24222" y="23656"/>
                  </a:lnTo>
                  <a:lnTo>
                    <a:pt x="6498" y="49329"/>
                  </a:lnTo>
                  <a:lnTo>
                    <a:pt x="0" y="80768"/>
                  </a:lnTo>
                  <a:lnTo>
                    <a:pt x="6498" y="112206"/>
                  </a:lnTo>
                  <a:lnTo>
                    <a:pt x="24222" y="137878"/>
                  </a:lnTo>
                  <a:lnTo>
                    <a:pt x="50509" y="155186"/>
                  </a:lnTo>
                  <a:lnTo>
                    <a:pt x="82699" y="161533"/>
                  </a:lnTo>
                  <a:lnTo>
                    <a:pt x="114890" y="155186"/>
                  </a:lnTo>
                  <a:lnTo>
                    <a:pt x="141177" y="137878"/>
                  </a:lnTo>
                  <a:lnTo>
                    <a:pt x="158900" y="112206"/>
                  </a:lnTo>
                  <a:lnTo>
                    <a:pt x="165399" y="80768"/>
                  </a:lnTo>
                  <a:lnTo>
                    <a:pt x="158900" y="49329"/>
                  </a:lnTo>
                  <a:lnTo>
                    <a:pt x="141177" y="23656"/>
                  </a:lnTo>
                  <a:lnTo>
                    <a:pt x="114890" y="6347"/>
                  </a:lnTo>
                  <a:lnTo>
                    <a:pt x="82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96888" y="2438913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18016" y="243920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701" y="0"/>
                  </a:moveTo>
                  <a:lnTo>
                    <a:pt x="50510" y="6347"/>
                  </a:lnTo>
                  <a:lnTo>
                    <a:pt x="24222" y="23656"/>
                  </a:lnTo>
                  <a:lnTo>
                    <a:pt x="6499" y="49328"/>
                  </a:lnTo>
                  <a:lnTo>
                    <a:pt x="0" y="80766"/>
                  </a:lnTo>
                  <a:lnTo>
                    <a:pt x="6499" y="112204"/>
                  </a:lnTo>
                  <a:lnTo>
                    <a:pt x="24222" y="137877"/>
                  </a:lnTo>
                  <a:lnTo>
                    <a:pt x="50510" y="155186"/>
                  </a:lnTo>
                  <a:lnTo>
                    <a:pt x="82701" y="161533"/>
                  </a:lnTo>
                  <a:lnTo>
                    <a:pt x="114891" y="155186"/>
                  </a:lnTo>
                  <a:lnTo>
                    <a:pt x="141178" y="137877"/>
                  </a:lnTo>
                  <a:lnTo>
                    <a:pt x="158901" y="112204"/>
                  </a:lnTo>
                  <a:lnTo>
                    <a:pt x="165400" y="80766"/>
                  </a:lnTo>
                  <a:lnTo>
                    <a:pt x="158901" y="49328"/>
                  </a:lnTo>
                  <a:lnTo>
                    <a:pt x="141178" y="23656"/>
                  </a:lnTo>
                  <a:lnTo>
                    <a:pt x="114891" y="6347"/>
                  </a:lnTo>
                  <a:lnTo>
                    <a:pt x="827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918017" y="2439207"/>
              <a:ext cx="165735" cy="161925"/>
            </a:xfrm>
            <a:custGeom>
              <a:avLst/>
              <a:gdLst/>
              <a:ahLst/>
              <a:cxnLst/>
              <a:rect l="l" t="t" r="r" b="b"/>
              <a:pathLst>
                <a:path w="165735" h="161925">
                  <a:moveTo>
                    <a:pt x="82699" y="0"/>
                  </a:moveTo>
                  <a:lnTo>
                    <a:pt x="114890" y="6347"/>
                  </a:lnTo>
                  <a:lnTo>
                    <a:pt x="141177" y="23656"/>
                  </a:lnTo>
                  <a:lnTo>
                    <a:pt x="158901" y="49328"/>
                  </a:lnTo>
                  <a:lnTo>
                    <a:pt x="165399" y="80767"/>
                  </a:lnTo>
                  <a:lnTo>
                    <a:pt x="158901" y="112205"/>
                  </a:lnTo>
                  <a:lnTo>
                    <a:pt x="141177" y="137877"/>
                  </a:lnTo>
                  <a:lnTo>
                    <a:pt x="114890" y="155186"/>
                  </a:lnTo>
                  <a:lnTo>
                    <a:pt x="82699" y="161533"/>
                  </a:lnTo>
                  <a:lnTo>
                    <a:pt x="50509" y="155186"/>
                  </a:lnTo>
                  <a:lnTo>
                    <a:pt x="24222" y="137877"/>
                  </a:lnTo>
                  <a:lnTo>
                    <a:pt x="6498" y="112205"/>
                  </a:lnTo>
                  <a:lnTo>
                    <a:pt x="0" y="80767"/>
                  </a:lnTo>
                  <a:lnTo>
                    <a:pt x="6498" y="49328"/>
                  </a:lnTo>
                  <a:lnTo>
                    <a:pt x="24222" y="23656"/>
                  </a:lnTo>
                  <a:lnTo>
                    <a:pt x="50509" y="6347"/>
                  </a:lnTo>
                  <a:lnTo>
                    <a:pt x="82699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31169" y="2599360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52297" y="2600447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8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79590" y="2600447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94551" y="2600447"/>
              <a:ext cx="3175" cy="1885314"/>
            </a:xfrm>
            <a:custGeom>
              <a:avLst/>
              <a:gdLst/>
              <a:ahLst/>
              <a:cxnLst/>
              <a:rect l="l" t="t" r="r" b="b"/>
              <a:pathLst>
                <a:path w="3175" h="1885314">
                  <a:moveTo>
                    <a:pt x="0" y="0"/>
                  </a:moveTo>
                  <a:lnTo>
                    <a:pt x="3119" y="18848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60567" y="2098962"/>
              <a:ext cx="1733203" cy="69826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511037" y="2127145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69">
                  <a:moveTo>
                    <a:pt x="1634065" y="0"/>
                  </a:moveTo>
                  <a:lnTo>
                    <a:pt x="0" y="0"/>
                  </a:lnTo>
                  <a:lnTo>
                    <a:pt x="0" y="597575"/>
                  </a:lnTo>
                  <a:lnTo>
                    <a:pt x="1634065" y="597575"/>
                  </a:lnTo>
                  <a:lnTo>
                    <a:pt x="163406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11037" y="2127145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69">
                  <a:moveTo>
                    <a:pt x="0" y="597575"/>
                  </a:moveTo>
                  <a:lnTo>
                    <a:pt x="0" y="0"/>
                  </a:lnTo>
                  <a:lnTo>
                    <a:pt x="1634065" y="0"/>
                  </a:lnTo>
                  <a:lnTo>
                    <a:pt x="1634065" y="597575"/>
                  </a:lnTo>
                  <a:lnTo>
                    <a:pt x="0" y="5975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85705" y="2701636"/>
              <a:ext cx="698269" cy="173735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134737" y="2729963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4"/>
                  </a:lnTo>
                  <a:lnTo>
                    <a:pt x="597575" y="1634064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34737" y="2729964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70" h="1634489">
                  <a:moveTo>
                    <a:pt x="0" y="0"/>
                  </a:moveTo>
                  <a:lnTo>
                    <a:pt x="597575" y="0"/>
                  </a:lnTo>
                  <a:lnTo>
                    <a:pt x="597575" y="1634064"/>
                  </a:lnTo>
                  <a:lnTo>
                    <a:pt x="0" y="16340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419306" y="2842196"/>
            <a:ext cx="848994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East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596043" y="1837112"/>
            <a:ext cx="3524885" cy="3387725"/>
            <a:chOff x="1596043" y="1837112"/>
            <a:chExt cx="3524885" cy="3387725"/>
          </a:xfrm>
        </p:grpSpPr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78676" y="2697480"/>
              <a:ext cx="698269" cy="173320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929974" y="2724721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69" h="1634489">
                  <a:moveTo>
                    <a:pt x="597575" y="0"/>
                  </a:moveTo>
                  <a:lnTo>
                    <a:pt x="0" y="0"/>
                  </a:lnTo>
                  <a:lnTo>
                    <a:pt x="0" y="1634065"/>
                  </a:lnTo>
                  <a:lnTo>
                    <a:pt x="597575" y="1634065"/>
                  </a:lnTo>
                  <a:lnTo>
                    <a:pt x="59757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29974" y="2724721"/>
              <a:ext cx="598170" cy="1634489"/>
            </a:xfrm>
            <a:custGeom>
              <a:avLst/>
              <a:gdLst/>
              <a:ahLst/>
              <a:cxnLst/>
              <a:rect l="l" t="t" r="r" b="b"/>
              <a:pathLst>
                <a:path w="598169" h="1634489">
                  <a:moveTo>
                    <a:pt x="597575" y="1634065"/>
                  </a:moveTo>
                  <a:lnTo>
                    <a:pt x="0" y="1634065"/>
                  </a:lnTo>
                  <a:lnTo>
                    <a:pt x="0" y="0"/>
                  </a:lnTo>
                  <a:lnTo>
                    <a:pt x="597575" y="0"/>
                  </a:lnTo>
                  <a:lnTo>
                    <a:pt x="597575" y="16340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0566" y="4239490"/>
              <a:ext cx="1733203" cy="69826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511033" y="4267544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1634065" y="0"/>
                  </a:moveTo>
                  <a:lnTo>
                    <a:pt x="0" y="0"/>
                  </a:lnTo>
                  <a:lnTo>
                    <a:pt x="0" y="597575"/>
                  </a:lnTo>
                  <a:lnTo>
                    <a:pt x="1634065" y="597575"/>
                  </a:lnTo>
                  <a:lnTo>
                    <a:pt x="1634065" y="0"/>
                  </a:lnTo>
                  <a:close/>
                </a:path>
              </a:pathLst>
            </a:custGeom>
            <a:solidFill>
              <a:srgbClr val="C1B3D1">
                <a:alpha val="4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11033" y="4267543"/>
              <a:ext cx="1634489" cy="598170"/>
            </a:xfrm>
            <a:custGeom>
              <a:avLst/>
              <a:gdLst/>
              <a:ahLst/>
              <a:cxnLst/>
              <a:rect l="l" t="t" r="r" b="b"/>
              <a:pathLst>
                <a:path w="1634489" h="598170">
                  <a:moveTo>
                    <a:pt x="0" y="597575"/>
                  </a:moveTo>
                  <a:lnTo>
                    <a:pt x="0" y="0"/>
                  </a:lnTo>
                  <a:lnTo>
                    <a:pt x="1634065" y="0"/>
                  </a:lnTo>
                  <a:lnTo>
                    <a:pt x="1634065" y="597575"/>
                  </a:lnTo>
                  <a:lnTo>
                    <a:pt x="0" y="5975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59531" y="3312621"/>
              <a:ext cx="561109" cy="51123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608871" y="3339603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5" h="409575">
                  <a:moveTo>
                    <a:pt x="204635" y="0"/>
                  </a:moveTo>
                  <a:lnTo>
                    <a:pt x="0" y="204635"/>
                  </a:lnTo>
                  <a:lnTo>
                    <a:pt x="204635" y="409271"/>
                  </a:lnTo>
                  <a:lnTo>
                    <a:pt x="204635" y="306953"/>
                  </a:lnTo>
                  <a:lnTo>
                    <a:pt x="461647" y="306953"/>
                  </a:lnTo>
                  <a:lnTo>
                    <a:pt x="461647" y="102317"/>
                  </a:lnTo>
                  <a:lnTo>
                    <a:pt x="204635" y="102317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608871" y="3339603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5" h="409575">
                  <a:moveTo>
                    <a:pt x="0" y="204635"/>
                  </a:moveTo>
                  <a:lnTo>
                    <a:pt x="204635" y="0"/>
                  </a:lnTo>
                  <a:lnTo>
                    <a:pt x="204635" y="102318"/>
                  </a:lnTo>
                  <a:lnTo>
                    <a:pt x="461647" y="102318"/>
                  </a:lnTo>
                  <a:lnTo>
                    <a:pt x="461647" y="306954"/>
                  </a:lnTo>
                  <a:lnTo>
                    <a:pt x="204635" y="306954"/>
                  </a:lnTo>
                  <a:lnTo>
                    <a:pt x="204635" y="409271"/>
                  </a:lnTo>
                  <a:lnTo>
                    <a:pt x="0" y="204635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42457" y="1837112"/>
              <a:ext cx="511232" cy="56526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094141" y="1865801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4">
                  <a:moveTo>
                    <a:pt x="306955" y="0"/>
                  </a:moveTo>
                  <a:lnTo>
                    <a:pt x="102318" y="0"/>
                  </a:lnTo>
                  <a:lnTo>
                    <a:pt x="102318" y="257011"/>
                  </a:lnTo>
                  <a:lnTo>
                    <a:pt x="0" y="257011"/>
                  </a:lnTo>
                  <a:lnTo>
                    <a:pt x="204636" y="461647"/>
                  </a:lnTo>
                  <a:lnTo>
                    <a:pt x="409272" y="257011"/>
                  </a:lnTo>
                  <a:lnTo>
                    <a:pt x="306955" y="257011"/>
                  </a:lnTo>
                  <a:lnTo>
                    <a:pt x="306955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094141" y="1865801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4">
                  <a:moveTo>
                    <a:pt x="204635" y="461647"/>
                  </a:moveTo>
                  <a:lnTo>
                    <a:pt x="0" y="257011"/>
                  </a:lnTo>
                  <a:lnTo>
                    <a:pt x="102318" y="257011"/>
                  </a:lnTo>
                  <a:lnTo>
                    <a:pt x="102318" y="0"/>
                  </a:lnTo>
                  <a:lnTo>
                    <a:pt x="306954" y="0"/>
                  </a:lnTo>
                  <a:lnTo>
                    <a:pt x="306954" y="257011"/>
                  </a:lnTo>
                  <a:lnTo>
                    <a:pt x="409271" y="257011"/>
                  </a:lnTo>
                  <a:lnTo>
                    <a:pt x="204635" y="461647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6043" y="3329246"/>
              <a:ext cx="565265" cy="50707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647126" y="3355162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4" h="409575">
                  <a:moveTo>
                    <a:pt x="257012" y="0"/>
                  </a:moveTo>
                  <a:lnTo>
                    <a:pt x="257012" y="102317"/>
                  </a:lnTo>
                  <a:lnTo>
                    <a:pt x="0" y="102317"/>
                  </a:lnTo>
                  <a:lnTo>
                    <a:pt x="0" y="306953"/>
                  </a:lnTo>
                  <a:lnTo>
                    <a:pt x="257012" y="306953"/>
                  </a:lnTo>
                  <a:lnTo>
                    <a:pt x="257012" y="409271"/>
                  </a:lnTo>
                  <a:lnTo>
                    <a:pt x="461647" y="204635"/>
                  </a:lnTo>
                  <a:lnTo>
                    <a:pt x="257012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647126" y="3355161"/>
              <a:ext cx="461645" cy="409575"/>
            </a:xfrm>
            <a:custGeom>
              <a:avLst/>
              <a:gdLst/>
              <a:ahLst/>
              <a:cxnLst/>
              <a:rect l="l" t="t" r="r" b="b"/>
              <a:pathLst>
                <a:path w="461644" h="409575">
                  <a:moveTo>
                    <a:pt x="461647" y="204635"/>
                  </a:moveTo>
                  <a:lnTo>
                    <a:pt x="257012" y="409271"/>
                  </a:lnTo>
                  <a:lnTo>
                    <a:pt x="257012" y="306953"/>
                  </a:lnTo>
                  <a:lnTo>
                    <a:pt x="0" y="306953"/>
                  </a:lnTo>
                  <a:lnTo>
                    <a:pt x="0" y="102317"/>
                  </a:lnTo>
                  <a:lnTo>
                    <a:pt x="257012" y="102317"/>
                  </a:lnTo>
                  <a:lnTo>
                    <a:pt x="257012" y="0"/>
                  </a:lnTo>
                  <a:lnTo>
                    <a:pt x="461647" y="204635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08959" y="4663439"/>
              <a:ext cx="511232" cy="56110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161071" y="4689417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204635" y="0"/>
                  </a:moveTo>
                  <a:lnTo>
                    <a:pt x="0" y="204636"/>
                  </a:lnTo>
                  <a:lnTo>
                    <a:pt x="102317" y="204636"/>
                  </a:lnTo>
                  <a:lnTo>
                    <a:pt x="102317" y="461647"/>
                  </a:lnTo>
                  <a:lnTo>
                    <a:pt x="306952" y="461647"/>
                  </a:lnTo>
                  <a:lnTo>
                    <a:pt x="306952" y="204636"/>
                  </a:lnTo>
                  <a:lnTo>
                    <a:pt x="409271" y="204636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A74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61071" y="4689418"/>
              <a:ext cx="409575" cy="461645"/>
            </a:xfrm>
            <a:custGeom>
              <a:avLst/>
              <a:gdLst/>
              <a:ahLst/>
              <a:cxnLst/>
              <a:rect l="l" t="t" r="r" b="b"/>
              <a:pathLst>
                <a:path w="409575" h="461645">
                  <a:moveTo>
                    <a:pt x="204635" y="0"/>
                  </a:moveTo>
                  <a:lnTo>
                    <a:pt x="409271" y="204635"/>
                  </a:lnTo>
                  <a:lnTo>
                    <a:pt x="306953" y="204635"/>
                  </a:lnTo>
                  <a:lnTo>
                    <a:pt x="306953" y="461647"/>
                  </a:lnTo>
                  <a:lnTo>
                    <a:pt x="102317" y="461647"/>
                  </a:lnTo>
                  <a:lnTo>
                    <a:pt x="102317" y="204635"/>
                  </a:lnTo>
                  <a:lnTo>
                    <a:pt x="0" y="204635"/>
                  </a:lnTo>
                  <a:lnTo>
                    <a:pt x="204635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813028" y="1369966"/>
            <a:ext cx="94043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north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77" name="object 77"/>
          <p:cNvSpPr txBox="1"/>
          <p:nvPr/>
        </p:nvSpPr>
        <p:spPr>
          <a:xfrm>
            <a:off x="938463" y="2878739"/>
            <a:ext cx="848994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West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65145" y="5348038"/>
            <a:ext cx="94043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Receive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200" spc="-10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south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153674" y="6791199"/>
            <a:ext cx="2388234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83" y="349134"/>
            <a:ext cx="9144000" cy="787400"/>
          </a:xfrm>
          <a:prstGeom prst="rect">
            <a:avLst/>
          </a:prstGeom>
          <a:solidFill>
            <a:srgbClr val="941100"/>
          </a:solidFill>
        </p:spPr>
        <p:txBody>
          <a:bodyPr vert="horz" wrap="square" lIns="0" tIns="825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650"/>
              </a:spcBef>
            </a:pPr>
            <a:r>
              <a:rPr sz="4000" spc="-5" dirty="0">
                <a:solidFill>
                  <a:srgbClr val="FFFFFF"/>
                </a:solidFill>
              </a:rPr>
              <a:t>Acknowledgments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09023" y="1328728"/>
            <a:ext cx="6352540" cy="19126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15900" indent="-2032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15900" algn="l"/>
              </a:tabLst>
            </a:pP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These slides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inspired</a:t>
            </a:r>
            <a:r>
              <a:rPr sz="2400" spc="5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partly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adapted</a:t>
            </a:r>
            <a:r>
              <a:rPr sz="2400" dirty="0">
                <a:solidFill>
                  <a:srgbClr val="2159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15968"/>
                </a:solidFill>
                <a:latin typeface="Calibri"/>
                <a:cs typeface="Calibri"/>
              </a:rPr>
              <a:t>from</a:t>
            </a:r>
            <a:endParaRPr sz="2400" dirty="0">
              <a:latin typeface="Calibri"/>
              <a:cs typeface="Calibri"/>
            </a:endParaRPr>
          </a:p>
          <a:p>
            <a:pPr marL="609600" lvl="1" indent="-203200">
              <a:lnSpc>
                <a:spcPct val="100000"/>
              </a:lnSpc>
              <a:spcBef>
                <a:spcPts val="400"/>
              </a:spcBef>
              <a:buFont typeface="Courier New"/>
              <a:buChar char="o"/>
              <a:tabLst>
                <a:tab pos="609600" algn="l"/>
              </a:tabLst>
            </a:pP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Mary</a:t>
            </a:r>
            <a:r>
              <a:rPr sz="20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Hall</a:t>
            </a:r>
            <a:r>
              <a:rPr sz="20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(Univ.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Utah)</a:t>
            </a:r>
            <a:endParaRPr sz="2000" dirty="0">
              <a:latin typeface="Calibri"/>
              <a:cs typeface="Calibri"/>
            </a:endParaRPr>
          </a:p>
          <a:p>
            <a:pPr marL="609600" lvl="1" indent="-20320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609600" algn="l"/>
              </a:tabLst>
            </a:pPr>
            <a:r>
              <a:rPr sz="2000" spc="-20" dirty="0">
                <a:solidFill>
                  <a:srgbClr val="31859C"/>
                </a:solidFill>
                <a:latin typeface="Calibri"/>
                <a:cs typeface="Calibri"/>
              </a:rPr>
              <a:t>Scott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Baden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(UCSD)</a:t>
            </a:r>
            <a:endParaRPr sz="2000" dirty="0">
              <a:latin typeface="Calibri"/>
              <a:cs typeface="Calibri"/>
            </a:endParaRPr>
          </a:p>
          <a:p>
            <a:pPr marL="609600" lvl="1" indent="-20320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609600" algn="l"/>
              </a:tabLst>
            </a:pPr>
            <a:r>
              <a:rPr sz="2000" dirty="0">
                <a:solidFill>
                  <a:srgbClr val="31859C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course</a:t>
            </a:r>
            <a:r>
              <a:rPr sz="2000" spc="-10" dirty="0">
                <a:solidFill>
                  <a:srgbClr val="31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1859C"/>
                </a:solidFill>
                <a:latin typeface="Calibri"/>
                <a:cs typeface="Calibri"/>
              </a:rPr>
              <a:t>book (Pacheco)</a:t>
            </a:r>
            <a:endParaRPr sz="2000" dirty="0">
              <a:latin typeface="Calibri"/>
              <a:cs typeface="Calibri"/>
            </a:endParaRPr>
          </a:p>
          <a:p>
            <a:pPr marL="4064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1859C"/>
                </a:solidFill>
                <a:latin typeface="Courier New"/>
                <a:cs typeface="Courier New"/>
              </a:rPr>
              <a:t>o</a:t>
            </a:r>
            <a:r>
              <a:rPr sz="2000" spc="-805" dirty="0">
                <a:solidFill>
                  <a:srgbClr val="31859C"/>
                </a:solidFill>
                <a:latin typeface="Courier New"/>
                <a:cs typeface="Courier New"/>
              </a:rPr>
              <a:t> 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h</a:t>
            </a:r>
            <a:r>
              <a:rPr sz="2000" u="sng" spc="-40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tt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ps: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//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c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om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pu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t</a:t>
            </a:r>
            <a:r>
              <a:rPr sz="2000" u="sng" spc="-1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i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ng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.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llnl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.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g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o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v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/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tuto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r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ials</a:t>
            </a:r>
            <a:r>
              <a:rPr sz="20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/m</a:t>
            </a:r>
            <a:r>
              <a:rPr sz="2000" u="sng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Calibri"/>
                <a:cs typeface="Calibri"/>
              </a:rPr>
              <a:t>pi/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7999</TotalTime>
  <Words>2286</Words>
  <Application>Microsoft Macintosh PowerPoint</Application>
  <PresentationFormat>Custom</PresentationFormat>
  <Paragraphs>314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MS PGothic</vt:lpstr>
      <vt:lpstr>Arial MT</vt:lpstr>
      <vt:lpstr>Calibri</vt:lpstr>
      <vt:lpstr>Cambria</vt:lpstr>
      <vt:lpstr>Courier New</vt:lpstr>
      <vt:lpstr>Palatino Linotype</vt:lpstr>
      <vt:lpstr>Symbol</vt:lpstr>
      <vt:lpstr>Times New Roman</vt:lpstr>
      <vt:lpstr>Verdana</vt:lpstr>
      <vt:lpstr>Webdings</vt:lpstr>
      <vt:lpstr>Office Theme</vt:lpstr>
      <vt:lpstr>High Performance Computing </vt:lpstr>
      <vt:lpstr>Hiding Communication Overhead</vt:lpstr>
      <vt:lpstr>Split-­‐Phased Execution</vt:lpstr>
      <vt:lpstr>Nearest neighbor exchange in a ring topology with  Non-­‐Blocking Messages</vt:lpstr>
      <vt:lpstr>Stencil Computation</vt:lpstr>
      <vt:lpstr>Stencil Computation</vt:lpstr>
      <vt:lpstr>Stencil Shape</vt:lpstr>
      <vt:lpstr>Cell Update</vt:lpstr>
      <vt:lpstr>Parallel Implementation</vt:lpstr>
      <vt:lpstr>Data Dependences</vt:lpstr>
      <vt:lpstr>Data Dependences</vt:lpstr>
      <vt:lpstr>Ghost Cells (Halos)</vt:lpstr>
      <vt:lpstr>Ghost Cell Exchange-­‐ Receive</vt:lpstr>
      <vt:lpstr>Ghost Cell Exchange-­‐ Send</vt:lpstr>
      <vt:lpstr>Msg Exchange with All Neighbors</vt:lpstr>
      <vt:lpstr>Ghost Cell Exchange</vt:lpstr>
      <vt:lpstr>Game of Life</vt:lpstr>
      <vt:lpstr>Communication Cost for 1D Geometries</vt:lpstr>
      <vt:lpstr>Communication Cost for 1D Geometries</vt:lpstr>
      <vt:lpstr>Communication Cost for 2D Geometries</vt:lpstr>
      <vt:lpstr>Process Geometry</vt:lpstr>
      <vt:lpstr>The Aliev-­‐Panfilov Method</vt:lpstr>
      <vt:lpstr>Aliev-­‐Panfilov</vt:lpstr>
      <vt:lpstr>Numerical Method</vt:lpstr>
      <vt:lpstr>ODE and PDE Solvers</vt:lpstr>
      <vt:lpstr>Assignment #3</vt:lpstr>
      <vt:lpstr>Pseudo Code for Parallelization</vt:lpstr>
      <vt:lpstr>A side note on Corner Cells</vt:lpstr>
      <vt:lpstr>Acknowledgments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SwEg 5025/ ECEg 6412: High Performance Computing</dc:title>
  <dc:creator>user</dc:creator>
  <cp:lastModifiedBy>Beakal Gizachew Assefa</cp:lastModifiedBy>
  <cp:revision>6</cp:revision>
  <dcterms:created xsi:type="dcterms:W3CDTF">2021-03-24T01:42:33Z</dcterms:created>
  <dcterms:modified xsi:type="dcterms:W3CDTF">2023-11-24T23:04:11Z</dcterms:modified>
</cp:coreProperties>
</file>